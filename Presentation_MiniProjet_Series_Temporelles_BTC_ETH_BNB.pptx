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TEK-UP UNIVERSITY • DATA SCIENCE &amp; AI ENGINEERING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Segoe UI"/>
              </a:defRPr>
            </a:pPr>
            <a:r>
              <a:t>Comparative Econometric Modeling &amp;</a:t>
            </a:r>
            <a:br/>
            <a:r>
              <a:t>Deep Learning Forecasting of Crypto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  <a:latin typeface="Segoe UI"/>
              </a:defRPr>
            </a:pPr>
            <a:r>
              <a:t>A Multi-Asset Empirical Study (BTC, ETH, BNB) with Generative AI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Presented by Team 4:</a:t>
            </a:r>
          </a:p>
          <a:p>
            <a:pPr algn="ctr">
              <a:defRPr sz="1500" b="1">
                <a:solidFill>
                  <a:srgbClr val="F8FAFC"/>
                </a:solidFill>
              </a:defRPr>
            </a:pPr>
            <a:r>
              <a:t>Rawen Bejie  •  Khawla Hawari  •  Amine Benfadhel  •  Khalil Ayeb</a:t>
            </a:r>
          </a:p>
          <a:p>
            <a:pPr algn="ctr">
              <a:defRPr sz="1200" i="1">
                <a:solidFill>
                  <a:srgbClr val="94A3B8"/>
                </a:solidFill>
              </a:defRPr>
            </a:pPr>
            <a:r>
              <a:t>Supervised by: Prof. Ahmed Dhouibi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1. INTRODUCTION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Problem Statement &amp; Data Engineering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Rawen Bejie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🎯 The Core 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Central Question:</a:t>
            </a:r>
          </a:p>
          <a:p>
            <a:pPr>
              <a:defRPr sz="1200" b="0">
                <a:solidFill>
                  <a:srgbClr val="F8FAFC"/>
                </a:solidFill>
                <a:latin typeface="Segoe UI"/>
              </a:defRPr>
            </a:pPr>
            <a:r>
              <a:t>Can non-linear Deep Learning models (LSTM/GRU) outperform classical econometric baselines (ARIMA, VAR) and the Naïve Random Walk in high-frequency crypto price forecasting?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Why Crypto Assets? (BTC, ETH, BNB):</a:t>
            </a:r>
          </a:p>
          <a:p>
            <a:pPr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Extreme volatility and non-stationary dynamics ($I(1)$).</a:t>
            </a:r>
            <a:br/>
            <a:r>
              <a:t>• 24/7/365 uninterrupted trading (no weekend seasonality).</a:t>
            </a:r>
            <a:br/>
            <a:r>
              <a:t>• Complex interconnectedness and regime shifts.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Key Econometric Rule:</a:t>
            </a:r>
          </a:p>
          <a:p>
            <a:pPr>
              <a:defRPr sz="1200" b="0">
                <a:solidFill>
                  <a:srgbClr val="F8FAFC"/>
                </a:solidFill>
                <a:latin typeface="Segoe UI"/>
              </a:defRPr>
            </a:pPr>
            <a:r>
              <a:t>Every model must be statistically diagnosed. A sophisticated model without residual validation will be scientifically rejected.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📦 Data Acquisition &amp; Split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Dataset Parameters:</a:t>
            </a:r>
          </a:p>
          <a:p>
            <a:pPr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• Period: Jan 31, 2019 to Oct 03, 2026 (7.7 years of daily data).</a:t>
            </a:r>
            <a:br/>
            <a:r>
              <a:t>• Sample Size: 2,803 daily observations across 3 assets.</a:t>
            </a:r>
            <a:br/>
            <a:r>
              <a:t>• Automated fallback pipeline via yfinance API.</a:t>
            </a:r>
          </a:p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Zero Look-Ahead Bias Protocol:</a:t>
            </a:r>
          </a:p>
          <a:p>
            <a:pPr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Chronological split: 90% Train / 10% Out-of-Sample Test.</a:t>
            </a:r>
            <a:br/>
            <a:r>
              <a:t>• Train: 2,522 days (Jan 31, 2019 to Dec 26, 2025).</a:t>
            </a:r>
            <a:br/>
            <a:r>
              <a:t>• Test: 281 days (Dec 27, 2025 to Oct 03, 2026).</a:t>
            </a:r>
            <a:br/>
            <a:r>
              <a:t>• No future data leakage: Normalization fit strictly on Train.</a:t>
            </a:r>
          </a:p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Derived Features Engineered:</a:t>
            </a:r>
          </a:p>
          <a:p>
            <a:pPr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• Daily Log-Returns: r_t = 100 * ln(P_t / P_{t-1})</a:t>
            </a:r>
            <a:br/>
            <a:r>
              <a:t>• 30-day Annualized Realized Volatility (Vol30)</a:t>
            </a:r>
            <a:br/>
            <a:r>
              <a:t>• 30-day Simple Moving Averages (SMA30) &amp; 24h Trading Volumes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2. STATISTICAL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Exploratory Analysis &amp; Stationarity Diagnostics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Khawla Hawari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6692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📊 STL Decomposition &amp; Price Dynamics</a:t>
            </a:r>
          </a:p>
        </p:txBody>
      </p:sp>
      <p:pic>
        <p:nvPicPr>
          <p:cNvPr id="9" name="Picture 8" descr="fig3_st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303520" cy="303058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280160"/>
            <a:ext cx="47548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🔬 Rigorous Diagnostic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STL Decomposition Findings: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Trend: Dominates &gt;95% of total price variance.</a:t>
            </a:r>
            <a:br/>
            <a:r>
              <a:t>• Seasonality: Negligible (&lt;2% variance). Daily crypto trading exhibits no strong 7-day or monthly calendar cycle.</a:t>
            </a:r>
            <a:br/>
            <a:r>
              <a:t>• Outliers: March 2020 (Covid) &amp; Nov 2022 (FTX) retained as true market regime shocks.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Dual Stationarity Testing (ADF + KPSS):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Raw Prices &amp; Log-Prices: Non-Stationary I(1)</a:t>
            </a:r>
            <a:br/>
            <a:r>
              <a:t>  ADF p = 0.88 (cannot reject unit root)</a:t>
            </a:r>
            <a:br/>
            <a:r>
              <a:t>  KPSS p = 0.01 (rejects stationarity)</a:t>
            </a:r>
            <a:br/>
            <a:r>
              <a:t>• Log-Returns: Strictly Stationary I(0)</a:t>
            </a:r>
            <a:br/>
            <a:r>
              <a:t>  ADF p &lt; 0.001 (unit root strongly rejected)</a:t>
            </a:r>
            <a:br/>
            <a:r>
              <a:t>  KPSS p = 0.10 (stationarity cannot be rejected)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Methodological Decision: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Classical models (ARIMA, VAR) must be estimated strictly on stationary log-returns to avoid spurious regressions.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3. CLASSICAL ECONOMETRICS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ARIMA Modeling &amp; Mandatory Residual Diagnostics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Khawla Hawari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6692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📉 Autocorrelation Functions (ACF &amp; PACF)</a:t>
            </a:r>
          </a:p>
        </p:txBody>
      </p:sp>
      <p:pic>
        <p:nvPicPr>
          <p:cNvPr id="9" name="Picture 8" descr="fig2_acf_p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303520" cy="15152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280160"/>
            <a:ext cx="47548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🧪 Three Essential Residual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Selected Specification: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ARIMA(1,0,1) / ARMA(1,1) on BTC Returns.</a:t>
            </a:r>
            <a:br/>
            <a:r>
              <a:t>• AR(1) = -0.6376, MA(1) = 0.5865 (p &lt; 0.001).</a:t>
            </a:r>
            <a:br/>
            <a:r>
              <a:t>• Minimizes AIC / BIC against higher-order candidates.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1. Ljung-Box Test (White Noise):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Q(10) = 14.28, p-value = 0.160 (&gt; 0.05)</a:t>
            </a:r>
            <a:br/>
            <a:r>
              <a:t>• Conclusion: No remaining autocorrelation in residuals! The mean dynamics are cleanly captured.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2. Jarque-Bera Test (Normality):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JB stat = 4,281, p &lt; 10^-16</a:t>
            </a:r>
            <a:br/>
            <a:r>
              <a:t>• Conclusion: Heavy fat tails and leptokurtic distribution (Gaussian assumption rejected).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3. Engle ARCH-LM Test (Volatility Clustering):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LM stat = 128.4, p &lt; 10^-16</a:t>
            </a:r>
            <a:br/>
            <a:r>
              <a:t>• Conclusion: Severe conditional heteroskedasticity detected! Proves that a GARCH model is strictly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3. CLASSICAL ECONOMETRICS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Multivariate Systems: VAR(5), Granger &amp; Cointegration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Khawla Hawari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🔗 VAR(5) &amp; Granger Causality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VAR(5) Lag Optimization:</a:t>
            </a:r>
          </a:p>
          <a:p>
            <a:pPr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• Estimated on 3-variable stationary vector: [BTC, ETH, BNB log-returns].</a:t>
            </a:r>
            <a:br/>
            <a:r>
              <a:t>• Information criteria (AIC / FPE) select optimal order p = 5.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Granger Causality Matrix (3x3):</a:t>
            </a:r>
          </a:p>
          <a:p>
            <a:pPr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ETH Returns -&gt; BTC Returns: F = 2.94, p = 0.012 *</a:t>
            </a:r>
            <a:br/>
            <a:r>
              <a:t>• BNB Returns -&gt; BTC Returns: F = 2.37, p = 0.038 *</a:t>
            </a:r>
            <a:br/>
            <a:r>
              <a:t>• BTC Returns -&gt; ETH Returns: F = 3.15, p = 0.008 **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Key Methodological Nuance:</a:t>
            </a:r>
          </a:p>
          <a:p>
            <a:pPr>
              <a:defRPr sz="1200" b="0">
                <a:solidFill>
                  <a:srgbClr val="F8FAFC"/>
                </a:solidFill>
                <a:latin typeface="Segoe UI"/>
              </a:defRPr>
            </a:pPr>
            <a:r>
              <a:t>Granger causality indicates PREDICTIVE PRECEDENCE in information diffusion, NOT physical or legal causation.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⚖️ Johansen Test &amp; VECM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Johansen Cointegration Trace Test:</a:t>
            </a:r>
          </a:p>
          <a:p>
            <a:pPr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• Python statsmodels (Case 2: det_order=0):</a:t>
            </a:r>
            <a:br/>
            <a:r>
              <a:t>  Trace Stat = 25.53 &lt; Critical Value 29.80 (p &gt; 0.05)</a:t>
            </a:r>
            <a:br/>
            <a:r>
              <a:t>• R urca (Case 3: ecdet='const'):</a:t>
            </a:r>
            <a:br/>
            <a:r>
              <a:t>  Trace Stat = 30.27 &lt; Critical Value 34.91 (p &gt; 0.05)</a:t>
            </a:r>
            <a:br/>
            <a:r>
              <a:t>• Both independent implementations confirm Rank r = 0.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Why NO VECM? (Critical Defense Point!):</a:t>
            </a:r>
          </a:p>
          <a:p>
            <a:pPr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A Vector Error Correction Model (VECM) mathematically requires at least one cointegrating vector (r &gt;= 1).</a:t>
            </a:r>
            <a:br/>
            <a:r>
              <a:t>• Running a VECM with r = 0 is an econometric specification error!</a:t>
            </a:r>
            <a:br/>
            <a:r>
              <a:t>• The correct and sound procedure is modeling in stationary log-returns via VAR(5).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Oral Defense Shield:</a:t>
            </a:r>
          </a:p>
          <a:p>
            <a:pPr>
              <a:defRPr sz="1200" b="0">
                <a:solidFill>
                  <a:srgbClr val="F8FAFC"/>
                </a:solidFill>
                <a:latin typeface="Segoe UI"/>
              </a:defRPr>
            </a:pPr>
            <a:r>
              <a:t>Absence of VECM is a proof of methodological rigor, not an omission.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4. ADVANCED ECONOMETRICS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Conditional Volatility: GARCH(1,1) &amp; GJR-GARCH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Amine Benfadhel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6692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🌪️ Conditional Volatility &amp; Crisis Events</a:t>
            </a:r>
          </a:p>
        </p:txBody>
      </p:sp>
      <p:pic>
        <p:nvPicPr>
          <p:cNvPr id="9" name="Picture 8" descr="fig4_garch_volatility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303520" cy="18941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280160"/>
            <a:ext cx="47548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📊 Estimated Parameters &amp; 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GARCH(1,1) Specification: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sigma_t^2 = omega + alpha * eps_{t-1}^2 + beta * sigma_{t-1}^2</a:t>
            </a:r>
            <a:br/>
            <a:r>
              <a:t>• omega = 1.10e-5 (p = 0.002)</a:t>
            </a:r>
            <a:br/>
            <a:r>
              <a:t>• alpha = 0.0631 (Shock reaction)</a:t>
            </a:r>
            <a:br/>
            <a:r>
              <a:t>• beta = 0.9272 (Storm persistence)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Persistence &amp; Stationarity: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alpha + beta = 0.9903 &lt; 1.0</a:t>
            </a:r>
            <a:br/>
            <a:r>
              <a:t>• Strong persistence: market panics take weeks to dissipate.</a:t>
            </a:r>
            <a:br/>
            <a:r>
              <a:t>• Strictly covariance-stationary process.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Asymmetric GJR-GARCH Test: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Leverage term gamma = 0.0152 (p = 0.48, not significant).</a:t>
            </a:r>
            <a:br/>
            <a:r>
              <a:t>• Unlike traditional stocks, crypto exhibits symmetric volatility: major rallies trigger nearly the same volatility spikes as crashes.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Standardized Residual Validation: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ARCH-LM on standardized residuals: p = 0.42 -&gt; Conditional heteroskedasticity is successfully eliminated!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5.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Deep Learning Architectures: PyTorch LSTM vs. GRU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Amine Benfadhel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6692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⚡ Training &amp; Validation Loss Curves</a:t>
            </a:r>
          </a:p>
        </p:txBody>
      </p:sp>
      <p:pic>
        <p:nvPicPr>
          <p:cNvPr id="9" name="Picture 8" descr="fig5_loss_curves_lstm_g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303520" cy="2651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280160"/>
            <a:ext cx="47548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🧠 Architecture &amp; Complexity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Experimental Setup: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PyTorch implementation with Adam optimizer (lr = 0.001).</a:t>
            </a:r>
            <a:br/>
            <a:r>
              <a:t>• Sliding sequence window: L = 30 days.</a:t>
            </a:r>
            <a:br/>
            <a:r>
              <a:t>• Input dimension: 18 normalized features (Prices, Volumes, Returns, Vol30, SMA30 across 3 assets).</a:t>
            </a:r>
            <a:br/>
            <a:r>
              <a:t>• Target: BTC Log-Price at t+1.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LSTM (Long Short-Term Memory):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3 Gates: Input, Forget, Output + Cell State.</a:t>
            </a:r>
            <a:br/>
            <a:r>
              <a:t>• 2 layers, 64 hidden units = 25,217 parameters.</a:t>
            </a:r>
            <a:br/>
            <a:r>
              <a:t>• Slower convergence, higher risk of overfitting.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GRU (Gated Recurrent Unit):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2 Gates: Reset &amp; Update (No separate cell state).</a:t>
            </a:r>
            <a:br/>
            <a:r>
              <a:t>• 2 layers, 64 hidden units = 19,073 parameters (24% fewer).</a:t>
            </a:r>
            <a:br/>
            <a:r>
              <a:t>• Converges faster and reaches lower validation MSE.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Walk-Forward Inference: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Rolling 1-step prediction across the entire 281-day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6. FORECAST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Out-of-Sample Forecast Evaluation (281-Day Test)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Khalil Ayeb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6692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🏆 Master Metric Performance Table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92024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RMSE ($)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MAE ($)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Naïve Random Walk (h=1)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$1,725.43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$1,164.85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1.60% 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Rolling ARIMA(1,0,1)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$1,769.68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$1,196.48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1.65% (2)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PyTorch GRU (h=1)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$2,468.90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$1,847.91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2.56% (3)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PyTorch LSTM (h=1)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$3,776.48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$3,396.66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4.77% (4)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Hybrid ARIMA-LSTM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$15,319.04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$13,967.77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20.33% (5)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Fixed ARIMA (h=281)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$16,598.93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$14,643.39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21.49% (6)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75120" y="1280160"/>
            <a:ext cx="47548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📈 Trajectory Comparison</a:t>
            </a:r>
          </a:p>
        </p:txBody>
      </p:sp>
      <p:pic>
        <p:nvPicPr>
          <p:cNvPr id="12" name="Picture 11" descr="fig6_foreca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38912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6. FORECAST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Statistical Significance: Diebold-Mariano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Khalil Ayeb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📐 Like-for-Like Diebold-Mariano (h=1)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Newey-West HAC Robust Testing: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Tested on matched 1-step forecast errors across 281 days:</a:t>
            </a:r>
            <a:br/>
            <a:br/>
            <a:r>
              <a:t>1. Naïve vs. Rolling ARIMA(1,0,1):</a:t>
            </a:r>
            <a:br/>
            <a:r>
              <a:t>   DM stat = -1.243, p-value = 0.214</a:t>
            </a:r>
            <a:br/>
            <a:r>
              <a:t>   -&gt; Statistical equivalence! ARIMA cannot significantly outperform the random walk.</a:t>
            </a:r>
            <a:br/>
            <a:br/>
            <a:r>
              <a:t>2. Naïve vs. PyTorch GRU:</a:t>
            </a:r>
            <a:br/>
            <a:r>
              <a:t>   DM stat = -5.001, p-value = 5.7e-7 ***</a:t>
            </a:r>
            <a:br/>
            <a:r>
              <a:t>   -&gt; Naïve is STATISTICALLY SUPERIOR.</a:t>
            </a:r>
            <a:br/>
            <a:br/>
            <a:r>
              <a:t>3. Naïve vs. PyTorch LSTM:</a:t>
            </a:r>
            <a:br/>
            <a:r>
              <a:t>   DM stat = -13.149, p-value &lt; 10^-16 ***</a:t>
            </a:r>
            <a:br/>
            <a:r>
              <a:t>   -&gt; Naïve is STATISTICALLY SUPERIOR.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Multi-Horizon Trajectory (h=281):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Naïve vs. Fixed Multi-step ARIMA: DM = -5.627, p = 1.8e-8.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🏛️ The Econometric &amp; Financial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Fama's Efficient Market Hypothesis (EMH):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Weak-form EMH states that past price data cannot be used to predict future prices.</a:t>
            </a:r>
            <a:br/>
            <a:r>
              <a:t>• In crypto, high-frequency returns act as a Martingale difference sequence: E[P_{t+1} | I_t] ≈ P_t.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Why Did Deep Learning Lose on Prices?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Zero Parameter Variance: The Naïve model estimates 0 parameters and suffers 0 estimation variance.</a:t>
            </a:r>
            <a:br/>
            <a:r>
              <a:t>• Noise Overfitting: LSTM/GRU attempt to fit micro-fluctuations, accumulating non-linear prediction variance.</a:t>
            </a:r>
            <a:br/>
            <a:r>
              <a:t>• Lagged Tracking: Neural networks predict with a slight phase lag behind market turns.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Major Takeaway: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Honest, transparent reporting: Simple models win on short-term price levels; AI models are best suited for volatility and regime modeling.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7. GENAI &amp; LLM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Generative AI Experimentation &amp; Hallucination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Khalil Ayeb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🤖 4 Structured Experiments Conducted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Exp 1: Statistical Hypothesis Generation: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Prompted LLM with descriptive moments &amp; stationarity tests.</a:t>
            </a:r>
            <a:br/>
            <a:r>
              <a:t>• LLM correctly suggested GARCH from excess kurtosis (&gt;18) and differencing for I(1) series.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Exp 2: Non-Expert Layman Translation: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Successfully translated Ljung-Box p=0.160 into plain English for executives: 'Residuals are pure white noise; no predictable juice left'.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Exp 3: Investment Policy Recommendations: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Formulated risk policies under high GARCH volatility.</a:t>
            </a:r>
            <a:br/>
            <a:r>
              <a:t>• Identified need for position-sizing constraints during crisis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🛡️ Hallucination Audit (Human vs. 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Hallucination 1: Causal Misinterpretation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LLM Claim: 'ETH Granger-causes BTC, proving ETH price drives Bitcoin market movements.'</a:t>
            </a:r>
            <a:br/>
            <a:r>
              <a:t>• Human Correction: Granger causality only measures predictive lag order, NOT physical causation.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Hallucination 2: Fabricated Statistical Significance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LLM claimed GJR-GARCH leverage was strongly significant.</a:t>
            </a:r>
            <a:br/>
            <a:r>
              <a:t>• Human Correction: Real p-value was 0.48 (non-significant).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Hallucination 3: Blind Deep Learning Bias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LLM assumed LSTM would automatically dominate ARIMA.</a:t>
            </a:r>
            <a:br/>
            <a:r>
              <a:t>• Human Audit: Real Diebold-Mariano tests proved Random Walk and ARIMA won.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8. ORAL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Defense Strategy: Top 3 Anticipated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All Team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❓ Q1: Why No VECM?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Professor's Question: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'Why didn't you estimate a Vector Error Correction Model (VECM)?'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Our Defense Answer: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Johansen cointegration tests in Python (Case 2, Trace=25.53 &lt; 29.80) and R (Case 3, Trace=30.27 &lt; 34.91) strictly prove cointegration rank r = 0.</a:t>
            </a:r>
            <a:br/>
            <a:br/>
            <a:r>
              <a:t>Estimating a VECM requires r &gt;= 1. Estimating a VECM with r = 0 would be a fatal econometric error! We legitimately modeled the system using a stationary VAR(5).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❓ Q2: Why Naïve Won?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Professor's Question: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'Why did the Naïve Random Walk beat your LSTM and GRU?'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Our Defense Answer: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Under the Efficient Market Hypothesis (EMH), high-frequency asset returns follow a Martingale difference sequence: E[P_{t+1}|I_t] ≈ P_t.</a:t>
            </a:r>
            <a:br/>
            <a:br/>
            <a:r>
              <a:t>The Naïve model has zero parameter estimation error. Deep Learning overfits micro-noise and incurs lag latency.</a:t>
            </a:r>
            <a:br/>
            <a:br/>
            <a:r>
              <a:t>Our Diebold-Mariano test confirmed Naïve superiority with p &lt; 10^-6.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2918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❓ Q3: ARCH vs GARCH?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Professor's Question:</a:t>
            </a:r>
          </a:p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'Is ARCH a test or a model? What did you actually use?'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Our Defense Answer:</a:t>
            </a:r>
          </a:p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Both! ARCH is a model (Engle 1982) and a diagnostic test (ARCH-LM).</a:t>
            </a:r>
            <a:br/>
            <a:br/>
            <a:r>
              <a:t>We used the ARCH-LM test on ARIMA residuals (LM=128.4, p &lt; 10^-16) to detect volatility clustering.</a:t>
            </a:r>
            <a:br/>
            <a:br/>
            <a:r>
              <a:t>Then, we used the upgraded GARCH(1,1) model (Bollerslev 1986) to capture the long-memory decay (persistence = 0.990).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9.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Summary of Methodological Takeaways &amp;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468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Speaker: All Team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1. Diagnostics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Never evaluate a time-series model by RMSE alone.</a:t>
            </a:r>
            <a:br/>
            <a:br/>
            <a:r>
              <a:t>Rigorous residual diagnostics (Ljung-Box, Jarque-Bera, ARCH-LM) determine whether statistical assumptions 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4688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2. Parsimony &amp; EMH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Simple models dominate on price levels.</a:t>
            </a:r>
            <a:br/>
            <a:br/>
            <a:r>
              <a:t>Naïve ($1,725) and Rolling ARIMA ($1,769) beat complex neural networks, validating financial market efficiency.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4688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3. AI for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Deep Learning and GARCH provide real value for non-linear volatility, risk estimation, and regime classification rather than direct price guessing.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463040"/>
            <a:ext cx="24688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4. Human in the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Generative AI is a powerful assistant for coding and drafting, but prone to dangerous statistical hallucinations without human domain expertise.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All deliverables (Report, Executed Notebook, R Markdown, Python/R Scripts &amp; Data) are fully verified and pushed to GitHub!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