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17"/>
    <p:sldId id="259" r:id="rId5"/>
    <p:sldId id="260" r:id="rId6"/>
    <p:sldId id="267" r:id="rId18"/>
    <p:sldId id="261" r:id="rId7"/>
    <p:sldId id="262" r:id="rId8"/>
    <p:sldId id="268" r:id="rId19"/>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60ba1d3-1cf7-c1ea-6c8a-3062525967b5}">
          <p14:sldIdLst>
            <p14:sldId id="256"/>
          </p14:sldIdLst>
        </p14:section>
        <p14:section name="Data and Exploration" id="{2751c1b8-ae12-9711-1c4b-33800dff5883}">
          <p14:sldIdLst>
            <p14:sldId id="257"/>
            <p14:sldId id="258"/>
          </p14:sldIdLst>
        </p14:section>
        <p14:section name="Classical Models" id="{0198d151-30c6-63b3-c0ab-b0c367d51648}">
          <p14:sldIdLst>
            <p14:sldId id="259"/>
            <p14:sldId id="260"/>
          </p14:sldIdLst>
        </p14:section>
        <p14:section name="Volatility and Deep Learning" id="{aec199db-2c38-5ae5-3ad3-67cfaa644495}">
          <p14:sldIdLst>
            <p14:sldId id="261"/>
            <p14:sldId id="262"/>
          </p14:sldIdLst>
        </p14:section>
        <p14:section name="Evaluation" id="{3ba12a43-1ff5-eb56-9139-6ebda0231dbf}">
          <p14:sldIdLst>
            <p14:sldId id="263"/>
            <p14:sldId id="264"/>
          </p14:sldIdLst>
        </p14:section>
        <p14:section name="Conclusion" id="{c7e2988a-571c-10cc-2fcd-26afdf5c358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BTC</c:v>
                </c:pt>
              </c:strCache>
            </c:strRef>
          </c:tx>
          <c:spPr>
            <a:solidFill>
              <a:srgbClr val="A8702A"/>
            </a:solidFill>
            <a:ln w="25400" cap="flat">
              <a:solidFill>
                <a:srgbClr val="A870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702A"/>
              </a:solidFill>
              <a:ln w="9525" cap="flat">
                <a:solidFill>
                  <a:srgbClr val="A8702A"/>
                </a:solidFill>
                <a:prstDash val="solid"/>
                <a:round/>
              </a:ln>
              <a:effectLst/>
            </c:spPr>
          </c:marker>
          <c:cat>
            <c:multiLvlStrRef>
              <c:f>Sheet1!$A$2:$A$402</c:f>
              <c:multiLvlStrCache>
                <c:ptCount val="401"/>
                <c:lvl>
                  <c:pt idx="0">
                    <c:v>2019-01</c:v>
                  </c:pt>
                  <c:pt idx="1">
                    <c:v>2019-02</c:v>
                  </c:pt>
                  <c:pt idx="2">
                    <c:v>2019-02</c:v>
                  </c:pt>
                  <c:pt idx="3">
                    <c:v>2019-02</c:v>
                  </c:pt>
                  <c:pt idx="4">
                    <c:v>2019-02</c:v>
                  </c:pt>
                  <c:pt idx="5">
                    <c:v>2019-03</c:v>
                  </c:pt>
                  <c:pt idx="6">
                    <c:v>2019-03</c:v>
                  </c:pt>
                  <c:pt idx="7">
                    <c:v>2019-03</c:v>
                  </c:pt>
                  <c:pt idx="8">
                    <c:v>2019-03</c:v>
                  </c:pt>
                  <c:pt idx="9">
                    <c:v>2019-04</c:v>
                  </c:pt>
                  <c:pt idx="10">
                    <c:v>2019-04</c:v>
                  </c:pt>
                  <c:pt idx="11">
                    <c:v>2019-04</c:v>
                  </c:pt>
                  <c:pt idx="12">
                    <c:v>2019-04</c:v>
                  </c:pt>
                  <c:pt idx="13">
                    <c:v>2019-05</c:v>
                  </c:pt>
                  <c:pt idx="14">
                    <c:v>2019-05</c:v>
                  </c:pt>
                  <c:pt idx="15">
                    <c:v>2019-05</c:v>
                  </c:pt>
                  <c:pt idx="16">
                    <c:v>2019-05</c:v>
                  </c:pt>
                  <c:pt idx="17">
                    <c:v>2019-05</c:v>
                  </c:pt>
                  <c:pt idx="18">
                    <c:v>2019-06</c:v>
                  </c:pt>
                  <c:pt idx="19">
                    <c:v>2019-06</c:v>
                  </c:pt>
                  <c:pt idx="20">
                    <c:v>2019-06</c:v>
                  </c:pt>
                  <c:pt idx="21">
                    <c:v>2019-06</c:v>
                  </c:pt>
                  <c:pt idx="22">
                    <c:v>2019-07</c:v>
                  </c:pt>
                  <c:pt idx="23">
                    <c:v>2019-07</c:v>
                  </c:pt>
                  <c:pt idx="24">
                    <c:v>2019-07</c:v>
                  </c:pt>
                  <c:pt idx="25">
                    <c:v>2019-07</c:v>
                  </c:pt>
                  <c:pt idx="26">
                    <c:v>2019-08</c:v>
                  </c:pt>
                  <c:pt idx="27">
                    <c:v>2019-08</c:v>
                  </c:pt>
                  <c:pt idx="28">
                    <c:v>2019-08</c:v>
                  </c:pt>
                  <c:pt idx="29">
                    <c:v>2019-08</c:v>
                  </c:pt>
                  <c:pt idx="30">
                    <c:v>2019-08</c:v>
                  </c:pt>
                  <c:pt idx="31">
                    <c:v>2019-09</c:v>
                  </c:pt>
                  <c:pt idx="32">
                    <c:v>2019-09</c:v>
                  </c:pt>
                  <c:pt idx="33">
                    <c:v>2019-09</c:v>
                  </c:pt>
                  <c:pt idx="34">
                    <c:v>2019-09</c:v>
                  </c:pt>
                  <c:pt idx="35">
                    <c:v>2019-10</c:v>
                  </c:pt>
                  <c:pt idx="36">
                    <c:v>2019-10</c:v>
                  </c:pt>
                  <c:pt idx="37">
                    <c:v>2019-10</c:v>
                  </c:pt>
                  <c:pt idx="38">
                    <c:v>2019-10</c:v>
                  </c:pt>
                  <c:pt idx="39">
                    <c:v>2019-10</c:v>
                  </c:pt>
                  <c:pt idx="40">
                    <c:v>2019-11</c:v>
                  </c:pt>
                  <c:pt idx="41">
                    <c:v>2019-11</c:v>
                  </c:pt>
                  <c:pt idx="42">
                    <c:v>2019-11</c:v>
                  </c:pt>
                  <c:pt idx="43">
                    <c:v>2019-11</c:v>
                  </c:pt>
                  <c:pt idx="44">
                    <c:v>2019-12</c:v>
                  </c:pt>
                  <c:pt idx="45">
                    <c:v>2019-12</c:v>
                  </c:pt>
                  <c:pt idx="46">
                    <c:v>2019-12</c:v>
                  </c:pt>
                  <c:pt idx="47">
                    <c:v>2019-12</c:v>
                  </c:pt>
                  <c:pt idx="48">
                    <c:v>2020-01</c:v>
                  </c:pt>
                  <c:pt idx="49">
                    <c:v>2020-01</c:v>
                  </c:pt>
                  <c:pt idx="50">
                    <c:v>2020-01</c:v>
                  </c:pt>
                  <c:pt idx="51">
                    <c:v>2020-01</c:v>
                  </c:pt>
                  <c:pt idx="52">
                    <c:v>2020-01</c:v>
                  </c:pt>
                  <c:pt idx="53">
                    <c:v>2020-02</c:v>
                  </c:pt>
                  <c:pt idx="54">
                    <c:v>2020-02</c:v>
                  </c:pt>
                  <c:pt idx="55">
                    <c:v>2020-02</c:v>
                  </c:pt>
                  <c:pt idx="56">
                    <c:v>2020-02</c:v>
                  </c:pt>
                  <c:pt idx="57">
                    <c:v>2020-03</c:v>
                  </c:pt>
                  <c:pt idx="58">
                    <c:v>2020-03</c:v>
                  </c:pt>
                  <c:pt idx="59">
                    <c:v>2020-03</c:v>
                  </c:pt>
                  <c:pt idx="60">
                    <c:v>2020-03</c:v>
                  </c:pt>
                  <c:pt idx="61">
                    <c:v>2020-04</c:v>
                  </c:pt>
                  <c:pt idx="62">
                    <c:v>2020-04</c:v>
                  </c:pt>
                  <c:pt idx="63">
                    <c:v>2020-04</c:v>
                  </c:pt>
                  <c:pt idx="64">
                    <c:v>2020-04</c:v>
                  </c:pt>
                  <c:pt idx="65">
                    <c:v>2020-04</c:v>
                  </c:pt>
                  <c:pt idx="66">
                    <c:v>2020-05</c:v>
                  </c:pt>
                  <c:pt idx="67">
                    <c:v>2020-05</c:v>
                  </c:pt>
                  <c:pt idx="68">
                    <c:v>2020-05</c:v>
                  </c:pt>
                  <c:pt idx="69">
                    <c:v>2020-05</c:v>
                  </c:pt>
                  <c:pt idx="70">
                    <c:v>2020-06</c:v>
                  </c:pt>
                  <c:pt idx="71">
                    <c:v>2020-06</c:v>
                  </c:pt>
                  <c:pt idx="72">
                    <c:v>2020-06</c:v>
                  </c:pt>
                  <c:pt idx="73">
                    <c:v>2020-06</c:v>
                  </c:pt>
                  <c:pt idx="74">
                    <c:v>2020-07</c:v>
                  </c:pt>
                  <c:pt idx="75">
                    <c:v>2020-07</c:v>
                  </c:pt>
                  <c:pt idx="76">
                    <c:v>2020-07</c:v>
                  </c:pt>
                  <c:pt idx="77">
                    <c:v>2020-07</c:v>
                  </c:pt>
                  <c:pt idx="78">
                    <c:v>2020-07</c:v>
                  </c:pt>
                  <c:pt idx="79">
                    <c:v>2020-08</c:v>
                  </c:pt>
                  <c:pt idx="80">
                    <c:v>2020-08</c:v>
                  </c:pt>
                  <c:pt idx="81">
                    <c:v>2020-08</c:v>
                  </c:pt>
                  <c:pt idx="82">
                    <c:v>2020-08</c:v>
                  </c:pt>
                  <c:pt idx="83">
                    <c:v>2020-09</c:v>
                  </c:pt>
                  <c:pt idx="84">
                    <c:v>2020-09</c:v>
                  </c:pt>
                  <c:pt idx="85">
                    <c:v>2020-09</c:v>
                  </c:pt>
                  <c:pt idx="86">
                    <c:v>2020-09</c:v>
                  </c:pt>
                  <c:pt idx="87">
                    <c:v>2020-10</c:v>
                  </c:pt>
                  <c:pt idx="88">
                    <c:v>2020-10</c:v>
                  </c:pt>
                  <c:pt idx="89">
                    <c:v>2020-10</c:v>
                  </c:pt>
                  <c:pt idx="90">
                    <c:v>2020-10</c:v>
                  </c:pt>
                  <c:pt idx="91">
                    <c:v>2020-10</c:v>
                  </c:pt>
                  <c:pt idx="92">
                    <c:v>2020-11</c:v>
                  </c:pt>
                  <c:pt idx="93">
                    <c:v>2020-11</c:v>
                  </c:pt>
                  <c:pt idx="94">
                    <c:v>2020-11</c:v>
                  </c:pt>
                  <c:pt idx="95">
                    <c:v>2020-11</c:v>
                  </c:pt>
                  <c:pt idx="96">
                    <c:v>2020-12</c:v>
                  </c:pt>
                  <c:pt idx="97">
                    <c:v>2020-12</c:v>
                  </c:pt>
                  <c:pt idx="98">
                    <c:v>2020-12</c:v>
                  </c:pt>
                  <c:pt idx="99">
                    <c:v>2020-12</c:v>
                  </c:pt>
                  <c:pt idx="100">
                    <c:v>2020-12</c:v>
                  </c:pt>
                  <c:pt idx="101">
                    <c:v>2021-01</c:v>
                  </c:pt>
                  <c:pt idx="102">
                    <c:v>2021-01</c:v>
                  </c:pt>
                  <c:pt idx="103">
                    <c:v>2021-01</c:v>
                  </c:pt>
                  <c:pt idx="104">
                    <c:v>2021-01</c:v>
                  </c:pt>
                  <c:pt idx="105">
                    <c:v>2021-02</c:v>
                  </c:pt>
                  <c:pt idx="106">
                    <c:v>2021-02</c:v>
                  </c:pt>
                  <c:pt idx="107">
                    <c:v>2021-02</c:v>
                  </c:pt>
                  <c:pt idx="108">
                    <c:v>2021-02</c:v>
                  </c:pt>
                  <c:pt idx="109">
                    <c:v>2021-03</c:v>
                  </c:pt>
                  <c:pt idx="110">
                    <c:v>2021-03</c:v>
                  </c:pt>
                  <c:pt idx="111">
                    <c:v>2021-03</c:v>
                  </c:pt>
                  <c:pt idx="112">
                    <c:v>2021-03</c:v>
                  </c:pt>
                  <c:pt idx="113">
                    <c:v>2021-04</c:v>
                  </c:pt>
                  <c:pt idx="114">
                    <c:v>2021-04</c:v>
                  </c:pt>
                  <c:pt idx="115">
                    <c:v>2021-04</c:v>
                  </c:pt>
                  <c:pt idx="116">
                    <c:v>2021-04</c:v>
                  </c:pt>
                  <c:pt idx="117">
                    <c:v>2021-04</c:v>
                  </c:pt>
                  <c:pt idx="118">
                    <c:v>2021-05</c:v>
                  </c:pt>
                  <c:pt idx="119">
                    <c:v>2021-05</c:v>
                  </c:pt>
                  <c:pt idx="120">
                    <c:v>2021-05</c:v>
                  </c:pt>
                  <c:pt idx="121">
                    <c:v>2021-05</c:v>
                  </c:pt>
                  <c:pt idx="122">
                    <c:v>2021-06</c:v>
                  </c:pt>
                  <c:pt idx="123">
                    <c:v>2021-06</c:v>
                  </c:pt>
                  <c:pt idx="124">
                    <c:v>2021-06</c:v>
                  </c:pt>
                  <c:pt idx="125">
                    <c:v>2021-06</c:v>
                  </c:pt>
                  <c:pt idx="126">
                    <c:v>2021-07</c:v>
                  </c:pt>
                  <c:pt idx="127">
                    <c:v>2021-07</c:v>
                  </c:pt>
                  <c:pt idx="128">
                    <c:v>2021-07</c:v>
                  </c:pt>
                  <c:pt idx="129">
                    <c:v>2021-07</c:v>
                  </c:pt>
                  <c:pt idx="130">
                    <c:v>2021-07</c:v>
                  </c:pt>
                  <c:pt idx="131">
                    <c:v>2021-08</c:v>
                  </c:pt>
                  <c:pt idx="132">
                    <c:v>2021-08</c:v>
                  </c:pt>
                  <c:pt idx="133">
                    <c:v>2021-08</c:v>
                  </c:pt>
                  <c:pt idx="134">
                    <c:v>2021-08</c:v>
                  </c:pt>
                  <c:pt idx="135">
                    <c:v>2021-09</c:v>
                  </c:pt>
                  <c:pt idx="136">
                    <c:v>2021-09</c:v>
                  </c:pt>
                  <c:pt idx="137">
                    <c:v>2021-09</c:v>
                  </c:pt>
                  <c:pt idx="138">
                    <c:v>2021-09</c:v>
                  </c:pt>
                  <c:pt idx="139">
                    <c:v>2021-09</c:v>
                  </c:pt>
                  <c:pt idx="140">
                    <c:v>2021-10</c:v>
                  </c:pt>
                  <c:pt idx="141">
                    <c:v>2021-10</c:v>
                  </c:pt>
                  <c:pt idx="142">
                    <c:v>2021-10</c:v>
                  </c:pt>
                  <c:pt idx="143">
                    <c:v>2021-10</c:v>
                  </c:pt>
                  <c:pt idx="144">
                    <c:v>2021-11</c:v>
                  </c:pt>
                  <c:pt idx="145">
                    <c:v>2021-11</c:v>
                  </c:pt>
                  <c:pt idx="146">
                    <c:v>2021-11</c:v>
                  </c:pt>
                  <c:pt idx="147">
                    <c:v>2021-11</c:v>
                  </c:pt>
                  <c:pt idx="148">
                    <c:v>2021-12</c:v>
                  </c:pt>
                  <c:pt idx="149">
                    <c:v>2021-12</c:v>
                  </c:pt>
                  <c:pt idx="150">
                    <c:v>2021-12</c:v>
                  </c:pt>
                  <c:pt idx="151">
                    <c:v>2021-12</c:v>
                  </c:pt>
                  <c:pt idx="152">
                    <c:v>2021-12</c:v>
                  </c:pt>
                  <c:pt idx="153">
                    <c:v>2022-01</c:v>
                  </c:pt>
                  <c:pt idx="154">
                    <c:v>2022-01</c:v>
                  </c:pt>
                  <c:pt idx="155">
                    <c:v>2022-01</c:v>
                  </c:pt>
                  <c:pt idx="156">
                    <c:v>2022-01</c:v>
                  </c:pt>
                  <c:pt idx="157">
                    <c:v>2022-02</c:v>
                  </c:pt>
                  <c:pt idx="158">
                    <c:v>2022-02</c:v>
                  </c:pt>
                  <c:pt idx="159">
                    <c:v>2022-02</c:v>
                  </c:pt>
                  <c:pt idx="160">
                    <c:v>2022-02</c:v>
                  </c:pt>
                  <c:pt idx="161">
                    <c:v>2022-03</c:v>
                  </c:pt>
                  <c:pt idx="162">
                    <c:v>2022-03</c:v>
                  </c:pt>
                  <c:pt idx="163">
                    <c:v>2022-03</c:v>
                  </c:pt>
                  <c:pt idx="164">
                    <c:v>2022-03</c:v>
                  </c:pt>
                  <c:pt idx="165">
                    <c:v>2022-03</c:v>
                  </c:pt>
                  <c:pt idx="166">
                    <c:v>2022-04</c:v>
                  </c:pt>
                  <c:pt idx="167">
                    <c:v>2022-04</c:v>
                  </c:pt>
                  <c:pt idx="168">
                    <c:v>2022-04</c:v>
                  </c:pt>
                  <c:pt idx="169">
                    <c:v>2022-04</c:v>
                  </c:pt>
                  <c:pt idx="170">
                    <c:v>2022-05</c:v>
                  </c:pt>
                  <c:pt idx="171">
                    <c:v>2022-05</c:v>
                  </c:pt>
                  <c:pt idx="172">
                    <c:v>2022-05</c:v>
                  </c:pt>
                  <c:pt idx="173">
                    <c:v>2022-05</c:v>
                  </c:pt>
                  <c:pt idx="174">
                    <c:v>2022-06</c:v>
                  </c:pt>
                  <c:pt idx="175">
                    <c:v>2022-06</c:v>
                  </c:pt>
                  <c:pt idx="176">
                    <c:v>2022-06</c:v>
                  </c:pt>
                  <c:pt idx="177">
                    <c:v>2022-06</c:v>
                  </c:pt>
                  <c:pt idx="178">
                    <c:v>2022-06</c:v>
                  </c:pt>
                  <c:pt idx="179">
                    <c:v>2022-07</c:v>
                  </c:pt>
                  <c:pt idx="180">
                    <c:v>2022-07</c:v>
                  </c:pt>
                  <c:pt idx="181">
                    <c:v>2022-07</c:v>
                  </c:pt>
                  <c:pt idx="182">
                    <c:v>2022-07</c:v>
                  </c:pt>
                  <c:pt idx="183">
                    <c:v>2022-08</c:v>
                  </c:pt>
                  <c:pt idx="184">
                    <c:v>2022-08</c:v>
                  </c:pt>
                  <c:pt idx="185">
                    <c:v>2022-08</c:v>
                  </c:pt>
                  <c:pt idx="186">
                    <c:v>2022-08</c:v>
                  </c:pt>
                  <c:pt idx="187">
                    <c:v>2022-09</c:v>
                  </c:pt>
                  <c:pt idx="188">
                    <c:v>2022-09</c:v>
                  </c:pt>
                  <c:pt idx="189">
                    <c:v>2022-09</c:v>
                  </c:pt>
                  <c:pt idx="190">
                    <c:v>2022-09</c:v>
                  </c:pt>
                  <c:pt idx="191">
                    <c:v>2022-09</c:v>
                  </c:pt>
                  <c:pt idx="192">
                    <c:v>2022-10</c:v>
                  </c:pt>
                  <c:pt idx="193">
                    <c:v>2022-10</c:v>
                  </c:pt>
                  <c:pt idx="194">
                    <c:v>2022-10</c:v>
                  </c:pt>
                  <c:pt idx="195">
                    <c:v>2022-10</c:v>
                  </c:pt>
                  <c:pt idx="196">
                    <c:v>2022-11</c:v>
                  </c:pt>
                  <c:pt idx="197">
                    <c:v>2022-11</c:v>
                  </c:pt>
                  <c:pt idx="198">
                    <c:v>2022-11</c:v>
                  </c:pt>
                  <c:pt idx="199">
                    <c:v>2022-11</c:v>
                  </c:pt>
                  <c:pt idx="200">
                    <c:v>2022-12</c:v>
                  </c:pt>
                  <c:pt idx="201">
                    <c:v>2022-12</c:v>
                  </c:pt>
                  <c:pt idx="202">
                    <c:v>2022-12</c:v>
                  </c:pt>
                  <c:pt idx="203">
                    <c:v>2022-12</c:v>
                  </c:pt>
                  <c:pt idx="204">
                    <c:v>2022-12</c:v>
                  </c:pt>
                  <c:pt idx="205">
                    <c:v>2023-01</c:v>
                  </c:pt>
                  <c:pt idx="206">
                    <c:v>2023-01</c:v>
                  </c:pt>
                  <c:pt idx="207">
                    <c:v>2023-01</c:v>
                  </c:pt>
                  <c:pt idx="208">
                    <c:v>2023-01</c:v>
                  </c:pt>
                  <c:pt idx="209">
                    <c:v>2023-02</c:v>
                  </c:pt>
                  <c:pt idx="210">
                    <c:v>2023-02</c:v>
                  </c:pt>
                  <c:pt idx="211">
                    <c:v>2023-02</c:v>
                  </c:pt>
                  <c:pt idx="212">
                    <c:v>2023-02</c:v>
                  </c:pt>
                  <c:pt idx="213">
                    <c:v>2023-03</c:v>
                  </c:pt>
                  <c:pt idx="214">
                    <c:v>2023-03</c:v>
                  </c:pt>
                  <c:pt idx="215">
                    <c:v>2023-03</c:v>
                  </c:pt>
                  <c:pt idx="216">
                    <c:v>2023-03</c:v>
                  </c:pt>
                  <c:pt idx="217">
                    <c:v>2023-03</c:v>
                  </c:pt>
                  <c:pt idx="218">
                    <c:v>2023-04</c:v>
                  </c:pt>
                  <c:pt idx="219">
                    <c:v>2023-04</c:v>
                  </c:pt>
                  <c:pt idx="220">
                    <c:v>2023-04</c:v>
                  </c:pt>
                  <c:pt idx="221">
                    <c:v>2023-04</c:v>
                  </c:pt>
                  <c:pt idx="222">
                    <c:v>2023-05</c:v>
                  </c:pt>
                  <c:pt idx="223">
                    <c:v>2023-05</c:v>
                  </c:pt>
                  <c:pt idx="224">
                    <c:v>2023-05</c:v>
                  </c:pt>
                  <c:pt idx="225">
                    <c:v>2023-05</c:v>
                  </c:pt>
                  <c:pt idx="226">
                    <c:v>2023-06</c:v>
                  </c:pt>
                  <c:pt idx="227">
                    <c:v>2023-06</c:v>
                  </c:pt>
                  <c:pt idx="228">
                    <c:v>2023-06</c:v>
                  </c:pt>
                  <c:pt idx="229">
                    <c:v>2023-06</c:v>
                  </c:pt>
                  <c:pt idx="230">
                    <c:v>2023-06</c:v>
                  </c:pt>
                  <c:pt idx="231">
                    <c:v>2023-07</c:v>
                  </c:pt>
                  <c:pt idx="232">
                    <c:v>2023-07</c:v>
                  </c:pt>
                  <c:pt idx="233">
                    <c:v>2023-07</c:v>
                  </c:pt>
                  <c:pt idx="234">
                    <c:v>2023-07</c:v>
                  </c:pt>
                  <c:pt idx="235">
                    <c:v>2023-08</c:v>
                  </c:pt>
                  <c:pt idx="236">
                    <c:v>2023-08</c:v>
                  </c:pt>
                  <c:pt idx="237">
                    <c:v>2023-08</c:v>
                  </c:pt>
                  <c:pt idx="238">
                    <c:v>2023-08</c:v>
                  </c:pt>
                  <c:pt idx="239">
                    <c:v>2023-08</c:v>
                  </c:pt>
                  <c:pt idx="240">
                    <c:v>2023-09</c:v>
                  </c:pt>
                  <c:pt idx="241">
                    <c:v>2023-09</c:v>
                  </c:pt>
                  <c:pt idx="242">
                    <c:v>2023-09</c:v>
                  </c:pt>
                  <c:pt idx="243">
                    <c:v>2023-09</c:v>
                  </c:pt>
                  <c:pt idx="244">
                    <c:v>2023-10</c:v>
                  </c:pt>
                  <c:pt idx="245">
                    <c:v>2023-10</c:v>
                  </c:pt>
                  <c:pt idx="246">
                    <c:v>2023-10</c:v>
                  </c:pt>
                  <c:pt idx="247">
                    <c:v>2023-10</c:v>
                  </c:pt>
                  <c:pt idx="248">
                    <c:v>2023-11</c:v>
                  </c:pt>
                  <c:pt idx="249">
                    <c:v>2023-11</c:v>
                  </c:pt>
                  <c:pt idx="250">
                    <c:v>2023-11</c:v>
                  </c:pt>
                  <c:pt idx="251">
                    <c:v>2023-11</c:v>
                  </c:pt>
                  <c:pt idx="252">
                    <c:v>2023-11</c:v>
                  </c:pt>
                  <c:pt idx="253">
                    <c:v>2023-12</c:v>
                  </c:pt>
                  <c:pt idx="254">
                    <c:v>2023-12</c:v>
                  </c:pt>
                  <c:pt idx="255">
                    <c:v>2023-12</c:v>
                  </c:pt>
                  <c:pt idx="256">
                    <c:v>2023-12</c:v>
                  </c:pt>
                  <c:pt idx="257">
                    <c:v>2024-01</c:v>
                  </c:pt>
                  <c:pt idx="258">
                    <c:v>2024-01</c:v>
                  </c:pt>
                  <c:pt idx="259">
                    <c:v>2024-01</c:v>
                  </c:pt>
                  <c:pt idx="260">
                    <c:v>2024-01</c:v>
                  </c:pt>
                  <c:pt idx="261">
                    <c:v>2024-02</c:v>
                  </c:pt>
                  <c:pt idx="262">
                    <c:v>2024-02</c:v>
                  </c:pt>
                  <c:pt idx="263">
                    <c:v>2024-02</c:v>
                  </c:pt>
                  <c:pt idx="264">
                    <c:v>2024-02</c:v>
                  </c:pt>
                  <c:pt idx="265">
                    <c:v>2024-02</c:v>
                  </c:pt>
                  <c:pt idx="266">
                    <c:v>2024-03</c:v>
                  </c:pt>
                  <c:pt idx="267">
                    <c:v>2024-03</c:v>
                  </c:pt>
                  <c:pt idx="268">
                    <c:v>2024-03</c:v>
                  </c:pt>
                  <c:pt idx="269">
                    <c:v>2024-03</c:v>
                  </c:pt>
                  <c:pt idx="270">
                    <c:v>2024-04</c:v>
                  </c:pt>
                  <c:pt idx="271">
                    <c:v>2024-04</c:v>
                  </c:pt>
                  <c:pt idx="272">
                    <c:v>2024-04</c:v>
                  </c:pt>
                  <c:pt idx="273">
                    <c:v>2024-04</c:v>
                  </c:pt>
                  <c:pt idx="274">
                    <c:v>2024-05</c:v>
                  </c:pt>
                  <c:pt idx="275">
                    <c:v>2024-05</c:v>
                  </c:pt>
                  <c:pt idx="276">
                    <c:v>2024-05</c:v>
                  </c:pt>
                  <c:pt idx="277">
                    <c:v>2024-05</c:v>
                  </c:pt>
                  <c:pt idx="278">
                    <c:v>2024-05</c:v>
                  </c:pt>
                  <c:pt idx="279">
                    <c:v>2024-06</c:v>
                  </c:pt>
                  <c:pt idx="280">
                    <c:v>2024-06</c:v>
                  </c:pt>
                  <c:pt idx="281">
                    <c:v>2024-06</c:v>
                  </c:pt>
                  <c:pt idx="282">
                    <c:v>2024-06</c:v>
                  </c:pt>
                  <c:pt idx="283">
                    <c:v>2024-07</c:v>
                  </c:pt>
                  <c:pt idx="284">
                    <c:v>2024-07</c:v>
                  </c:pt>
                  <c:pt idx="285">
                    <c:v>2024-07</c:v>
                  </c:pt>
                  <c:pt idx="286">
                    <c:v>2024-07</c:v>
                  </c:pt>
                  <c:pt idx="287">
                    <c:v>2024-08</c:v>
                  </c:pt>
                  <c:pt idx="288">
                    <c:v>2024-08</c:v>
                  </c:pt>
                  <c:pt idx="289">
                    <c:v>2024-08</c:v>
                  </c:pt>
                  <c:pt idx="290">
                    <c:v>2024-08</c:v>
                  </c:pt>
                  <c:pt idx="291">
                    <c:v>2024-08</c:v>
                  </c:pt>
                  <c:pt idx="292">
                    <c:v>2024-09</c:v>
                  </c:pt>
                  <c:pt idx="293">
                    <c:v>2024-09</c:v>
                  </c:pt>
                  <c:pt idx="294">
                    <c:v>2024-09</c:v>
                  </c:pt>
                  <c:pt idx="295">
                    <c:v>2024-09</c:v>
                  </c:pt>
                  <c:pt idx="296">
                    <c:v>2024-10</c:v>
                  </c:pt>
                  <c:pt idx="297">
                    <c:v>2024-10</c:v>
                  </c:pt>
                  <c:pt idx="298">
                    <c:v>2024-10</c:v>
                  </c:pt>
                  <c:pt idx="299">
                    <c:v>2024-10</c:v>
                  </c:pt>
                  <c:pt idx="300">
                    <c:v>2024-10</c:v>
                  </c:pt>
                  <c:pt idx="301">
                    <c:v>2024-11</c:v>
                  </c:pt>
                  <c:pt idx="302">
                    <c:v>2024-11</c:v>
                  </c:pt>
                  <c:pt idx="303">
                    <c:v>2024-11</c:v>
                  </c:pt>
                  <c:pt idx="304">
                    <c:v>2024-11</c:v>
                  </c:pt>
                  <c:pt idx="305">
                    <c:v>2024-12</c:v>
                  </c:pt>
                  <c:pt idx="306">
                    <c:v>2024-12</c:v>
                  </c:pt>
                  <c:pt idx="307">
                    <c:v>2024-12</c:v>
                  </c:pt>
                  <c:pt idx="308">
                    <c:v>2024-12</c:v>
                  </c:pt>
                  <c:pt idx="309">
                    <c:v>2025-01</c:v>
                  </c:pt>
                  <c:pt idx="310">
                    <c:v>2025-01</c:v>
                  </c:pt>
                  <c:pt idx="311">
                    <c:v>2025-01</c:v>
                  </c:pt>
                  <c:pt idx="312">
                    <c:v>2025-01</c:v>
                  </c:pt>
                  <c:pt idx="313">
                    <c:v>2025-01</c:v>
                  </c:pt>
                  <c:pt idx="314">
                    <c:v>2025-02</c:v>
                  </c:pt>
                  <c:pt idx="315">
                    <c:v>2025-02</c:v>
                  </c:pt>
                  <c:pt idx="316">
                    <c:v>2025-02</c:v>
                  </c:pt>
                  <c:pt idx="317">
                    <c:v>2025-02</c:v>
                  </c:pt>
                  <c:pt idx="318">
                    <c:v>2025-03</c:v>
                  </c:pt>
                  <c:pt idx="319">
                    <c:v>2025-03</c:v>
                  </c:pt>
                  <c:pt idx="320">
                    <c:v>2025-03</c:v>
                  </c:pt>
                  <c:pt idx="321">
                    <c:v>2025-03</c:v>
                  </c:pt>
                  <c:pt idx="322">
                    <c:v>2025-04</c:v>
                  </c:pt>
                  <c:pt idx="323">
                    <c:v>2025-04</c:v>
                  </c:pt>
                  <c:pt idx="324">
                    <c:v>2025-04</c:v>
                  </c:pt>
                  <c:pt idx="325">
                    <c:v>2025-04</c:v>
                  </c:pt>
                  <c:pt idx="326">
                    <c:v>2025-05</c:v>
                  </c:pt>
                  <c:pt idx="327">
                    <c:v>2025-05</c:v>
                  </c:pt>
                  <c:pt idx="328">
                    <c:v>2025-05</c:v>
                  </c:pt>
                  <c:pt idx="329">
                    <c:v>2025-05</c:v>
                  </c:pt>
                  <c:pt idx="330">
                    <c:v>2025-05</c:v>
                  </c:pt>
                  <c:pt idx="331">
                    <c:v>2025-06</c:v>
                  </c:pt>
                  <c:pt idx="332">
                    <c:v>2025-06</c:v>
                  </c:pt>
                  <c:pt idx="333">
                    <c:v>2025-06</c:v>
                  </c:pt>
                  <c:pt idx="334">
                    <c:v>2025-06</c:v>
                  </c:pt>
                  <c:pt idx="335">
                    <c:v>2025-07</c:v>
                  </c:pt>
                  <c:pt idx="336">
                    <c:v>2025-07</c:v>
                  </c:pt>
                  <c:pt idx="337">
                    <c:v>2025-07</c:v>
                  </c:pt>
                  <c:pt idx="338">
                    <c:v>2025-07</c:v>
                  </c:pt>
                  <c:pt idx="339">
                    <c:v>2025-07</c:v>
                  </c:pt>
                  <c:pt idx="340">
                    <c:v>2025-08</c:v>
                  </c:pt>
                  <c:pt idx="341">
                    <c:v>2025-08</c:v>
                  </c:pt>
                  <c:pt idx="342">
                    <c:v>2025-08</c:v>
                  </c:pt>
                  <c:pt idx="343">
                    <c:v>2025-08</c:v>
                  </c:pt>
                  <c:pt idx="344">
                    <c:v>2025-09</c:v>
                  </c:pt>
                  <c:pt idx="345">
                    <c:v>2025-09</c:v>
                  </c:pt>
                  <c:pt idx="346">
                    <c:v>2025-09</c:v>
                  </c:pt>
                  <c:pt idx="347">
                    <c:v>2025-09</c:v>
                  </c:pt>
                  <c:pt idx="348">
                    <c:v>2025-10</c:v>
                  </c:pt>
                  <c:pt idx="349">
                    <c:v>2025-10</c:v>
                  </c:pt>
                  <c:pt idx="350">
                    <c:v>2025-10</c:v>
                  </c:pt>
                  <c:pt idx="351">
                    <c:v>2025-10</c:v>
                  </c:pt>
                  <c:pt idx="352">
                    <c:v>2025-10</c:v>
                  </c:pt>
                  <c:pt idx="353">
                    <c:v>2025-11</c:v>
                  </c:pt>
                  <c:pt idx="354">
                    <c:v>2025-11</c:v>
                  </c:pt>
                  <c:pt idx="355">
                    <c:v>2025-11</c:v>
                  </c:pt>
                  <c:pt idx="356">
                    <c:v>2025-11</c:v>
                  </c:pt>
                  <c:pt idx="357">
                    <c:v>2025-12</c:v>
                  </c:pt>
                  <c:pt idx="358">
                    <c:v>2025-12</c:v>
                  </c:pt>
                  <c:pt idx="359">
                    <c:v>2025-12</c:v>
                  </c:pt>
                  <c:pt idx="360">
                    <c:v>2025-12</c:v>
                  </c:pt>
                  <c:pt idx="361">
                    <c:v>2026-01</c:v>
                  </c:pt>
                  <c:pt idx="362">
                    <c:v>2026-01</c:v>
                  </c:pt>
                  <c:pt idx="363">
                    <c:v>2026-01</c:v>
                  </c:pt>
                  <c:pt idx="364">
                    <c:v>2026-01</c:v>
                  </c:pt>
                  <c:pt idx="365">
                    <c:v>2026-01</c:v>
                  </c:pt>
                  <c:pt idx="366">
                    <c:v>2026-02</c:v>
                  </c:pt>
                  <c:pt idx="367">
                    <c:v>2026-02</c:v>
                  </c:pt>
                  <c:pt idx="368">
                    <c:v>2026-02</c:v>
                  </c:pt>
                  <c:pt idx="369">
                    <c:v>2026-02</c:v>
                  </c:pt>
                  <c:pt idx="370">
                    <c:v>2026-03</c:v>
                  </c:pt>
                  <c:pt idx="371">
                    <c:v>2026-03</c:v>
                  </c:pt>
                  <c:pt idx="372">
                    <c:v>2026-03</c:v>
                  </c:pt>
                  <c:pt idx="373">
                    <c:v>2026-03</c:v>
                  </c:pt>
                  <c:pt idx="374">
                    <c:v>2026-04</c:v>
                  </c:pt>
                  <c:pt idx="375">
                    <c:v>2026-04</c:v>
                  </c:pt>
                  <c:pt idx="376">
                    <c:v>2026-04</c:v>
                  </c:pt>
                  <c:pt idx="377">
                    <c:v>2026-04</c:v>
                  </c:pt>
                  <c:pt idx="378">
                    <c:v>2026-04</c:v>
                  </c:pt>
                  <c:pt idx="379">
                    <c:v>2026-05</c:v>
                  </c:pt>
                  <c:pt idx="380">
                    <c:v>2026-05</c:v>
                  </c:pt>
                  <c:pt idx="381">
                    <c:v>2026-05</c:v>
                  </c:pt>
                  <c:pt idx="382">
                    <c:v>2026-05</c:v>
                  </c:pt>
                  <c:pt idx="383">
                    <c:v>2026-06</c:v>
                  </c:pt>
                  <c:pt idx="384">
                    <c:v>2026-06</c:v>
                  </c:pt>
                  <c:pt idx="385">
                    <c:v>2026-06</c:v>
                  </c:pt>
                  <c:pt idx="386">
                    <c:v>2026-06</c:v>
                  </c:pt>
                  <c:pt idx="387">
                    <c:v>2026-07</c:v>
                  </c:pt>
                  <c:pt idx="388">
                    <c:v>2026-07</c:v>
                  </c:pt>
                  <c:pt idx="389">
                    <c:v>2026-07</c:v>
                  </c:pt>
                  <c:pt idx="390">
                    <c:v>2026-07</c:v>
                  </c:pt>
                  <c:pt idx="391">
                    <c:v>2026-07</c:v>
                  </c:pt>
                  <c:pt idx="392">
                    <c:v>2026-08</c:v>
                  </c:pt>
                  <c:pt idx="393">
                    <c:v>2026-08</c:v>
                  </c:pt>
                  <c:pt idx="394">
                    <c:v>2026-08</c:v>
                  </c:pt>
                  <c:pt idx="395">
                    <c:v>2026-08</c:v>
                  </c:pt>
                  <c:pt idx="396">
                    <c:v>2026-09</c:v>
                  </c:pt>
                  <c:pt idx="397">
                    <c:v>2026-09</c:v>
                  </c:pt>
                  <c:pt idx="398">
                    <c:v>2026-09</c:v>
                  </c:pt>
                  <c:pt idx="399">
                    <c:v>2026-09</c:v>
                  </c:pt>
                  <c:pt idx="400">
                    <c:v>2026-10</c:v>
                  </c:pt>
                </c:lvl>
              </c:multiLvlStrCache>
            </c:multiLvlStrRef>
          </c:cat>
          <c:val>
            <c:numRef>
              <c:f>Sheet1!$B$2:$B$402</c:f>
              <c:numCache>
                <c:formatCode>General</c:formatCode>
                <c:ptCount val="401"/>
                <c:pt idx="0">
                  <c:v>100</c:v>
                </c:pt>
                <c:pt idx="1">
                  <c:v>98.3</c:v>
                </c:pt>
                <c:pt idx="2">
                  <c:v>104.6</c:v>
                </c:pt>
                <c:pt idx="3">
                  <c:v>114.4</c:v>
                </c:pt>
                <c:pt idx="4">
                  <c:v>111.5</c:v>
                </c:pt>
                <c:pt idx="5">
                  <c:v>113.1</c:v>
                </c:pt>
                <c:pt idx="6">
                  <c:v>113.5</c:v>
                </c:pt>
                <c:pt idx="7">
                  <c:v>116.5</c:v>
                </c:pt>
                <c:pt idx="8">
                  <c:v>117.7</c:v>
                </c:pt>
                <c:pt idx="9">
                  <c:v>142.4</c:v>
                </c:pt>
                <c:pt idx="10">
                  <c:v>146.5</c:v>
                </c:pt>
                <c:pt idx="11">
                  <c:v>153.2</c:v>
                </c:pt>
                <c:pt idx="12">
                  <c:v>150.7</c:v>
                </c:pt>
                <c:pt idx="13">
                  <c:v>159.2</c:v>
                </c:pt>
                <c:pt idx="14">
                  <c:v>178.6</c:v>
                </c:pt>
                <c:pt idx="15">
                  <c:v>228</c:v>
                </c:pt>
                <c:pt idx="16">
                  <c:v>227.9</c:v>
                </c:pt>
                <c:pt idx="17">
                  <c:v>240.6</c:v>
                </c:pt>
                <c:pt idx="18">
                  <c:v>226.2</c:v>
                </c:pt>
                <c:pt idx="19">
                  <c:v>238</c:v>
                </c:pt>
                <c:pt idx="20">
                  <c:v>275.5</c:v>
                </c:pt>
                <c:pt idx="21">
                  <c:v>323.4</c:v>
                </c:pt>
                <c:pt idx="22">
                  <c:v>324.4</c:v>
                </c:pt>
                <c:pt idx="23">
                  <c:v>328.5</c:v>
                </c:pt>
                <c:pt idx="24">
                  <c:v>308.5</c:v>
                </c:pt>
                <c:pt idx="25">
                  <c:v>286.7</c:v>
                </c:pt>
                <c:pt idx="26">
                  <c:v>300.8</c:v>
                </c:pt>
                <c:pt idx="27">
                  <c:v>346.1</c:v>
                </c:pt>
                <c:pt idx="28">
                  <c:v>298.2</c:v>
                </c:pt>
                <c:pt idx="29">
                  <c:v>293</c:v>
                </c:pt>
                <c:pt idx="30">
                  <c:v>275</c:v>
                </c:pt>
                <c:pt idx="31">
                  <c:v>305.8</c:v>
                </c:pt>
                <c:pt idx="32">
                  <c:v>301.1</c:v>
                </c:pt>
                <c:pt idx="33">
                  <c:v>296.9</c:v>
                </c:pt>
                <c:pt idx="34">
                  <c:v>234.8</c:v>
                </c:pt>
                <c:pt idx="35">
                  <c:v>238.9</c:v>
                </c:pt>
                <c:pt idx="36">
                  <c:v>248.3</c:v>
                </c:pt>
                <c:pt idx="37">
                  <c:v>234.4</c:v>
                </c:pt>
                <c:pt idx="38">
                  <c:v>216.7</c:v>
                </c:pt>
                <c:pt idx="39">
                  <c:v>266.1</c:v>
                </c:pt>
                <c:pt idx="40">
                  <c:v>268</c:v>
                </c:pt>
                <c:pt idx="41">
                  <c:v>251.8</c:v>
                </c:pt>
                <c:pt idx="42">
                  <c:v>221</c:v>
                </c:pt>
                <c:pt idx="43">
                  <c:v>215.8</c:v>
                </c:pt>
                <c:pt idx="44">
                  <c:v>215.4</c:v>
                </c:pt>
                <c:pt idx="45">
                  <c:v>209.5</c:v>
                </c:pt>
                <c:pt idx="46">
                  <c:v>208.3</c:v>
                </c:pt>
                <c:pt idx="47">
                  <c:v>209.4</c:v>
                </c:pt>
                <c:pt idx="48">
                  <c:v>202</c:v>
                </c:pt>
                <c:pt idx="49">
                  <c:v>227.9</c:v>
                </c:pt>
                <c:pt idx="50">
                  <c:v>252.3</c:v>
                </c:pt>
                <c:pt idx="51">
                  <c:v>243.1</c:v>
                </c:pt>
                <c:pt idx="52">
                  <c:v>275</c:v>
                </c:pt>
                <c:pt idx="53">
                  <c:v>281.4</c:v>
                </c:pt>
                <c:pt idx="54">
                  <c:v>295.4</c:v>
                </c:pt>
                <c:pt idx="55">
                  <c:v>277.9</c:v>
                </c:pt>
                <c:pt idx="56">
                  <c:v>254</c:v>
                </c:pt>
                <c:pt idx="57">
                  <c:v>262.6</c:v>
                </c:pt>
                <c:pt idx="58">
                  <c:v>143.8</c:v>
                </c:pt>
                <c:pt idx="59">
                  <c:v>179.1</c:v>
                </c:pt>
                <c:pt idx="60">
                  <c:v>194.2</c:v>
                </c:pt>
                <c:pt idx="61">
                  <c:v>196.5</c:v>
                </c:pt>
                <c:pt idx="62">
                  <c:v>211.2</c:v>
                </c:pt>
                <c:pt idx="63">
                  <c:v>205.8</c:v>
                </c:pt>
                <c:pt idx="64">
                  <c:v>214.9</c:v>
                </c:pt>
                <c:pt idx="65">
                  <c:v>250.4</c:v>
                </c:pt>
                <c:pt idx="66">
                  <c:v>287.8</c:v>
                </c:pt>
                <c:pt idx="67">
                  <c:v>281.5</c:v>
                </c:pt>
                <c:pt idx="68">
                  <c:v>262.6</c:v>
                </c:pt>
                <c:pt idx="69">
                  <c:v>275.5</c:v>
                </c:pt>
                <c:pt idx="70">
                  <c:v>283.4</c:v>
                </c:pt>
                <c:pt idx="71">
                  <c:v>269.6</c:v>
                </c:pt>
                <c:pt idx="72">
                  <c:v>272.2</c:v>
                </c:pt>
                <c:pt idx="73">
                  <c:v>267.9</c:v>
                </c:pt>
                <c:pt idx="74">
                  <c:v>263.9</c:v>
                </c:pt>
                <c:pt idx="75">
                  <c:v>268.3</c:v>
                </c:pt>
                <c:pt idx="76">
                  <c:v>264.1</c:v>
                </c:pt>
                <c:pt idx="77">
                  <c:v>277.1</c:v>
                </c:pt>
                <c:pt idx="78">
                  <c:v>321.3</c:v>
                </c:pt>
                <c:pt idx="79">
                  <c:v>340.7</c:v>
                </c:pt>
                <c:pt idx="80">
                  <c:v>340.8</c:v>
                </c:pt>
                <c:pt idx="81">
                  <c:v>343.5</c:v>
                </c:pt>
                <c:pt idx="82">
                  <c:v>327.5</c:v>
                </c:pt>
                <c:pt idx="83">
                  <c:v>296.3</c:v>
                </c:pt>
                <c:pt idx="84">
                  <c:v>299.7</c:v>
                </c:pt>
                <c:pt idx="85">
                  <c:v>316.6</c:v>
                </c:pt>
                <c:pt idx="86">
                  <c:v>311.2</c:v>
                </c:pt>
                <c:pt idx="87">
                  <c:v>307.1</c:v>
                </c:pt>
                <c:pt idx="88">
                  <c:v>315.7</c:v>
                </c:pt>
                <c:pt idx="89">
                  <c:v>332.4</c:v>
                </c:pt>
                <c:pt idx="90">
                  <c:v>375</c:v>
                </c:pt>
                <c:pt idx="91">
                  <c:v>388.6</c:v>
                </c:pt>
                <c:pt idx="92">
                  <c:v>450.6</c:v>
                </c:pt>
                <c:pt idx="93">
                  <c:v>470.7</c:v>
                </c:pt>
                <c:pt idx="94">
                  <c:v>515.3</c:v>
                </c:pt>
                <c:pt idx="95">
                  <c:v>496</c:v>
                </c:pt>
                <c:pt idx="96">
                  <c:v>562.4</c:v>
                </c:pt>
                <c:pt idx="97">
                  <c:v>528.2</c:v>
                </c:pt>
                <c:pt idx="98">
                  <c:v>659.5</c:v>
                </c:pt>
                <c:pt idx="99">
                  <c:v>686.4</c:v>
                </c:pt>
                <c:pt idx="100">
                  <c:v>838.7</c:v>
                </c:pt>
                <c:pt idx="101">
                  <c:v>1138.6</c:v>
                </c:pt>
                <c:pt idx="102">
                  <c:v>1133.3</c:v>
                </c:pt>
                <c:pt idx="103">
                  <c:v>891.5</c:v>
                </c:pt>
                <c:pt idx="104">
                  <c:v>967.8</c:v>
                </c:pt>
                <c:pt idx="105">
                  <c:v>1067.9</c:v>
                </c:pt>
                <c:pt idx="106">
                  <c:v>1385.5</c:v>
                </c:pt>
                <c:pt idx="107">
                  <c:v>1494.6</c:v>
                </c:pt>
                <c:pt idx="108">
                  <c:v>1362</c:v>
                </c:pt>
                <c:pt idx="109">
                  <c:v>1404.4</c:v>
                </c:pt>
                <c:pt idx="110">
                  <c:v>1671.7</c:v>
                </c:pt>
                <c:pt idx="111">
                  <c:v>1673.3</c:v>
                </c:pt>
                <c:pt idx="112">
                  <c:v>1495.3</c:v>
                </c:pt>
                <c:pt idx="113">
                  <c:v>1709.1</c:v>
                </c:pt>
                <c:pt idx="114">
                  <c:v>1686.7</c:v>
                </c:pt>
                <c:pt idx="115">
                  <c:v>1831.1</c:v>
                </c:pt>
                <c:pt idx="116">
                  <c:v>1497</c:v>
                </c:pt>
                <c:pt idx="117">
                  <c:v>1548.8</c:v>
                </c:pt>
                <c:pt idx="118">
                  <c:v>1631</c:v>
                </c:pt>
                <c:pt idx="119">
                  <c:v>1437.8</c:v>
                </c:pt>
                <c:pt idx="120">
                  <c:v>1179.4</c:v>
                </c:pt>
                <c:pt idx="121">
                  <c:v>1111.6</c:v>
                </c:pt>
                <c:pt idx="122">
                  <c:v>1133.9</c:v>
                </c:pt>
                <c:pt idx="123">
                  <c:v>1061.4</c:v>
                </c:pt>
                <c:pt idx="124">
                  <c:v>1100.5</c:v>
                </c:pt>
                <c:pt idx="125">
                  <c:v>1002.4</c:v>
                </c:pt>
                <c:pt idx="126">
                  <c:v>970.9</c:v>
                </c:pt>
                <c:pt idx="127">
                  <c:v>950.8</c:v>
                </c:pt>
                <c:pt idx="128">
                  <c:v>919.1</c:v>
                </c:pt>
                <c:pt idx="129">
                  <c:v>934.5</c:v>
                </c:pt>
                <c:pt idx="130">
                  <c:v>1157.1</c:v>
                </c:pt>
                <c:pt idx="131">
                  <c:v>1182</c:v>
                </c:pt>
                <c:pt idx="132">
                  <c:v>1284.9</c:v>
                </c:pt>
                <c:pt idx="133">
                  <c:v>1351.1</c:v>
                </c:pt>
                <c:pt idx="134">
                  <c:v>1357.6</c:v>
                </c:pt>
                <c:pt idx="135">
                  <c:v>1426.6</c:v>
                </c:pt>
                <c:pt idx="136">
                  <c:v>1341.6</c:v>
                </c:pt>
                <c:pt idx="137">
                  <c:v>1381.9</c:v>
                </c:pt>
                <c:pt idx="138">
                  <c:v>1298.4</c:v>
                </c:pt>
                <c:pt idx="139">
                  <c:v>1266.4</c:v>
                </c:pt>
                <c:pt idx="140">
                  <c:v>1556.1</c:v>
                </c:pt>
                <c:pt idx="141">
                  <c:v>1657.7</c:v>
                </c:pt>
                <c:pt idx="142">
                  <c:v>1799.1</c:v>
                </c:pt>
                <c:pt idx="143">
                  <c:v>1753.2</c:v>
                </c:pt>
                <c:pt idx="144">
                  <c:v>1777.2</c:v>
                </c:pt>
                <c:pt idx="145">
                  <c:v>1878.4</c:v>
                </c:pt>
                <c:pt idx="146">
                  <c:v>1646.8</c:v>
                </c:pt>
                <c:pt idx="147">
                  <c:v>1656.4</c:v>
                </c:pt>
                <c:pt idx="148">
                  <c:v>1633.3</c:v>
                </c:pt>
                <c:pt idx="149">
                  <c:v>1378.7</c:v>
                </c:pt>
                <c:pt idx="150">
                  <c:v>1378.5</c:v>
                </c:pt>
                <c:pt idx="151">
                  <c:v>1468.7</c:v>
                </c:pt>
                <c:pt idx="152">
                  <c:v>1364.4</c:v>
                </c:pt>
                <c:pt idx="153">
                  <c:v>1248.2</c:v>
                </c:pt>
                <c:pt idx="154">
                  <c:v>1231.8</c:v>
                </c:pt>
                <c:pt idx="155">
                  <c:v>1176.5</c:v>
                </c:pt>
                <c:pt idx="156">
                  <c:v>1074</c:v>
                </c:pt>
                <c:pt idx="157">
                  <c:v>1074.5</c:v>
                </c:pt>
                <c:pt idx="158">
                  <c:v>1259.9</c:v>
                </c:pt>
                <c:pt idx="159">
                  <c:v>1172.4</c:v>
                </c:pt>
                <c:pt idx="160">
                  <c:v>1108.6</c:v>
                </c:pt>
                <c:pt idx="161">
                  <c:v>1227.7</c:v>
                </c:pt>
                <c:pt idx="162">
                  <c:v>1140.5</c:v>
                </c:pt>
                <c:pt idx="163">
                  <c:v>1184.3</c:v>
                </c:pt>
                <c:pt idx="164">
                  <c:v>1271.4</c:v>
                </c:pt>
                <c:pt idx="165">
                  <c:v>1317</c:v>
                </c:pt>
                <c:pt idx="166">
                  <c:v>1258.1</c:v>
                </c:pt>
                <c:pt idx="167">
                  <c:v>1154.9</c:v>
                </c:pt>
                <c:pt idx="168">
                  <c:v>1172.1</c:v>
                </c:pt>
                <c:pt idx="169">
                  <c:v>1150.3</c:v>
                </c:pt>
                <c:pt idx="170">
                  <c:v>1057.8</c:v>
                </c:pt>
                <c:pt idx="171">
                  <c:v>840.1</c:v>
                </c:pt>
                <c:pt idx="172">
                  <c:v>876.7</c:v>
                </c:pt>
                <c:pt idx="173">
                  <c:v>846.4</c:v>
                </c:pt>
                <c:pt idx="174">
                  <c:v>881.1</c:v>
                </c:pt>
                <c:pt idx="175">
                  <c:v>870.8</c:v>
                </c:pt>
                <c:pt idx="176">
                  <c:v>589.4</c:v>
                </c:pt>
                <c:pt idx="177">
                  <c:v>609.8</c:v>
                </c:pt>
                <c:pt idx="178">
                  <c:v>572.2</c:v>
                </c:pt>
                <c:pt idx="179">
                  <c:v>625.8</c:v>
                </c:pt>
                <c:pt idx="180">
                  <c:v>594.9</c:v>
                </c:pt>
                <c:pt idx="181">
                  <c:v>669.9</c:v>
                </c:pt>
                <c:pt idx="182">
                  <c:v>689.6</c:v>
                </c:pt>
                <c:pt idx="183">
                  <c:v>654.5</c:v>
                </c:pt>
                <c:pt idx="184">
                  <c:v>692.9</c:v>
                </c:pt>
                <c:pt idx="185">
                  <c:v>671.3</c:v>
                </c:pt>
                <c:pt idx="186">
                  <c:v>624.7</c:v>
                </c:pt>
                <c:pt idx="187">
                  <c:v>582.1</c:v>
                </c:pt>
                <c:pt idx="188">
                  <c:v>559</c:v>
                </c:pt>
                <c:pt idx="189">
                  <c:v>569.8</c:v>
                </c:pt>
                <c:pt idx="190">
                  <c:v>561.4</c:v>
                </c:pt>
                <c:pt idx="191">
                  <c:v>566.1</c:v>
                </c:pt>
                <c:pt idx="192">
                  <c:v>577.1</c:v>
                </c:pt>
                <c:pt idx="193">
                  <c:v>560.6</c:v>
                </c:pt>
                <c:pt idx="194">
                  <c:v>551</c:v>
                </c:pt>
                <c:pt idx="195">
                  <c:v>586.7</c:v>
                </c:pt>
                <c:pt idx="196">
                  <c:v>584.5</c:v>
                </c:pt>
                <c:pt idx="197">
                  <c:v>508.6</c:v>
                </c:pt>
                <c:pt idx="198">
                  <c:v>482.6</c:v>
                </c:pt>
                <c:pt idx="199">
                  <c:v>480.2</c:v>
                </c:pt>
                <c:pt idx="200">
                  <c:v>490.7</c:v>
                </c:pt>
                <c:pt idx="201">
                  <c:v>498.4</c:v>
                </c:pt>
                <c:pt idx="202">
                  <c:v>502.2</c:v>
                </c:pt>
                <c:pt idx="203">
                  <c:v>486.7</c:v>
                </c:pt>
                <c:pt idx="204">
                  <c:v>481.3</c:v>
                </c:pt>
                <c:pt idx="205">
                  <c:v>486.9</c:v>
                </c:pt>
                <c:pt idx="206">
                  <c:v>545.7</c:v>
                </c:pt>
                <c:pt idx="207">
                  <c:v>609.8</c:v>
                </c:pt>
                <c:pt idx="208">
                  <c:v>666.1</c:v>
                </c:pt>
                <c:pt idx="209">
                  <c:v>678.8</c:v>
                </c:pt>
                <c:pt idx="210">
                  <c:v>631</c:v>
                </c:pt>
                <c:pt idx="211">
                  <c:v>683.2</c:v>
                </c:pt>
                <c:pt idx="212">
                  <c:v>692.6</c:v>
                </c:pt>
                <c:pt idx="213">
                  <c:v>678.9</c:v>
                </c:pt>
                <c:pt idx="214">
                  <c:v>588.9</c:v>
                </c:pt>
                <c:pt idx="215">
                  <c:v>724.5</c:v>
                </c:pt>
                <c:pt idx="216">
                  <c:v>819.4</c:v>
                </c:pt>
                <c:pt idx="217">
                  <c:v>810.7</c:v>
                </c:pt>
                <c:pt idx="218">
                  <c:v>811</c:v>
                </c:pt>
                <c:pt idx="219">
                  <c:v>879.1</c:v>
                </c:pt>
                <c:pt idx="220">
                  <c:v>816.9</c:v>
                </c:pt>
                <c:pt idx="221">
                  <c:v>852.4</c:v>
                </c:pt>
                <c:pt idx="222">
                  <c:v>834.3</c:v>
                </c:pt>
                <c:pt idx="223">
                  <c:v>780.9</c:v>
                </c:pt>
                <c:pt idx="224">
                  <c:v>776</c:v>
                </c:pt>
                <c:pt idx="225">
                  <c:v>765.7</c:v>
                </c:pt>
                <c:pt idx="226">
                  <c:v>775.6</c:v>
                </c:pt>
                <c:pt idx="227">
                  <c:v>766.6</c:v>
                </c:pt>
                <c:pt idx="228">
                  <c:v>739.7</c:v>
                </c:pt>
                <c:pt idx="229">
                  <c:v>865.1</c:v>
                </c:pt>
                <c:pt idx="230">
                  <c:v>880.5</c:v>
                </c:pt>
                <c:pt idx="231">
                  <c:v>865</c:v>
                </c:pt>
                <c:pt idx="232">
                  <c:v>910.3</c:v>
                </c:pt>
                <c:pt idx="233">
                  <c:v>861.6</c:v>
                </c:pt>
                <c:pt idx="234">
                  <c:v>844.8</c:v>
                </c:pt>
                <c:pt idx="235">
                  <c:v>843.9</c:v>
                </c:pt>
                <c:pt idx="236">
                  <c:v>851.1</c:v>
                </c:pt>
                <c:pt idx="237">
                  <c:v>771.1</c:v>
                </c:pt>
                <c:pt idx="238">
                  <c:v>756.6</c:v>
                </c:pt>
                <c:pt idx="239">
                  <c:v>749.9</c:v>
                </c:pt>
                <c:pt idx="240">
                  <c:v>758.9</c:v>
                </c:pt>
                <c:pt idx="241">
                  <c:v>767.5</c:v>
                </c:pt>
                <c:pt idx="242">
                  <c:v>768.3</c:v>
                </c:pt>
                <c:pt idx="243">
                  <c:v>781.5</c:v>
                </c:pt>
                <c:pt idx="244">
                  <c:v>792.9</c:v>
                </c:pt>
                <c:pt idx="245">
                  <c:v>773.8</c:v>
                </c:pt>
                <c:pt idx="246">
                  <c:v>830.6</c:v>
                </c:pt>
                <c:pt idx="247">
                  <c:v>987.8</c:v>
                </c:pt>
                <c:pt idx="248">
                  <c:v>1010.4</c:v>
                </c:pt>
                <c:pt idx="249">
                  <c:v>1061.2</c:v>
                </c:pt>
                <c:pt idx="250">
                  <c:v>1045.6</c:v>
                </c:pt>
                <c:pt idx="251">
                  <c:v>1078.4</c:v>
                </c:pt>
                <c:pt idx="252">
                  <c:v>1090.7</c:v>
                </c:pt>
                <c:pt idx="253">
                  <c:v>1252</c:v>
                </c:pt>
                <c:pt idx="254">
                  <c:v>1244.3</c:v>
                </c:pt>
                <c:pt idx="255">
                  <c:v>1268.7</c:v>
                </c:pt>
                <c:pt idx="256">
                  <c:v>1232.8</c:v>
                </c:pt>
                <c:pt idx="257">
                  <c:v>1277.7</c:v>
                </c:pt>
                <c:pt idx="258">
                  <c:v>1341</c:v>
                </c:pt>
                <c:pt idx="259">
                  <c:v>1193.3</c:v>
                </c:pt>
                <c:pt idx="260">
                  <c:v>1154.9</c:v>
                </c:pt>
                <c:pt idx="261">
                  <c:v>1245.8</c:v>
                </c:pt>
                <c:pt idx="262">
                  <c:v>1310.1</c:v>
                </c:pt>
                <c:pt idx="263">
                  <c:v>1502.1</c:v>
                </c:pt>
                <c:pt idx="264">
                  <c:v>1483.7</c:v>
                </c:pt>
                <c:pt idx="265">
                  <c:v>1769.9</c:v>
                </c:pt>
                <c:pt idx="266">
                  <c:v>1935.5</c:v>
                </c:pt>
                <c:pt idx="267">
                  <c:v>2064.8</c:v>
                </c:pt>
                <c:pt idx="268">
                  <c:v>1894</c:v>
                </c:pt>
                <c:pt idx="269">
                  <c:v>2046</c:v>
                </c:pt>
                <c:pt idx="270">
                  <c:v>1981.3</c:v>
                </c:pt>
                <c:pt idx="271">
                  <c:v>2026.2</c:v>
                </c:pt>
                <c:pt idx="272">
                  <c:v>1836.8</c:v>
                </c:pt>
                <c:pt idx="273">
                  <c:v>1864.8</c:v>
                </c:pt>
                <c:pt idx="274">
                  <c:v>1709.9</c:v>
                </c:pt>
                <c:pt idx="275">
                  <c:v>1823.4</c:v>
                </c:pt>
                <c:pt idx="276">
                  <c:v>1886.5</c:v>
                </c:pt>
                <c:pt idx="277">
                  <c:v>1964.5</c:v>
                </c:pt>
                <c:pt idx="278">
                  <c:v>1977.1</c:v>
                </c:pt>
                <c:pt idx="279">
                  <c:v>2046.3</c:v>
                </c:pt>
                <c:pt idx="280">
                  <c:v>1930.6</c:v>
                </c:pt>
                <c:pt idx="281">
                  <c:v>1874.9</c:v>
                </c:pt>
                <c:pt idx="282">
                  <c:v>1781.6</c:v>
                </c:pt>
                <c:pt idx="283">
                  <c:v>1647.8</c:v>
                </c:pt>
                <c:pt idx="284">
                  <c:v>1658.4</c:v>
                </c:pt>
                <c:pt idx="285">
                  <c:v>1850.1</c:v>
                </c:pt>
                <c:pt idx="286">
                  <c:v>1902.3</c:v>
                </c:pt>
                <c:pt idx="287">
                  <c:v>1890.2</c:v>
                </c:pt>
                <c:pt idx="288">
                  <c:v>1784.7</c:v>
                </c:pt>
                <c:pt idx="289">
                  <c:v>1664.6</c:v>
                </c:pt>
                <c:pt idx="290">
                  <c:v>1746.3</c:v>
                </c:pt>
                <c:pt idx="291">
                  <c:v>1717.5</c:v>
                </c:pt>
                <c:pt idx="292">
                  <c:v>1624.2</c:v>
                </c:pt>
                <c:pt idx="293">
                  <c:v>1681</c:v>
                </c:pt>
                <c:pt idx="294">
                  <c:v>1820.2</c:v>
                </c:pt>
                <c:pt idx="295">
                  <c:v>1885</c:v>
                </c:pt>
                <c:pt idx="296">
                  <c:v>1757.2</c:v>
                </c:pt>
                <c:pt idx="297">
                  <c:v>1743.1</c:v>
                </c:pt>
                <c:pt idx="298">
                  <c:v>1949.2</c:v>
                </c:pt>
                <c:pt idx="299">
                  <c:v>1971.2</c:v>
                </c:pt>
                <c:pt idx="300">
                  <c:v>2030.6</c:v>
                </c:pt>
                <c:pt idx="301">
                  <c:v>2195.2</c:v>
                </c:pt>
                <c:pt idx="302">
                  <c:v>2523.3</c:v>
                </c:pt>
                <c:pt idx="303">
                  <c:v>2848.8</c:v>
                </c:pt>
                <c:pt idx="304">
                  <c:v>2766.3</c:v>
                </c:pt>
                <c:pt idx="305">
                  <c:v>2793.5</c:v>
                </c:pt>
                <c:pt idx="306">
                  <c:v>2893.3</c:v>
                </c:pt>
                <c:pt idx="307">
                  <c:v>2819.5</c:v>
                </c:pt>
                <c:pt idx="308">
                  <c:v>2770.4</c:v>
                </c:pt>
                <c:pt idx="309">
                  <c:v>2802</c:v>
                </c:pt>
                <c:pt idx="310">
                  <c:v>2674.7</c:v>
                </c:pt>
                <c:pt idx="311">
                  <c:v>2885</c:v>
                </c:pt>
                <c:pt idx="312">
                  <c:v>3006.5</c:v>
                </c:pt>
                <c:pt idx="313">
                  <c:v>3029</c:v>
                </c:pt>
                <c:pt idx="314">
                  <c:v>2793.5</c:v>
                </c:pt>
                <c:pt idx="315">
                  <c:v>2794.4</c:v>
                </c:pt>
                <c:pt idx="316">
                  <c:v>2843.8</c:v>
                </c:pt>
                <c:pt idx="317">
                  <c:v>2449.7</c:v>
                </c:pt>
                <c:pt idx="318">
                  <c:v>2601.7</c:v>
                </c:pt>
                <c:pt idx="319">
                  <c:v>2344.5</c:v>
                </c:pt>
                <c:pt idx="320">
                  <c:v>2434.1</c:v>
                </c:pt>
                <c:pt idx="321">
                  <c:v>2521.2</c:v>
                </c:pt>
                <c:pt idx="322">
                  <c:v>2403.3</c:v>
                </c:pt>
                <c:pt idx="323">
                  <c:v>2302.8</c:v>
                </c:pt>
                <c:pt idx="324">
                  <c:v>2455.2</c:v>
                </c:pt>
                <c:pt idx="325">
                  <c:v>2716.9</c:v>
                </c:pt>
                <c:pt idx="326">
                  <c:v>2790.6</c:v>
                </c:pt>
                <c:pt idx="327">
                  <c:v>2985.8</c:v>
                </c:pt>
                <c:pt idx="328">
                  <c:v>3000.3</c:v>
                </c:pt>
                <c:pt idx="329">
                  <c:v>3229.6</c:v>
                </c:pt>
                <c:pt idx="330">
                  <c:v>3055.2</c:v>
                </c:pt>
                <c:pt idx="331">
                  <c:v>2937.6</c:v>
                </c:pt>
                <c:pt idx="332">
                  <c:v>3063.5</c:v>
                </c:pt>
                <c:pt idx="333">
                  <c:v>3027.5</c:v>
                </c:pt>
                <c:pt idx="334">
                  <c:v>3093.3</c:v>
                </c:pt>
                <c:pt idx="335">
                  <c:v>3171</c:v>
                </c:pt>
                <c:pt idx="336">
                  <c:v>3354.4</c:v>
                </c:pt>
                <c:pt idx="337">
                  <c:v>3449.9</c:v>
                </c:pt>
                <c:pt idx="338">
                  <c:v>3423.2</c:v>
                </c:pt>
                <c:pt idx="339">
                  <c:v>3347.7</c:v>
                </c:pt>
                <c:pt idx="340">
                  <c:v>3398</c:v>
                </c:pt>
                <c:pt idx="341">
                  <c:v>3423</c:v>
                </c:pt>
                <c:pt idx="342">
                  <c:v>3251.2</c:v>
                </c:pt>
                <c:pt idx="343">
                  <c:v>3254.8</c:v>
                </c:pt>
                <c:pt idx="344">
                  <c:v>3202.1</c:v>
                </c:pt>
                <c:pt idx="345">
                  <c:v>3340.5</c:v>
                </c:pt>
                <c:pt idx="346">
                  <c:v>3387.6</c:v>
                </c:pt>
                <c:pt idx="347">
                  <c:v>3153.7</c:v>
                </c:pt>
                <c:pt idx="348">
                  <c:v>3490.1</c:v>
                </c:pt>
                <c:pt idx="349">
                  <c:v>3519.7</c:v>
                </c:pt>
                <c:pt idx="350">
                  <c:v>3128.8</c:v>
                </c:pt>
                <c:pt idx="351">
                  <c:v>3183.2</c:v>
                </c:pt>
                <c:pt idx="352">
                  <c:v>3132.2</c:v>
                </c:pt>
                <c:pt idx="353">
                  <c:v>2929.7</c:v>
                </c:pt>
                <c:pt idx="354">
                  <c:v>2883.3</c:v>
                </c:pt>
                <c:pt idx="355">
                  <c:v>2505.4</c:v>
                </c:pt>
                <c:pt idx="356">
                  <c:v>2640</c:v>
                </c:pt>
                <c:pt idx="357">
                  <c:v>2664.8</c:v>
                </c:pt>
                <c:pt idx="358">
                  <c:v>2675.4</c:v>
                </c:pt>
                <c:pt idx="359">
                  <c:v>2471.6</c:v>
                </c:pt>
                <c:pt idx="360">
                  <c:v>2522.8</c:v>
                </c:pt>
                <c:pt idx="361">
                  <c:v>2566.1</c:v>
                </c:pt>
                <c:pt idx="362">
                  <c:v>2632.5</c:v>
                </c:pt>
                <c:pt idx="363">
                  <c:v>2763.4</c:v>
                </c:pt>
                <c:pt idx="364">
                  <c:v>2587.3</c:v>
                </c:pt>
                <c:pt idx="365">
                  <c:v>2445.5</c:v>
                </c:pt>
                <c:pt idx="366">
                  <c:v>1813.4</c:v>
                </c:pt>
                <c:pt idx="367">
                  <c:v>1915.1</c:v>
                </c:pt>
                <c:pt idx="368">
                  <c:v>1936.4</c:v>
                </c:pt>
                <c:pt idx="369">
                  <c:v>1950.8</c:v>
                </c:pt>
                <c:pt idx="370">
                  <c:v>2048.7</c:v>
                </c:pt>
                <c:pt idx="371">
                  <c:v>2038.7</c:v>
                </c:pt>
                <c:pt idx="372">
                  <c:v>2021.9</c:v>
                </c:pt>
                <c:pt idx="373">
                  <c:v>1989.5</c:v>
                </c:pt>
                <c:pt idx="374">
                  <c:v>1934.4</c:v>
                </c:pt>
                <c:pt idx="375">
                  <c:v>2075.5</c:v>
                </c:pt>
                <c:pt idx="376">
                  <c:v>2173.4</c:v>
                </c:pt>
                <c:pt idx="377">
                  <c:v>2263.6</c:v>
                </c:pt>
                <c:pt idx="378">
                  <c:v>2206.7</c:v>
                </c:pt>
                <c:pt idx="379">
                  <c:v>2313.9</c:v>
                </c:pt>
                <c:pt idx="380">
                  <c:v>2344</c:v>
                </c:pt>
                <c:pt idx="381">
                  <c:v>2242.4</c:v>
                </c:pt>
                <c:pt idx="382">
                  <c:v>2126.7</c:v>
                </c:pt>
                <c:pt idx="383">
                  <c:v>1845.2</c:v>
                </c:pt>
                <c:pt idx="384">
                  <c:v>1838.2</c:v>
                </c:pt>
                <c:pt idx="385">
                  <c:v>1819</c:v>
                </c:pt>
                <c:pt idx="386">
                  <c:v>1727.2</c:v>
                </c:pt>
                <c:pt idx="387">
                  <c:v>1778.2</c:v>
                </c:pt>
                <c:pt idx="388">
                  <c:v>1827.6</c:v>
                </c:pt>
                <c:pt idx="389">
                  <c:v>1844.8</c:v>
                </c:pt>
                <c:pt idx="390">
                  <c:v>1881.1</c:v>
                </c:pt>
                <c:pt idx="391">
                  <c:v>1871.9</c:v>
                </c:pt>
                <c:pt idx="392">
                  <c:v>1858.5</c:v>
                </c:pt>
                <c:pt idx="393">
                  <c:v>1833.6</c:v>
                </c:pt>
                <c:pt idx="394">
                  <c:v>2112.1</c:v>
                </c:pt>
                <c:pt idx="395">
                  <c:v>2321.1</c:v>
                </c:pt>
                <c:pt idx="396">
                  <c:v>2350.4</c:v>
                </c:pt>
                <c:pt idx="397">
                  <c:v>2214.4</c:v>
                </c:pt>
                <c:pt idx="398">
                  <c:v>2209.6</c:v>
                </c:pt>
                <c:pt idx="399">
                  <c:v>2440.3</c:v>
                </c:pt>
                <c:pt idx="400">
                  <c:v>2454</c:v>
                </c:pt>
              </c:numCache>
            </c:numRef>
          </c:val>
          <c:smooth val="0"/>
        </c:ser>
        <c:ser>
          <c:idx val="1"/>
          <c:order val="1"/>
          <c:tx>
            <c:strRef>
              <c:f>Sheet1!$C$1</c:f>
              <c:strCache>
                <c:ptCount val="1"/>
                <c:pt idx="0">
                  <c:v>ETH</c:v>
                </c:pt>
              </c:strCache>
            </c:strRef>
          </c:tx>
          <c:spPr>
            <a:solidFill>
              <a:srgbClr val="A9C4C0"/>
            </a:solidFill>
            <a:ln w="25400" cap="flat">
              <a:solidFill>
                <a:srgbClr val="A9C4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C4C0"/>
              </a:solidFill>
              <a:ln w="9525" cap="flat">
                <a:solidFill>
                  <a:srgbClr val="A9C4C0"/>
                </a:solidFill>
                <a:prstDash val="solid"/>
                <a:round/>
              </a:ln>
              <a:effectLst/>
            </c:spPr>
          </c:marker>
          <c:cat>
            <c:multiLvlStrRef>
              <c:f>Sheet1!$A$2:$A$402</c:f>
              <c:multiLvlStrCache>
                <c:ptCount val="401"/>
                <c:lvl>
                  <c:pt idx="0">
                    <c:v>2019-01</c:v>
                  </c:pt>
                  <c:pt idx="1">
                    <c:v>2019-02</c:v>
                  </c:pt>
                  <c:pt idx="2">
                    <c:v>2019-02</c:v>
                  </c:pt>
                  <c:pt idx="3">
                    <c:v>2019-02</c:v>
                  </c:pt>
                  <c:pt idx="4">
                    <c:v>2019-02</c:v>
                  </c:pt>
                  <c:pt idx="5">
                    <c:v>2019-03</c:v>
                  </c:pt>
                  <c:pt idx="6">
                    <c:v>2019-03</c:v>
                  </c:pt>
                  <c:pt idx="7">
                    <c:v>2019-03</c:v>
                  </c:pt>
                  <c:pt idx="8">
                    <c:v>2019-03</c:v>
                  </c:pt>
                  <c:pt idx="9">
                    <c:v>2019-04</c:v>
                  </c:pt>
                  <c:pt idx="10">
                    <c:v>2019-04</c:v>
                  </c:pt>
                  <c:pt idx="11">
                    <c:v>2019-04</c:v>
                  </c:pt>
                  <c:pt idx="12">
                    <c:v>2019-04</c:v>
                  </c:pt>
                  <c:pt idx="13">
                    <c:v>2019-05</c:v>
                  </c:pt>
                  <c:pt idx="14">
                    <c:v>2019-05</c:v>
                  </c:pt>
                  <c:pt idx="15">
                    <c:v>2019-05</c:v>
                  </c:pt>
                  <c:pt idx="16">
                    <c:v>2019-05</c:v>
                  </c:pt>
                  <c:pt idx="17">
                    <c:v>2019-05</c:v>
                  </c:pt>
                  <c:pt idx="18">
                    <c:v>2019-06</c:v>
                  </c:pt>
                  <c:pt idx="19">
                    <c:v>2019-06</c:v>
                  </c:pt>
                  <c:pt idx="20">
                    <c:v>2019-06</c:v>
                  </c:pt>
                  <c:pt idx="21">
                    <c:v>2019-06</c:v>
                  </c:pt>
                  <c:pt idx="22">
                    <c:v>2019-07</c:v>
                  </c:pt>
                  <c:pt idx="23">
                    <c:v>2019-07</c:v>
                  </c:pt>
                  <c:pt idx="24">
                    <c:v>2019-07</c:v>
                  </c:pt>
                  <c:pt idx="25">
                    <c:v>2019-07</c:v>
                  </c:pt>
                  <c:pt idx="26">
                    <c:v>2019-08</c:v>
                  </c:pt>
                  <c:pt idx="27">
                    <c:v>2019-08</c:v>
                  </c:pt>
                  <c:pt idx="28">
                    <c:v>2019-08</c:v>
                  </c:pt>
                  <c:pt idx="29">
                    <c:v>2019-08</c:v>
                  </c:pt>
                  <c:pt idx="30">
                    <c:v>2019-08</c:v>
                  </c:pt>
                  <c:pt idx="31">
                    <c:v>2019-09</c:v>
                  </c:pt>
                  <c:pt idx="32">
                    <c:v>2019-09</c:v>
                  </c:pt>
                  <c:pt idx="33">
                    <c:v>2019-09</c:v>
                  </c:pt>
                  <c:pt idx="34">
                    <c:v>2019-09</c:v>
                  </c:pt>
                  <c:pt idx="35">
                    <c:v>2019-10</c:v>
                  </c:pt>
                  <c:pt idx="36">
                    <c:v>2019-10</c:v>
                  </c:pt>
                  <c:pt idx="37">
                    <c:v>2019-10</c:v>
                  </c:pt>
                  <c:pt idx="38">
                    <c:v>2019-10</c:v>
                  </c:pt>
                  <c:pt idx="39">
                    <c:v>2019-10</c:v>
                  </c:pt>
                  <c:pt idx="40">
                    <c:v>2019-11</c:v>
                  </c:pt>
                  <c:pt idx="41">
                    <c:v>2019-11</c:v>
                  </c:pt>
                  <c:pt idx="42">
                    <c:v>2019-11</c:v>
                  </c:pt>
                  <c:pt idx="43">
                    <c:v>2019-11</c:v>
                  </c:pt>
                  <c:pt idx="44">
                    <c:v>2019-12</c:v>
                  </c:pt>
                  <c:pt idx="45">
                    <c:v>2019-12</c:v>
                  </c:pt>
                  <c:pt idx="46">
                    <c:v>2019-12</c:v>
                  </c:pt>
                  <c:pt idx="47">
                    <c:v>2019-12</c:v>
                  </c:pt>
                  <c:pt idx="48">
                    <c:v>2020-01</c:v>
                  </c:pt>
                  <c:pt idx="49">
                    <c:v>2020-01</c:v>
                  </c:pt>
                  <c:pt idx="50">
                    <c:v>2020-01</c:v>
                  </c:pt>
                  <c:pt idx="51">
                    <c:v>2020-01</c:v>
                  </c:pt>
                  <c:pt idx="52">
                    <c:v>2020-01</c:v>
                  </c:pt>
                  <c:pt idx="53">
                    <c:v>2020-02</c:v>
                  </c:pt>
                  <c:pt idx="54">
                    <c:v>2020-02</c:v>
                  </c:pt>
                  <c:pt idx="55">
                    <c:v>2020-02</c:v>
                  </c:pt>
                  <c:pt idx="56">
                    <c:v>2020-02</c:v>
                  </c:pt>
                  <c:pt idx="57">
                    <c:v>2020-03</c:v>
                  </c:pt>
                  <c:pt idx="58">
                    <c:v>2020-03</c:v>
                  </c:pt>
                  <c:pt idx="59">
                    <c:v>2020-03</c:v>
                  </c:pt>
                  <c:pt idx="60">
                    <c:v>2020-03</c:v>
                  </c:pt>
                  <c:pt idx="61">
                    <c:v>2020-04</c:v>
                  </c:pt>
                  <c:pt idx="62">
                    <c:v>2020-04</c:v>
                  </c:pt>
                  <c:pt idx="63">
                    <c:v>2020-04</c:v>
                  </c:pt>
                  <c:pt idx="64">
                    <c:v>2020-04</c:v>
                  </c:pt>
                  <c:pt idx="65">
                    <c:v>2020-04</c:v>
                  </c:pt>
                  <c:pt idx="66">
                    <c:v>2020-05</c:v>
                  </c:pt>
                  <c:pt idx="67">
                    <c:v>2020-05</c:v>
                  </c:pt>
                  <c:pt idx="68">
                    <c:v>2020-05</c:v>
                  </c:pt>
                  <c:pt idx="69">
                    <c:v>2020-05</c:v>
                  </c:pt>
                  <c:pt idx="70">
                    <c:v>2020-06</c:v>
                  </c:pt>
                  <c:pt idx="71">
                    <c:v>2020-06</c:v>
                  </c:pt>
                  <c:pt idx="72">
                    <c:v>2020-06</c:v>
                  </c:pt>
                  <c:pt idx="73">
                    <c:v>2020-06</c:v>
                  </c:pt>
                  <c:pt idx="74">
                    <c:v>2020-07</c:v>
                  </c:pt>
                  <c:pt idx="75">
                    <c:v>2020-07</c:v>
                  </c:pt>
                  <c:pt idx="76">
                    <c:v>2020-07</c:v>
                  </c:pt>
                  <c:pt idx="77">
                    <c:v>2020-07</c:v>
                  </c:pt>
                  <c:pt idx="78">
                    <c:v>2020-07</c:v>
                  </c:pt>
                  <c:pt idx="79">
                    <c:v>2020-08</c:v>
                  </c:pt>
                  <c:pt idx="80">
                    <c:v>2020-08</c:v>
                  </c:pt>
                  <c:pt idx="81">
                    <c:v>2020-08</c:v>
                  </c:pt>
                  <c:pt idx="82">
                    <c:v>2020-08</c:v>
                  </c:pt>
                  <c:pt idx="83">
                    <c:v>2020-09</c:v>
                  </c:pt>
                  <c:pt idx="84">
                    <c:v>2020-09</c:v>
                  </c:pt>
                  <c:pt idx="85">
                    <c:v>2020-09</c:v>
                  </c:pt>
                  <c:pt idx="86">
                    <c:v>2020-09</c:v>
                  </c:pt>
                  <c:pt idx="87">
                    <c:v>2020-10</c:v>
                  </c:pt>
                  <c:pt idx="88">
                    <c:v>2020-10</c:v>
                  </c:pt>
                  <c:pt idx="89">
                    <c:v>2020-10</c:v>
                  </c:pt>
                  <c:pt idx="90">
                    <c:v>2020-10</c:v>
                  </c:pt>
                  <c:pt idx="91">
                    <c:v>2020-10</c:v>
                  </c:pt>
                  <c:pt idx="92">
                    <c:v>2020-11</c:v>
                  </c:pt>
                  <c:pt idx="93">
                    <c:v>2020-11</c:v>
                  </c:pt>
                  <c:pt idx="94">
                    <c:v>2020-11</c:v>
                  </c:pt>
                  <c:pt idx="95">
                    <c:v>2020-11</c:v>
                  </c:pt>
                  <c:pt idx="96">
                    <c:v>2020-12</c:v>
                  </c:pt>
                  <c:pt idx="97">
                    <c:v>2020-12</c:v>
                  </c:pt>
                  <c:pt idx="98">
                    <c:v>2020-12</c:v>
                  </c:pt>
                  <c:pt idx="99">
                    <c:v>2020-12</c:v>
                  </c:pt>
                  <c:pt idx="100">
                    <c:v>2020-12</c:v>
                  </c:pt>
                  <c:pt idx="101">
                    <c:v>2021-01</c:v>
                  </c:pt>
                  <c:pt idx="102">
                    <c:v>2021-01</c:v>
                  </c:pt>
                  <c:pt idx="103">
                    <c:v>2021-01</c:v>
                  </c:pt>
                  <c:pt idx="104">
                    <c:v>2021-01</c:v>
                  </c:pt>
                  <c:pt idx="105">
                    <c:v>2021-02</c:v>
                  </c:pt>
                  <c:pt idx="106">
                    <c:v>2021-02</c:v>
                  </c:pt>
                  <c:pt idx="107">
                    <c:v>2021-02</c:v>
                  </c:pt>
                  <c:pt idx="108">
                    <c:v>2021-02</c:v>
                  </c:pt>
                  <c:pt idx="109">
                    <c:v>2021-03</c:v>
                  </c:pt>
                  <c:pt idx="110">
                    <c:v>2021-03</c:v>
                  </c:pt>
                  <c:pt idx="111">
                    <c:v>2021-03</c:v>
                  </c:pt>
                  <c:pt idx="112">
                    <c:v>2021-03</c:v>
                  </c:pt>
                  <c:pt idx="113">
                    <c:v>2021-04</c:v>
                  </c:pt>
                  <c:pt idx="114">
                    <c:v>2021-04</c:v>
                  </c:pt>
                  <c:pt idx="115">
                    <c:v>2021-04</c:v>
                  </c:pt>
                  <c:pt idx="116">
                    <c:v>2021-04</c:v>
                  </c:pt>
                  <c:pt idx="117">
                    <c:v>2021-04</c:v>
                  </c:pt>
                  <c:pt idx="118">
                    <c:v>2021-05</c:v>
                  </c:pt>
                  <c:pt idx="119">
                    <c:v>2021-05</c:v>
                  </c:pt>
                  <c:pt idx="120">
                    <c:v>2021-05</c:v>
                  </c:pt>
                  <c:pt idx="121">
                    <c:v>2021-05</c:v>
                  </c:pt>
                  <c:pt idx="122">
                    <c:v>2021-06</c:v>
                  </c:pt>
                  <c:pt idx="123">
                    <c:v>2021-06</c:v>
                  </c:pt>
                  <c:pt idx="124">
                    <c:v>2021-06</c:v>
                  </c:pt>
                  <c:pt idx="125">
                    <c:v>2021-06</c:v>
                  </c:pt>
                  <c:pt idx="126">
                    <c:v>2021-07</c:v>
                  </c:pt>
                  <c:pt idx="127">
                    <c:v>2021-07</c:v>
                  </c:pt>
                  <c:pt idx="128">
                    <c:v>2021-07</c:v>
                  </c:pt>
                  <c:pt idx="129">
                    <c:v>2021-07</c:v>
                  </c:pt>
                  <c:pt idx="130">
                    <c:v>2021-07</c:v>
                  </c:pt>
                  <c:pt idx="131">
                    <c:v>2021-08</c:v>
                  </c:pt>
                  <c:pt idx="132">
                    <c:v>2021-08</c:v>
                  </c:pt>
                  <c:pt idx="133">
                    <c:v>2021-08</c:v>
                  </c:pt>
                  <c:pt idx="134">
                    <c:v>2021-08</c:v>
                  </c:pt>
                  <c:pt idx="135">
                    <c:v>2021-09</c:v>
                  </c:pt>
                  <c:pt idx="136">
                    <c:v>2021-09</c:v>
                  </c:pt>
                  <c:pt idx="137">
                    <c:v>2021-09</c:v>
                  </c:pt>
                  <c:pt idx="138">
                    <c:v>2021-09</c:v>
                  </c:pt>
                  <c:pt idx="139">
                    <c:v>2021-09</c:v>
                  </c:pt>
                  <c:pt idx="140">
                    <c:v>2021-10</c:v>
                  </c:pt>
                  <c:pt idx="141">
                    <c:v>2021-10</c:v>
                  </c:pt>
                  <c:pt idx="142">
                    <c:v>2021-10</c:v>
                  </c:pt>
                  <c:pt idx="143">
                    <c:v>2021-10</c:v>
                  </c:pt>
                  <c:pt idx="144">
                    <c:v>2021-11</c:v>
                  </c:pt>
                  <c:pt idx="145">
                    <c:v>2021-11</c:v>
                  </c:pt>
                  <c:pt idx="146">
                    <c:v>2021-11</c:v>
                  </c:pt>
                  <c:pt idx="147">
                    <c:v>2021-11</c:v>
                  </c:pt>
                  <c:pt idx="148">
                    <c:v>2021-12</c:v>
                  </c:pt>
                  <c:pt idx="149">
                    <c:v>2021-12</c:v>
                  </c:pt>
                  <c:pt idx="150">
                    <c:v>2021-12</c:v>
                  </c:pt>
                  <c:pt idx="151">
                    <c:v>2021-12</c:v>
                  </c:pt>
                  <c:pt idx="152">
                    <c:v>2021-12</c:v>
                  </c:pt>
                  <c:pt idx="153">
                    <c:v>2022-01</c:v>
                  </c:pt>
                  <c:pt idx="154">
                    <c:v>2022-01</c:v>
                  </c:pt>
                  <c:pt idx="155">
                    <c:v>2022-01</c:v>
                  </c:pt>
                  <c:pt idx="156">
                    <c:v>2022-01</c:v>
                  </c:pt>
                  <c:pt idx="157">
                    <c:v>2022-02</c:v>
                  </c:pt>
                  <c:pt idx="158">
                    <c:v>2022-02</c:v>
                  </c:pt>
                  <c:pt idx="159">
                    <c:v>2022-02</c:v>
                  </c:pt>
                  <c:pt idx="160">
                    <c:v>2022-02</c:v>
                  </c:pt>
                  <c:pt idx="161">
                    <c:v>2022-03</c:v>
                  </c:pt>
                  <c:pt idx="162">
                    <c:v>2022-03</c:v>
                  </c:pt>
                  <c:pt idx="163">
                    <c:v>2022-03</c:v>
                  </c:pt>
                  <c:pt idx="164">
                    <c:v>2022-03</c:v>
                  </c:pt>
                  <c:pt idx="165">
                    <c:v>2022-03</c:v>
                  </c:pt>
                  <c:pt idx="166">
                    <c:v>2022-04</c:v>
                  </c:pt>
                  <c:pt idx="167">
                    <c:v>2022-04</c:v>
                  </c:pt>
                  <c:pt idx="168">
                    <c:v>2022-04</c:v>
                  </c:pt>
                  <c:pt idx="169">
                    <c:v>2022-04</c:v>
                  </c:pt>
                  <c:pt idx="170">
                    <c:v>2022-05</c:v>
                  </c:pt>
                  <c:pt idx="171">
                    <c:v>2022-05</c:v>
                  </c:pt>
                  <c:pt idx="172">
                    <c:v>2022-05</c:v>
                  </c:pt>
                  <c:pt idx="173">
                    <c:v>2022-05</c:v>
                  </c:pt>
                  <c:pt idx="174">
                    <c:v>2022-06</c:v>
                  </c:pt>
                  <c:pt idx="175">
                    <c:v>2022-06</c:v>
                  </c:pt>
                  <c:pt idx="176">
                    <c:v>2022-06</c:v>
                  </c:pt>
                  <c:pt idx="177">
                    <c:v>2022-06</c:v>
                  </c:pt>
                  <c:pt idx="178">
                    <c:v>2022-06</c:v>
                  </c:pt>
                  <c:pt idx="179">
                    <c:v>2022-07</c:v>
                  </c:pt>
                  <c:pt idx="180">
                    <c:v>2022-07</c:v>
                  </c:pt>
                  <c:pt idx="181">
                    <c:v>2022-07</c:v>
                  </c:pt>
                  <c:pt idx="182">
                    <c:v>2022-07</c:v>
                  </c:pt>
                  <c:pt idx="183">
                    <c:v>2022-08</c:v>
                  </c:pt>
                  <c:pt idx="184">
                    <c:v>2022-08</c:v>
                  </c:pt>
                  <c:pt idx="185">
                    <c:v>2022-08</c:v>
                  </c:pt>
                  <c:pt idx="186">
                    <c:v>2022-08</c:v>
                  </c:pt>
                  <c:pt idx="187">
                    <c:v>2022-09</c:v>
                  </c:pt>
                  <c:pt idx="188">
                    <c:v>2022-09</c:v>
                  </c:pt>
                  <c:pt idx="189">
                    <c:v>2022-09</c:v>
                  </c:pt>
                  <c:pt idx="190">
                    <c:v>2022-09</c:v>
                  </c:pt>
                  <c:pt idx="191">
                    <c:v>2022-09</c:v>
                  </c:pt>
                  <c:pt idx="192">
                    <c:v>2022-10</c:v>
                  </c:pt>
                  <c:pt idx="193">
                    <c:v>2022-10</c:v>
                  </c:pt>
                  <c:pt idx="194">
                    <c:v>2022-10</c:v>
                  </c:pt>
                  <c:pt idx="195">
                    <c:v>2022-10</c:v>
                  </c:pt>
                  <c:pt idx="196">
                    <c:v>2022-11</c:v>
                  </c:pt>
                  <c:pt idx="197">
                    <c:v>2022-11</c:v>
                  </c:pt>
                  <c:pt idx="198">
                    <c:v>2022-11</c:v>
                  </c:pt>
                  <c:pt idx="199">
                    <c:v>2022-11</c:v>
                  </c:pt>
                  <c:pt idx="200">
                    <c:v>2022-12</c:v>
                  </c:pt>
                  <c:pt idx="201">
                    <c:v>2022-12</c:v>
                  </c:pt>
                  <c:pt idx="202">
                    <c:v>2022-12</c:v>
                  </c:pt>
                  <c:pt idx="203">
                    <c:v>2022-12</c:v>
                  </c:pt>
                  <c:pt idx="204">
                    <c:v>2022-12</c:v>
                  </c:pt>
                  <c:pt idx="205">
                    <c:v>2023-01</c:v>
                  </c:pt>
                  <c:pt idx="206">
                    <c:v>2023-01</c:v>
                  </c:pt>
                  <c:pt idx="207">
                    <c:v>2023-01</c:v>
                  </c:pt>
                  <c:pt idx="208">
                    <c:v>2023-01</c:v>
                  </c:pt>
                  <c:pt idx="209">
                    <c:v>2023-02</c:v>
                  </c:pt>
                  <c:pt idx="210">
                    <c:v>2023-02</c:v>
                  </c:pt>
                  <c:pt idx="211">
                    <c:v>2023-02</c:v>
                  </c:pt>
                  <c:pt idx="212">
                    <c:v>2023-02</c:v>
                  </c:pt>
                  <c:pt idx="213">
                    <c:v>2023-03</c:v>
                  </c:pt>
                  <c:pt idx="214">
                    <c:v>2023-03</c:v>
                  </c:pt>
                  <c:pt idx="215">
                    <c:v>2023-03</c:v>
                  </c:pt>
                  <c:pt idx="216">
                    <c:v>2023-03</c:v>
                  </c:pt>
                  <c:pt idx="217">
                    <c:v>2023-03</c:v>
                  </c:pt>
                  <c:pt idx="218">
                    <c:v>2023-04</c:v>
                  </c:pt>
                  <c:pt idx="219">
                    <c:v>2023-04</c:v>
                  </c:pt>
                  <c:pt idx="220">
                    <c:v>2023-04</c:v>
                  </c:pt>
                  <c:pt idx="221">
                    <c:v>2023-04</c:v>
                  </c:pt>
                  <c:pt idx="222">
                    <c:v>2023-05</c:v>
                  </c:pt>
                  <c:pt idx="223">
                    <c:v>2023-05</c:v>
                  </c:pt>
                  <c:pt idx="224">
                    <c:v>2023-05</c:v>
                  </c:pt>
                  <c:pt idx="225">
                    <c:v>2023-05</c:v>
                  </c:pt>
                  <c:pt idx="226">
                    <c:v>2023-06</c:v>
                  </c:pt>
                  <c:pt idx="227">
                    <c:v>2023-06</c:v>
                  </c:pt>
                  <c:pt idx="228">
                    <c:v>2023-06</c:v>
                  </c:pt>
                  <c:pt idx="229">
                    <c:v>2023-06</c:v>
                  </c:pt>
                  <c:pt idx="230">
                    <c:v>2023-06</c:v>
                  </c:pt>
                  <c:pt idx="231">
                    <c:v>2023-07</c:v>
                  </c:pt>
                  <c:pt idx="232">
                    <c:v>2023-07</c:v>
                  </c:pt>
                  <c:pt idx="233">
                    <c:v>2023-07</c:v>
                  </c:pt>
                  <c:pt idx="234">
                    <c:v>2023-07</c:v>
                  </c:pt>
                  <c:pt idx="235">
                    <c:v>2023-08</c:v>
                  </c:pt>
                  <c:pt idx="236">
                    <c:v>2023-08</c:v>
                  </c:pt>
                  <c:pt idx="237">
                    <c:v>2023-08</c:v>
                  </c:pt>
                  <c:pt idx="238">
                    <c:v>2023-08</c:v>
                  </c:pt>
                  <c:pt idx="239">
                    <c:v>2023-08</c:v>
                  </c:pt>
                  <c:pt idx="240">
                    <c:v>2023-09</c:v>
                  </c:pt>
                  <c:pt idx="241">
                    <c:v>2023-09</c:v>
                  </c:pt>
                  <c:pt idx="242">
                    <c:v>2023-09</c:v>
                  </c:pt>
                  <c:pt idx="243">
                    <c:v>2023-09</c:v>
                  </c:pt>
                  <c:pt idx="244">
                    <c:v>2023-10</c:v>
                  </c:pt>
                  <c:pt idx="245">
                    <c:v>2023-10</c:v>
                  </c:pt>
                  <c:pt idx="246">
                    <c:v>2023-10</c:v>
                  </c:pt>
                  <c:pt idx="247">
                    <c:v>2023-10</c:v>
                  </c:pt>
                  <c:pt idx="248">
                    <c:v>2023-11</c:v>
                  </c:pt>
                  <c:pt idx="249">
                    <c:v>2023-11</c:v>
                  </c:pt>
                  <c:pt idx="250">
                    <c:v>2023-11</c:v>
                  </c:pt>
                  <c:pt idx="251">
                    <c:v>2023-11</c:v>
                  </c:pt>
                  <c:pt idx="252">
                    <c:v>2023-11</c:v>
                  </c:pt>
                  <c:pt idx="253">
                    <c:v>2023-12</c:v>
                  </c:pt>
                  <c:pt idx="254">
                    <c:v>2023-12</c:v>
                  </c:pt>
                  <c:pt idx="255">
                    <c:v>2023-12</c:v>
                  </c:pt>
                  <c:pt idx="256">
                    <c:v>2023-12</c:v>
                  </c:pt>
                  <c:pt idx="257">
                    <c:v>2024-01</c:v>
                  </c:pt>
                  <c:pt idx="258">
                    <c:v>2024-01</c:v>
                  </c:pt>
                  <c:pt idx="259">
                    <c:v>2024-01</c:v>
                  </c:pt>
                  <c:pt idx="260">
                    <c:v>2024-01</c:v>
                  </c:pt>
                  <c:pt idx="261">
                    <c:v>2024-02</c:v>
                  </c:pt>
                  <c:pt idx="262">
                    <c:v>2024-02</c:v>
                  </c:pt>
                  <c:pt idx="263">
                    <c:v>2024-02</c:v>
                  </c:pt>
                  <c:pt idx="264">
                    <c:v>2024-02</c:v>
                  </c:pt>
                  <c:pt idx="265">
                    <c:v>2024-02</c:v>
                  </c:pt>
                  <c:pt idx="266">
                    <c:v>2024-03</c:v>
                  </c:pt>
                  <c:pt idx="267">
                    <c:v>2024-03</c:v>
                  </c:pt>
                  <c:pt idx="268">
                    <c:v>2024-03</c:v>
                  </c:pt>
                  <c:pt idx="269">
                    <c:v>2024-03</c:v>
                  </c:pt>
                  <c:pt idx="270">
                    <c:v>2024-04</c:v>
                  </c:pt>
                  <c:pt idx="271">
                    <c:v>2024-04</c:v>
                  </c:pt>
                  <c:pt idx="272">
                    <c:v>2024-04</c:v>
                  </c:pt>
                  <c:pt idx="273">
                    <c:v>2024-04</c:v>
                  </c:pt>
                  <c:pt idx="274">
                    <c:v>2024-05</c:v>
                  </c:pt>
                  <c:pt idx="275">
                    <c:v>2024-05</c:v>
                  </c:pt>
                  <c:pt idx="276">
                    <c:v>2024-05</c:v>
                  </c:pt>
                  <c:pt idx="277">
                    <c:v>2024-05</c:v>
                  </c:pt>
                  <c:pt idx="278">
                    <c:v>2024-05</c:v>
                  </c:pt>
                  <c:pt idx="279">
                    <c:v>2024-06</c:v>
                  </c:pt>
                  <c:pt idx="280">
                    <c:v>2024-06</c:v>
                  </c:pt>
                  <c:pt idx="281">
                    <c:v>2024-06</c:v>
                  </c:pt>
                  <c:pt idx="282">
                    <c:v>2024-06</c:v>
                  </c:pt>
                  <c:pt idx="283">
                    <c:v>2024-07</c:v>
                  </c:pt>
                  <c:pt idx="284">
                    <c:v>2024-07</c:v>
                  </c:pt>
                  <c:pt idx="285">
                    <c:v>2024-07</c:v>
                  </c:pt>
                  <c:pt idx="286">
                    <c:v>2024-07</c:v>
                  </c:pt>
                  <c:pt idx="287">
                    <c:v>2024-08</c:v>
                  </c:pt>
                  <c:pt idx="288">
                    <c:v>2024-08</c:v>
                  </c:pt>
                  <c:pt idx="289">
                    <c:v>2024-08</c:v>
                  </c:pt>
                  <c:pt idx="290">
                    <c:v>2024-08</c:v>
                  </c:pt>
                  <c:pt idx="291">
                    <c:v>2024-08</c:v>
                  </c:pt>
                  <c:pt idx="292">
                    <c:v>2024-09</c:v>
                  </c:pt>
                  <c:pt idx="293">
                    <c:v>2024-09</c:v>
                  </c:pt>
                  <c:pt idx="294">
                    <c:v>2024-09</c:v>
                  </c:pt>
                  <c:pt idx="295">
                    <c:v>2024-09</c:v>
                  </c:pt>
                  <c:pt idx="296">
                    <c:v>2024-10</c:v>
                  </c:pt>
                  <c:pt idx="297">
                    <c:v>2024-10</c:v>
                  </c:pt>
                  <c:pt idx="298">
                    <c:v>2024-10</c:v>
                  </c:pt>
                  <c:pt idx="299">
                    <c:v>2024-10</c:v>
                  </c:pt>
                  <c:pt idx="300">
                    <c:v>2024-10</c:v>
                  </c:pt>
                  <c:pt idx="301">
                    <c:v>2024-11</c:v>
                  </c:pt>
                  <c:pt idx="302">
                    <c:v>2024-11</c:v>
                  </c:pt>
                  <c:pt idx="303">
                    <c:v>2024-11</c:v>
                  </c:pt>
                  <c:pt idx="304">
                    <c:v>2024-11</c:v>
                  </c:pt>
                  <c:pt idx="305">
                    <c:v>2024-12</c:v>
                  </c:pt>
                  <c:pt idx="306">
                    <c:v>2024-12</c:v>
                  </c:pt>
                  <c:pt idx="307">
                    <c:v>2024-12</c:v>
                  </c:pt>
                  <c:pt idx="308">
                    <c:v>2024-12</c:v>
                  </c:pt>
                  <c:pt idx="309">
                    <c:v>2025-01</c:v>
                  </c:pt>
                  <c:pt idx="310">
                    <c:v>2025-01</c:v>
                  </c:pt>
                  <c:pt idx="311">
                    <c:v>2025-01</c:v>
                  </c:pt>
                  <c:pt idx="312">
                    <c:v>2025-01</c:v>
                  </c:pt>
                  <c:pt idx="313">
                    <c:v>2025-01</c:v>
                  </c:pt>
                  <c:pt idx="314">
                    <c:v>2025-02</c:v>
                  </c:pt>
                  <c:pt idx="315">
                    <c:v>2025-02</c:v>
                  </c:pt>
                  <c:pt idx="316">
                    <c:v>2025-02</c:v>
                  </c:pt>
                  <c:pt idx="317">
                    <c:v>2025-02</c:v>
                  </c:pt>
                  <c:pt idx="318">
                    <c:v>2025-03</c:v>
                  </c:pt>
                  <c:pt idx="319">
                    <c:v>2025-03</c:v>
                  </c:pt>
                  <c:pt idx="320">
                    <c:v>2025-03</c:v>
                  </c:pt>
                  <c:pt idx="321">
                    <c:v>2025-03</c:v>
                  </c:pt>
                  <c:pt idx="322">
                    <c:v>2025-04</c:v>
                  </c:pt>
                  <c:pt idx="323">
                    <c:v>2025-04</c:v>
                  </c:pt>
                  <c:pt idx="324">
                    <c:v>2025-04</c:v>
                  </c:pt>
                  <c:pt idx="325">
                    <c:v>2025-04</c:v>
                  </c:pt>
                  <c:pt idx="326">
                    <c:v>2025-05</c:v>
                  </c:pt>
                  <c:pt idx="327">
                    <c:v>2025-05</c:v>
                  </c:pt>
                  <c:pt idx="328">
                    <c:v>2025-05</c:v>
                  </c:pt>
                  <c:pt idx="329">
                    <c:v>2025-05</c:v>
                  </c:pt>
                  <c:pt idx="330">
                    <c:v>2025-05</c:v>
                  </c:pt>
                  <c:pt idx="331">
                    <c:v>2025-06</c:v>
                  </c:pt>
                  <c:pt idx="332">
                    <c:v>2025-06</c:v>
                  </c:pt>
                  <c:pt idx="333">
                    <c:v>2025-06</c:v>
                  </c:pt>
                  <c:pt idx="334">
                    <c:v>2025-06</c:v>
                  </c:pt>
                  <c:pt idx="335">
                    <c:v>2025-07</c:v>
                  </c:pt>
                  <c:pt idx="336">
                    <c:v>2025-07</c:v>
                  </c:pt>
                  <c:pt idx="337">
                    <c:v>2025-07</c:v>
                  </c:pt>
                  <c:pt idx="338">
                    <c:v>2025-07</c:v>
                  </c:pt>
                  <c:pt idx="339">
                    <c:v>2025-07</c:v>
                  </c:pt>
                  <c:pt idx="340">
                    <c:v>2025-08</c:v>
                  </c:pt>
                  <c:pt idx="341">
                    <c:v>2025-08</c:v>
                  </c:pt>
                  <c:pt idx="342">
                    <c:v>2025-08</c:v>
                  </c:pt>
                  <c:pt idx="343">
                    <c:v>2025-08</c:v>
                  </c:pt>
                  <c:pt idx="344">
                    <c:v>2025-09</c:v>
                  </c:pt>
                  <c:pt idx="345">
                    <c:v>2025-09</c:v>
                  </c:pt>
                  <c:pt idx="346">
                    <c:v>2025-09</c:v>
                  </c:pt>
                  <c:pt idx="347">
                    <c:v>2025-09</c:v>
                  </c:pt>
                  <c:pt idx="348">
                    <c:v>2025-10</c:v>
                  </c:pt>
                  <c:pt idx="349">
                    <c:v>2025-10</c:v>
                  </c:pt>
                  <c:pt idx="350">
                    <c:v>2025-10</c:v>
                  </c:pt>
                  <c:pt idx="351">
                    <c:v>2025-10</c:v>
                  </c:pt>
                  <c:pt idx="352">
                    <c:v>2025-10</c:v>
                  </c:pt>
                  <c:pt idx="353">
                    <c:v>2025-11</c:v>
                  </c:pt>
                  <c:pt idx="354">
                    <c:v>2025-11</c:v>
                  </c:pt>
                  <c:pt idx="355">
                    <c:v>2025-11</c:v>
                  </c:pt>
                  <c:pt idx="356">
                    <c:v>2025-11</c:v>
                  </c:pt>
                  <c:pt idx="357">
                    <c:v>2025-12</c:v>
                  </c:pt>
                  <c:pt idx="358">
                    <c:v>2025-12</c:v>
                  </c:pt>
                  <c:pt idx="359">
                    <c:v>2025-12</c:v>
                  </c:pt>
                  <c:pt idx="360">
                    <c:v>2025-12</c:v>
                  </c:pt>
                  <c:pt idx="361">
                    <c:v>2026-01</c:v>
                  </c:pt>
                  <c:pt idx="362">
                    <c:v>2026-01</c:v>
                  </c:pt>
                  <c:pt idx="363">
                    <c:v>2026-01</c:v>
                  </c:pt>
                  <c:pt idx="364">
                    <c:v>2026-01</c:v>
                  </c:pt>
                  <c:pt idx="365">
                    <c:v>2026-01</c:v>
                  </c:pt>
                  <c:pt idx="366">
                    <c:v>2026-02</c:v>
                  </c:pt>
                  <c:pt idx="367">
                    <c:v>2026-02</c:v>
                  </c:pt>
                  <c:pt idx="368">
                    <c:v>2026-02</c:v>
                  </c:pt>
                  <c:pt idx="369">
                    <c:v>2026-02</c:v>
                  </c:pt>
                  <c:pt idx="370">
                    <c:v>2026-03</c:v>
                  </c:pt>
                  <c:pt idx="371">
                    <c:v>2026-03</c:v>
                  </c:pt>
                  <c:pt idx="372">
                    <c:v>2026-03</c:v>
                  </c:pt>
                  <c:pt idx="373">
                    <c:v>2026-03</c:v>
                  </c:pt>
                  <c:pt idx="374">
                    <c:v>2026-04</c:v>
                  </c:pt>
                  <c:pt idx="375">
                    <c:v>2026-04</c:v>
                  </c:pt>
                  <c:pt idx="376">
                    <c:v>2026-04</c:v>
                  </c:pt>
                  <c:pt idx="377">
                    <c:v>2026-04</c:v>
                  </c:pt>
                  <c:pt idx="378">
                    <c:v>2026-04</c:v>
                  </c:pt>
                  <c:pt idx="379">
                    <c:v>2026-05</c:v>
                  </c:pt>
                  <c:pt idx="380">
                    <c:v>2026-05</c:v>
                  </c:pt>
                  <c:pt idx="381">
                    <c:v>2026-05</c:v>
                  </c:pt>
                  <c:pt idx="382">
                    <c:v>2026-05</c:v>
                  </c:pt>
                  <c:pt idx="383">
                    <c:v>2026-06</c:v>
                  </c:pt>
                  <c:pt idx="384">
                    <c:v>2026-06</c:v>
                  </c:pt>
                  <c:pt idx="385">
                    <c:v>2026-06</c:v>
                  </c:pt>
                  <c:pt idx="386">
                    <c:v>2026-06</c:v>
                  </c:pt>
                  <c:pt idx="387">
                    <c:v>2026-07</c:v>
                  </c:pt>
                  <c:pt idx="388">
                    <c:v>2026-07</c:v>
                  </c:pt>
                  <c:pt idx="389">
                    <c:v>2026-07</c:v>
                  </c:pt>
                  <c:pt idx="390">
                    <c:v>2026-07</c:v>
                  </c:pt>
                  <c:pt idx="391">
                    <c:v>2026-07</c:v>
                  </c:pt>
                  <c:pt idx="392">
                    <c:v>2026-08</c:v>
                  </c:pt>
                  <c:pt idx="393">
                    <c:v>2026-08</c:v>
                  </c:pt>
                  <c:pt idx="394">
                    <c:v>2026-08</c:v>
                  </c:pt>
                  <c:pt idx="395">
                    <c:v>2026-08</c:v>
                  </c:pt>
                  <c:pt idx="396">
                    <c:v>2026-09</c:v>
                  </c:pt>
                  <c:pt idx="397">
                    <c:v>2026-09</c:v>
                  </c:pt>
                  <c:pt idx="398">
                    <c:v>2026-09</c:v>
                  </c:pt>
                  <c:pt idx="399">
                    <c:v>2026-09</c:v>
                  </c:pt>
                  <c:pt idx="400">
                    <c:v>2026-10</c:v>
                  </c:pt>
                </c:lvl>
              </c:multiLvlStrCache>
            </c:multiLvlStrRef>
          </c:cat>
          <c:val>
            <c:numRef>
              <c:f>Sheet1!$C$2:$C$402</c:f>
              <c:numCache>
                <c:formatCode>General</c:formatCode>
                <c:ptCount val="401"/>
                <c:pt idx="0">
                  <c:v>100</c:v>
                </c:pt>
                <c:pt idx="1">
                  <c:v>97.6</c:v>
                </c:pt>
                <c:pt idx="2">
                  <c:v>113.4</c:v>
                </c:pt>
                <c:pt idx="3">
                  <c:v>136.5</c:v>
                </c:pt>
                <c:pt idx="4">
                  <c:v>127.7</c:v>
                </c:pt>
                <c:pt idx="5">
                  <c:v>128.9</c:v>
                </c:pt>
                <c:pt idx="6">
                  <c:v>124.9</c:v>
                </c:pt>
                <c:pt idx="7">
                  <c:v>127.6</c:v>
                </c:pt>
                <c:pt idx="8">
                  <c:v>130.2</c:v>
                </c:pt>
                <c:pt idx="9">
                  <c:v>147.6</c:v>
                </c:pt>
                <c:pt idx="10">
                  <c:v>154.6</c:v>
                </c:pt>
                <c:pt idx="11">
                  <c:v>162.4</c:v>
                </c:pt>
                <c:pt idx="12">
                  <c:v>144.3</c:v>
                </c:pt>
                <c:pt idx="13">
                  <c:v>151.4</c:v>
                </c:pt>
                <c:pt idx="14">
                  <c:v>159.1</c:v>
                </c:pt>
                <c:pt idx="15">
                  <c:v>246.6</c:v>
                </c:pt>
                <c:pt idx="16">
                  <c:v>229.7</c:v>
                </c:pt>
                <c:pt idx="17">
                  <c:v>239</c:v>
                </c:pt>
                <c:pt idx="18">
                  <c:v>233</c:v>
                </c:pt>
                <c:pt idx="19">
                  <c:v>239.3</c:v>
                </c:pt>
                <c:pt idx="20">
                  <c:v>253.8</c:v>
                </c:pt>
                <c:pt idx="21">
                  <c:v>274.9</c:v>
                </c:pt>
                <c:pt idx="22">
                  <c:v>265.8</c:v>
                </c:pt>
                <c:pt idx="23">
                  <c:v>251</c:v>
                </c:pt>
                <c:pt idx="24">
                  <c:v>211.6</c:v>
                </c:pt>
                <c:pt idx="25">
                  <c:v>205.1</c:v>
                </c:pt>
                <c:pt idx="26">
                  <c:v>203.4</c:v>
                </c:pt>
                <c:pt idx="27">
                  <c:v>206.4</c:v>
                </c:pt>
                <c:pt idx="28">
                  <c:v>176.1</c:v>
                </c:pt>
                <c:pt idx="29">
                  <c:v>178.7</c:v>
                </c:pt>
                <c:pt idx="30">
                  <c:v>158.3</c:v>
                </c:pt>
                <c:pt idx="31">
                  <c:v>162.7</c:v>
                </c:pt>
                <c:pt idx="32">
                  <c:v>169.1</c:v>
                </c:pt>
                <c:pt idx="33">
                  <c:v>206.7</c:v>
                </c:pt>
                <c:pt idx="34">
                  <c:v>155.7</c:v>
                </c:pt>
                <c:pt idx="35">
                  <c:v>163.6</c:v>
                </c:pt>
                <c:pt idx="36">
                  <c:v>179</c:v>
                </c:pt>
                <c:pt idx="37">
                  <c:v>166.3</c:v>
                </c:pt>
                <c:pt idx="38">
                  <c:v>151.5</c:v>
                </c:pt>
                <c:pt idx="39">
                  <c:v>171.8</c:v>
                </c:pt>
                <c:pt idx="40">
                  <c:v>175.6</c:v>
                </c:pt>
                <c:pt idx="41">
                  <c:v>173.7</c:v>
                </c:pt>
                <c:pt idx="42">
                  <c:v>150.8</c:v>
                </c:pt>
                <c:pt idx="43">
                  <c:v>141.7</c:v>
                </c:pt>
                <c:pt idx="44">
                  <c:v>139.4</c:v>
                </c:pt>
                <c:pt idx="45">
                  <c:v>136</c:v>
                </c:pt>
                <c:pt idx="46">
                  <c:v>120.8</c:v>
                </c:pt>
                <c:pt idx="47">
                  <c:v>118</c:v>
                </c:pt>
                <c:pt idx="48">
                  <c:v>119</c:v>
                </c:pt>
                <c:pt idx="49">
                  <c:v>129.8</c:v>
                </c:pt>
                <c:pt idx="50">
                  <c:v>153.5</c:v>
                </c:pt>
                <c:pt idx="51">
                  <c:v>152.2</c:v>
                </c:pt>
                <c:pt idx="52">
                  <c:v>172.5</c:v>
                </c:pt>
                <c:pt idx="53">
                  <c:v>198.3</c:v>
                </c:pt>
                <c:pt idx="54">
                  <c:v>250.4</c:v>
                </c:pt>
                <c:pt idx="55">
                  <c:v>240.9</c:v>
                </c:pt>
                <c:pt idx="56">
                  <c:v>211.8</c:v>
                </c:pt>
                <c:pt idx="57">
                  <c:v>214.1</c:v>
                </c:pt>
                <c:pt idx="58">
                  <c:v>104.9</c:v>
                </c:pt>
                <c:pt idx="59">
                  <c:v>127.6</c:v>
                </c:pt>
                <c:pt idx="60">
                  <c:v>129.2</c:v>
                </c:pt>
                <c:pt idx="61">
                  <c:v>132.7</c:v>
                </c:pt>
                <c:pt idx="62">
                  <c:v>159.5</c:v>
                </c:pt>
                <c:pt idx="63">
                  <c:v>160.8</c:v>
                </c:pt>
                <c:pt idx="64">
                  <c:v>172.8</c:v>
                </c:pt>
                <c:pt idx="65">
                  <c:v>193.9</c:v>
                </c:pt>
                <c:pt idx="66">
                  <c:v>198.3</c:v>
                </c:pt>
                <c:pt idx="67">
                  <c:v>189.6</c:v>
                </c:pt>
                <c:pt idx="68">
                  <c:v>186.7</c:v>
                </c:pt>
                <c:pt idx="69">
                  <c:v>205.3</c:v>
                </c:pt>
                <c:pt idx="70">
                  <c:v>228.3</c:v>
                </c:pt>
                <c:pt idx="71">
                  <c:v>216.4</c:v>
                </c:pt>
                <c:pt idx="72">
                  <c:v>216.8</c:v>
                </c:pt>
                <c:pt idx="73">
                  <c:v>217.6</c:v>
                </c:pt>
                <c:pt idx="74">
                  <c:v>214.3</c:v>
                </c:pt>
                <c:pt idx="75">
                  <c:v>227</c:v>
                </c:pt>
                <c:pt idx="76">
                  <c:v>218.2</c:v>
                </c:pt>
                <c:pt idx="77">
                  <c:v>256.6</c:v>
                </c:pt>
                <c:pt idx="78">
                  <c:v>312.5</c:v>
                </c:pt>
                <c:pt idx="79">
                  <c:v>368.9</c:v>
                </c:pt>
                <c:pt idx="80">
                  <c:v>400.5</c:v>
                </c:pt>
                <c:pt idx="81">
                  <c:v>389</c:v>
                </c:pt>
                <c:pt idx="82">
                  <c:v>357.4</c:v>
                </c:pt>
                <c:pt idx="83">
                  <c:v>360.2</c:v>
                </c:pt>
                <c:pt idx="84">
                  <c:v>343.8</c:v>
                </c:pt>
                <c:pt idx="85">
                  <c:v>363.4</c:v>
                </c:pt>
                <c:pt idx="86">
                  <c:v>326.3</c:v>
                </c:pt>
                <c:pt idx="87">
                  <c:v>329.9</c:v>
                </c:pt>
                <c:pt idx="88">
                  <c:v>327.6</c:v>
                </c:pt>
                <c:pt idx="89">
                  <c:v>352.5</c:v>
                </c:pt>
                <c:pt idx="90">
                  <c:v>386.5</c:v>
                </c:pt>
                <c:pt idx="91">
                  <c:v>361.2</c:v>
                </c:pt>
                <c:pt idx="92">
                  <c:v>386.8</c:v>
                </c:pt>
                <c:pt idx="93">
                  <c:v>430.6</c:v>
                </c:pt>
                <c:pt idx="94">
                  <c:v>440.5</c:v>
                </c:pt>
                <c:pt idx="95">
                  <c:v>484.6</c:v>
                </c:pt>
                <c:pt idx="96">
                  <c:v>576</c:v>
                </c:pt>
                <c:pt idx="97">
                  <c:v>522.8</c:v>
                </c:pt>
                <c:pt idx="98">
                  <c:v>600.5</c:v>
                </c:pt>
                <c:pt idx="99">
                  <c:v>571.3</c:v>
                </c:pt>
                <c:pt idx="100">
                  <c:v>689.1</c:v>
                </c:pt>
                <c:pt idx="101">
                  <c:v>1144.8</c:v>
                </c:pt>
                <c:pt idx="102">
                  <c:v>1138.1</c:v>
                </c:pt>
                <c:pt idx="103">
                  <c:v>1047.6</c:v>
                </c:pt>
                <c:pt idx="104">
                  <c:v>1244.6</c:v>
                </c:pt>
                <c:pt idx="105">
                  <c:v>1489.6</c:v>
                </c:pt>
                <c:pt idx="106">
                  <c:v>1666.2</c:v>
                </c:pt>
                <c:pt idx="107">
                  <c:v>1809.7</c:v>
                </c:pt>
                <c:pt idx="108">
                  <c:v>1378.4</c:v>
                </c:pt>
                <c:pt idx="109">
                  <c:v>1440.2</c:v>
                </c:pt>
                <c:pt idx="110">
                  <c:v>1705.8</c:v>
                </c:pt>
                <c:pt idx="111">
                  <c:v>1665.3</c:v>
                </c:pt>
                <c:pt idx="112">
                  <c:v>1490.1</c:v>
                </c:pt>
                <c:pt idx="113">
                  <c:v>1846.9</c:v>
                </c:pt>
                <c:pt idx="114">
                  <c:v>1950.8</c:v>
                </c:pt>
                <c:pt idx="115">
                  <c:v>2353</c:v>
                </c:pt>
                <c:pt idx="116">
                  <c:v>2245</c:v>
                </c:pt>
                <c:pt idx="117">
                  <c:v>2575.1</c:v>
                </c:pt>
                <c:pt idx="118">
                  <c:v>3260.6</c:v>
                </c:pt>
                <c:pt idx="119">
                  <c:v>3470.1</c:v>
                </c:pt>
                <c:pt idx="120">
                  <c:v>2600.7</c:v>
                </c:pt>
                <c:pt idx="121">
                  <c:v>2556</c:v>
                </c:pt>
                <c:pt idx="122">
                  <c:v>2666.8</c:v>
                </c:pt>
                <c:pt idx="123">
                  <c:v>2308.5</c:v>
                </c:pt>
                <c:pt idx="124">
                  <c:v>2215.6</c:v>
                </c:pt>
                <c:pt idx="125">
                  <c:v>1857.3</c:v>
                </c:pt>
                <c:pt idx="126">
                  <c:v>1974.2</c:v>
                </c:pt>
                <c:pt idx="127">
                  <c:v>1980.2</c:v>
                </c:pt>
                <c:pt idx="128">
                  <c:v>1785.1</c:v>
                </c:pt>
                <c:pt idx="129">
                  <c:v>1891.6</c:v>
                </c:pt>
                <c:pt idx="130">
                  <c:v>2223.9</c:v>
                </c:pt>
                <c:pt idx="131">
                  <c:v>2640.9</c:v>
                </c:pt>
                <c:pt idx="132">
                  <c:v>2842.7</c:v>
                </c:pt>
                <c:pt idx="133">
                  <c:v>2972.8</c:v>
                </c:pt>
                <c:pt idx="134">
                  <c:v>2895.8</c:v>
                </c:pt>
                <c:pt idx="135">
                  <c:v>3541</c:v>
                </c:pt>
                <c:pt idx="136">
                  <c:v>3201.3</c:v>
                </c:pt>
                <c:pt idx="137">
                  <c:v>3335.8</c:v>
                </c:pt>
                <c:pt idx="138">
                  <c:v>2947.4</c:v>
                </c:pt>
                <c:pt idx="139">
                  <c:v>2803.7</c:v>
                </c:pt>
                <c:pt idx="140">
                  <c:v>3351.3</c:v>
                </c:pt>
                <c:pt idx="141">
                  <c:v>3536.3</c:v>
                </c:pt>
                <c:pt idx="142">
                  <c:v>3786.9</c:v>
                </c:pt>
                <c:pt idx="143">
                  <c:v>4004.6</c:v>
                </c:pt>
                <c:pt idx="144">
                  <c:v>4238.1</c:v>
                </c:pt>
                <c:pt idx="145">
                  <c:v>4418.4</c:v>
                </c:pt>
                <c:pt idx="146">
                  <c:v>3736.8</c:v>
                </c:pt>
                <c:pt idx="147">
                  <c:v>3992.8</c:v>
                </c:pt>
                <c:pt idx="148">
                  <c:v>4213.8</c:v>
                </c:pt>
                <c:pt idx="149">
                  <c:v>3848.1</c:v>
                </c:pt>
                <c:pt idx="150">
                  <c:v>3701.1</c:v>
                </c:pt>
                <c:pt idx="151">
                  <c:v>3837.1</c:v>
                </c:pt>
                <c:pt idx="152">
                  <c:v>3468.9</c:v>
                </c:pt>
                <c:pt idx="153">
                  <c:v>3193</c:v>
                </c:pt>
                <c:pt idx="154">
                  <c:v>3034.1</c:v>
                </c:pt>
                <c:pt idx="155">
                  <c:v>2803.2</c:v>
                </c:pt>
                <c:pt idx="156">
                  <c:v>2263.2</c:v>
                </c:pt>
                <c:pt idx="157">
                  <c:v>2502.5</c:v>
                </c:pt>
                <c:pt idx="158">
                  <c:v>2874.5</c:v>
                </c:pt>
                <c:pt idx="159">
                  <c:v>2691.4</c:v>
                </c:pt>
                <c:pt idx="160">
                  <c:v>2426.7</c:v>
                </c:pt>
                <c:pt idx="161">
                  <c:v>2647.5</c:v>
                </c:pt>
                <c:pt idx="162">
                  <c:v>2436</c:v>
                </c:pt>
                <c:pt idx="163">
                  <c:v>2629.2</c:v>
                </c:pt>
                <c:pt idx="164">
                  <c:v>2903.1</c:v>
                </c:pt>
                <c:pt idx="165">
                  <c:v>3065.2</c:v>
                </c:pt>
                <c:pt idx="166">
                  <c:v>3020</c:v>
                </c:pt>
                <c:pt idx="167">
                  <c:v>2820.7</c:v>
                </c:pt>
                <c:pt idx="168">
                  <c:v>2790.4</c:v>
                </c:pt>
                <c:pt idx="169">
                  <c:v>2743.2</c:v>
                </c:pt>
                <c:pt idx="170">
                  <c:v>2567.9</c:v>
                </c:pt>
                <c:pt idx="171">
                  <c:v>1832.3</c:v>
                </c:pt>
                <c:pt idx="172">
                  <c:v>1885.2</c:v>
                </c:pt>
                <c:pt idx="173">
                  <c:v>1684.9</c:v>
                </c:pt>
                <c:pt idx="174">
                  <c:v>1713.2</c:v>
                </c:pt>
                <c:pt idx="175">
                  <c:v>1671.8</c:v>
                </c:pt>
                <c:pt idx="176">
                  <c:v>997.3</c:v>
                </c:pt>
                <c:pt idx="177">
                  <c:v>1068</c:v>
                </c:pt>
                <c:pt idx="178">
                  <c:v>996.9</c:v>
                </c:pt>
                <c:pt idx="179">
                  <c:v>1156</c:v>
                </c:pt>
                <c:pt idx="180">
                  <c:v>1112.9</c:v>
                </c:pt>
                <c:pt idx="181">
                  <c:v>1472.8</c:v>
                </c:pt>
                <c:pt idx="182">
                  <c:v>1611.7</c:v>
                </c:pt>
                <c:pt idx="183">
                  <c:v>1502.1</c:v>
                </c:pt>
                <c:pt idx="184">
                  <c:v>1757.2</c:v>
                </c:pt>
                <c:pt idx="185">
                  <c:v>1725.2</c:v>
                </c:pt>
                <c:pt idx="186">
                  <c:v>1584.6</c:v>
                </c:pt>
                <c:pt idx="187">
                  <c:v>1481.6</c:v>
                </c:pt>
                <c:pt idx="188">
                  <c:v>1527.5</c:v>
                </c:pt>
                <c:pt idx="189">
                  <c:v>1374.6</c:v>
                </c:pt>
                <c:pt idx="190">
                  <c:v>1240.1</c:v>
                </c:pt>
                <c:pt idx="191">
                  <c:v>1247.6</c:v>
                </c:pt>
                <c:pt idx="192">
                  <c:v>1262.6</c:v>
                </c:pt>
                <c:pt idx="193">
                  <c:v>1203.2</c:v>
                </c:pt>
                <c:pt idx="194">
                  <c:v>1198.6</c:v>
                </c:pt>
                <c:pt idx="195">
                  <c:v>1414.5</c:v>
                </c:pt>
                <c:pt idx="196">
                  <c:v>1430.5</c:v>
                </c:pt>
                <c:pt idx="197">
                  <c:v>1213.8</c:v>
                </c:pt>
                <c:pt idx="198">
                  <c:v>1121.6</c:v>
                </c:pt>
                <c:pt idx="199">
                  <c:v>1124.6</c:v>
                </c:pt>
                <c:pt idx="200">
                  <c:v>1192.1</c:v>
                </c:pt>
                <c:pt idx="201">
                  <c:v>1196.6</c:v>
                </c:pt>
                <c:pt idx="202">
                  <c:v>1182.8</c:v>
                </c:pt>
                <c:pt idx="203">
                  <c:v>1137.8</c:v>
                </c:pt>
                <c:pt idx="204">
                  <c:v>1122.3</c:v>
                </c:pt>
                <c:pt idx="205">
                  <c:v>1168</c:v>
                </c:pt>
                <c:pt idx="206">
                  <c:v>1324.4</c:v>
                </c:pt>
                <c:pt idx="207">
                  <c:v>1450.2</c:v>
                </c:pt>
                <c:pt idx="208">
                  <c:v>1497.4</c:v>
                </c:pt>
                <c:pt idx="209">
                  <c:v>1534.9</c:v>
                </c:pt>
                <c:pt idx="210">
                  <c:v>1444.4</c:v>
                </c:pt>
                <c:pt idx="211">
                  <c:v>1531.9</c:v>
                </c:pt>
                <c:pt idx="212">
                  <c:v>1542.2</c:v>
                </c:pt>
                <c:pt idx="213">
                  <c:v>1538.7</c:v>
                </c:pt>
                <c:pt idx="214">
                  <c:v>1343.8</c:v>
                </c:pt>
                <c:pt idx="215">
                  <c:v>1566.6</c:v>
                </c:pt>
                <c:pt idx="216">
                  <c:v>1696.6</c:v>
                </c:pt>
                <c:pt idx="217">
                  <c:v>1674.5</c:v>
                </c:pt>
                <c:pt idx="218">
                  <c:v>1749.4</c:v>
                </c:pt>
                <c:pt idx="219">
                  <c:v>1879.9</c:v>
                </c:pt>
                <c:pt idx="220">
                  <c:v>1814.9</c:v>
                </c:pt>
                <c:pt idx="221">
                  <c:v>1782.9</c:v>
                </c:pt>
                <c:pt idx="222">
                  <c:v>1753.9</c:v>
                </c:pt>
                <c:pt idx="223">
                  <c:v>1678</c:v>
                </c:pt>
                <c:pt idx="224">
                  <c:v>1682.9</c:v>
                </c:pt>
                <c:pt idx="225">
                  <c:v>1686.8</c:v>
                </c:pt>
                <c:pt idx="226">
                  <c:v>1739.4</c:v>
                </c:pt>
                <c:pt idx="227">
                  <c:v>1724.5</c:v>
                </c:pt>
                <c:pt idx="228">
                  <c:v>1555.7</c:v>
                </c:pt>
                <c:pt idx="229">
                  <c:v>1749.4</c:v>
                </c:pt>
                <c:pt idx="230">
                  <c:v>1730.1</c:v>
                </c:pt>
                <c:pt idx="231">
                  <c:v>1726.7</c:v>
                </c:pt>
                <c:pt idx="232">
                  <c:v>1874.2</c:v>
                </c:pt>
                <c:pt idx="233">
                  <c:v>1766.3</c:v>
                </c:pt>
                <c:pt idx="234">
                  <c:v>1737.7</c:v>
                </c:pt>
                <c:pt idx="235">
                  <c:v>1714.1</c:v>
                </c:pt>
                <c:pt idx="236">
                  <c:v>1728.7</c:v>
                </c:pt>
                <c:pt idx="237">
                  <c:v>1573.8</c:v>
                </c:pt>
                <c:pt idx="238">
                  <c:v>1550.5</c:v>
                </c:pt>
                <c:pt idx="239">
                  <c:v>1537.1</c:v>
                </c:pt>
                <c:pt idx="240">
                  <c:v>1538.9</c:v>
                </c:pt>
                <c:pt idx="241">
                  <c:v>1519.7</c:v>
                </c:pt>
                <c:pt idx="242">
                  <c:v>1479.8</c:v>
                </c:pt>
                <c:pt idx="243">
                  <c:v>1543.9</c:v>
                </c:pt>
                <c:pt idx="244">
                  <c:v>1505.2</c:v>
                </c:pt>
                <c:pt idx="245">
                  <c:v>1438.1</c:v>
                </c:pt>
                <c:pt idx="246">
                  <c:v>1464.1</c:v>
                </c:pt>
                <c:pt idx="247">
                  <c:v>1685.1</c:v>
                </c:pt>
                <c:pt idx="248">
                  <c:v>1681.9</c:v>
                </c:pt>
                <c:pt idx="249">
                  <c:v>1980.7</c:v>
                </c:pt>
                <c:pt idx="250">
                  <c:v>1831.6</c:v>
                </c:pt>
                <c:pt idx="251">
                  <c:v>1926.2</c:v>
                </c:pt>
                <c:pt idx="252">
                  <c:v>1917.2</c:v>
                </c:pt>
                <c:pt idx="253">
                  <c:v>2202.1</c:v>
                </c:pt>
                <c:pt idx="254">
                  <c:v>2163.8</c:v>
                </c:pt>
                <c:pt idx="255">
                  <c:v>2091.8</c:v>
                </c:pt>
                <c:pt idx="256">
                  <c:v>2192.7</c:v>
                </c:pt>
                <c:pt idx="257">
                  <c:v>2119.4</c:v>
                </c:pt>
                <c:pt idx="258">
                  <c:v>2446.8</c:v>
                </c:pt>
                <c:pt idx="259">
                  <c:v>2304.3</c:v>
                </c:pt>
                <c:pt idx="260">
                  <c:v>2071.4</c:v>
                </c:pt>
                <c:pt idx="261">
                  <c:v>2151.9</c:v>
                </c:pt>
                <c:pt idx="262">
                  <c:v>2260.3</c:v>
                </c:pt>
                <c:pt idx="263">
                  <c:v>2638.1</c:v>
                </c:pt>
                <c:pt idx="264">
                  <c:v>2775.1</c:v>
                </c:pt>
                <c:pt idx="265">
                  <c:v>3121.5</c:v>
                </c:pt>
                <c:pt idx="266">
                  <c:v>3618.8</c:v>
                </c:pt>
                <c:pt idx="267">
                  <c:v>3627</c:v>
                </c:pt>
                <c:pt idx="268">
                  <c:v>3262.6</c:v>
                </c:pt>
                <c:pt idx="269">
                  <c:v>3326.4</c:v>
                </c:pt>
                <c:pt idx="270">
                  <c:v>3110.4</c:v>
                </c:pt>
                <c:pt idx="271">
                  <c:v>3274.1</c:v>
                </c:pt>
                <c:pt idx="272">
                  <c:v>2863.8</c:v>
                </c:pt>
                <c:pt idx="273">
                  <c:v>2948.3</c:v>
                </c:pt>
                <c:pt idx="274">
                  <c:v>2791.1</c:v>
                </c:pt>
                <c:pt idx="275">
                  <c:v>2835.8</c:v>
                </c:pt>
                <c:pt idx="276">
                  <c:v>2750.9</c:v>
                </c:pt>
                <c:pt idx="277">
                  <c:v>3527.8</c:v>
                </c:pt>
                <c:pt idx="278">
                  <c:v>3499.7</c:v>
                </c:pt>
                <c:pt idx="279">
                  <c:v>3560.2</c:v>
                </c:pt>
                <c:pt idx="280">
                  <c:v>3240.5</c:v>
                </c:pt>
                <c:pt idx="281">
                  <c:v>3279.5</c:v>
                </c:pt>
                <c:pt idx="282">
                  <c:v>3217.6</c:v>
                </c:pt>
                <c:pt idx="283">
                  <c:v>2853.1</c:v>
                </c:pt>
                <c:pt idx="284">
                  <c:v>2895.9</c:v>
                </c:pt>
                <c:pt idx="285">
                  <c:v>3200.3</c:v>
                </c:pt>
                <c:pt idx="286">
                  <c:v>2965.1</c:v>
                </c:pt>
                <c:pt idx="287">
                  <c:v>2990.4</c:v>
                </c:pt>
                <c:pt idx="288">
                  <c:v>2506.4</c:v>
                </c:pt>
                <c:pt idx="289">
                  <c:v>2400.6</c:v>
                </c:pt>
                <c:pt idx="290">
                  <c:v>2450</c:v>
                </c:pt>
                <c:pt idx="291">
                  <c:v>2362</c:v>
                </c:pt>
                <c:pt idx="292">
                  <c:v>2211.6</c:v>
                </c:pt>
                <c:pt idx="293">
                  <c:v>2206</c:v>
                </c:pt>
                <c:pt idx="294">
                  <c:v>2302.2</c:v>
                </c:pt>
                <c:pt idx="295">
                  <c:v>2458.6</c:v>
                </c:pt>
                <c:pt idx="296">
                  <c:v>2194.8</c:v>
                </c:pt>
                <c:pt idx="297">
                  <c:v>2226.6</c:v>
                </c:pt>
                <c:pt idx="298">
                  <c:v>2432.5</c:v>
                </c:pt>
                <c:pt idx="299">
                  <c:v>2367.3</c:v>
                </c:pt>
                <c:pt idx="300">
                  <c:v>2349.9</c:v>
                </c:pt>
                <c:pt idx="301">
                  <c:v>2704.6</c:v>
                </c:pt>
                <c:pt idx="302">
                  <c:v>2857.2</c:v>
                </c:pt>
                <c:pt idx="303">
                  <c:v>3139.4</c:v>
                </c:pt>
                <c:pt idx="304">
                  <c:v>3343.7</c:v>
                </c:pt>
                <c:pt idx="305">
                  <c:v>3559.7</c:v>
                </c:pt>
                <c:pt idx="306">
                  <c:v>3627</c:v>
                </c:pt>
                <c:pt idx="307">
                  <c:v>3192.5</c:v>
                </c:pt>
                <c:pt idx="308">
                  <c:v>3111.5</c:v>
                </c:pt>
                <c:pt idx="309">
                  <c:v>3223.8</c:v>
                </c:pt>
                <c:pt idx="310">
                  <c:v>3007.1</c:v>
                </c:pt>
                <c:pt idx="311">
                  <c:v>3090.1</c:v>
                </c:pt>
                <c:pt idx="312">
                  <c:v>3114.8</c:v>
                </c:pt>
                <c:pt idx="313">
                  <c:v>3033.6</c:v>
                </c:pt>
                <c:pt idx="314">
                  <c:v>2511.1</c:v>
                </c:pt>
                <c:pt idx="315">
                  <c:v>2499.4</c:v>
                </c:pt>
                <c:pt idx="316">
                  <c:v>2559.6</c:v>
                </c:pt>
                <c:pt idx="317">
                  <c:v>2153.4</c:v>
                </c:pt>
                <c:pt idx="318">
                  <c:v>2057.2</c:v>
                </c:pt>
                <c:pt idx="319">
                  <c:v>1740.1</c:v>
                </c:pt>
                <c:pt idx="320">
                  <c:v>1851.4</c:v>
                </c:pt>
                <c:pt idx="321">
                  <c:v>1870.3</c:v>
                </c:pt>
                <c:pt idx="322">
                  <c:v>1695.9</c:v>
                </c:pt>
                <c:pt idx="323">
                  <c:v>1422.1</c:v>
                </c:pt>
                <c:pt idx="324">
                  <c:v>1478.2</c:v>
                </c:pt>
                <c:pt idx="325">
                  <c:v>1653.1</c:v>
                </c:pt>
                <c:pt idx="326">
                  <c:v>1717.9</c:v>
                </c:pt>
                <c:pt idx="327">
                  <c:v>2061</c:v>
                </c:pt>
                <c:pt idx="328">
                  <c:v>2378.9</c:v>
                </c:pt>
                <c:pt idx="329">
                  <c:v>2488.4</c:v>
                </c:pt>
                <c:pt idx="330">
                  <c:v>2459</c:v>
                </c:pt>
                <c:pt idx="331">
                  <c:v>2256.9</c:v>
                </c:pt>
                <c:pt idx="332">
                  <c:v>2476.9</c:v>
                </c:pt>
                <c:pt idx="333">
                  <c:v>2355.3</c:v>
                </c:pt>
                <c:pt idx="334">
                  <c:v>2256.8</c:v>
                </c:pt>
                <c:pt idx="335">
                  <c:v>2420.1</c:v>
                </c:pt>
                <c:pt idx="336">
                  <c:v>2760</c:v>
                </c:pt>
                <c:pt idx="337">
                  <c:v>3247.5</c:v>
                </c:pt>
                <c:pt idx="338">
                  <c:v>3463.5</c:v>
                </c:pt>
                <c:pt idx="339">
                  <c:v>3452.9</c:v>
                </c:pt>
                <c:pt idx="340">
                  <c:v>3656.2</c:v>
                </c:pt>
                <c:pt idx="341">
                  <c:v>4248.2</c:v>
                </c:pt>
                <c:pt idx="342">
                  <c:v>3944.7</c:v>
                </c:pt>
                <c:pt idx="343">
                  <c:v>4209.9</c:v>
                </c:pt>
                <c:pt idx="344">
                  <c:v>4015.2</c:v>
                </c:pt>
                <c:pt idx="345">
                  <c:v>4167</c:v>
                </c:pt>
                <c:pt idx="346">
                  <c:v>4287.2</c:v>
                </c:pt>
                <c:pt idx="347">
                  <c:v>3613.2</c:v>
                </c:pt>
                <c:pt idx="348">
                  <c:v>4191.9</c:v>
                </c:pt>
                <c:pt idx="349">
                  <c:v>4081</c:v>
                </c:pt>
                <c:pt idx="350">
                  <c:v>3637.9</c:v>
                </c:pt>
                <c:pt idx="351">
                  <c:v>3601.7</c:v>
                </c:pt>
                <c:pt idx="352">
                  <c:v>3553.5</c:v>
                </c:pt>
                <c:pt idx="353">
                  <c:v>3093.8</c:v>
                </c:pt>
                <c:pt idx="354">
                  <c:v>3019.5</c:v>
                </c:pt>
                <c:pt idx="355">
                  <c:v>2645</c:v>
                </c:pt>
                <c:pt idx="356">
                  <c:v>2815.7</c:v>
                </c:pt>
                <c:pt idx="357">
                  <c:v>2927.6</c:v>
                </c:pt>
                <c:pt idx="358">
                  <c:v>3023.6</c:v>
                </c:pt>
                <c:pt idx="359">
                  <c:v>2640.6</c:v>
                </c:pt>
                <c:pt idx="360">
                  <c:v>2712.1</c:v>
                </c:pt>
                <c:pt idx="361">
                  <c:v>2802.5</c:v>
                </c:pt>
                <c:pt idx="362">
                  <c:v>2899.6</c:v>
                </c:pt>
                <c:pt idx="363">
                  <c:v>3098.3</c:v>
                </c:pt>
                <c:pt idx="364">
                  <c:v>2755.1</c:v>
                </c:pt>
                <c:pt idx="365">
                  <c:v>2632.4</c:v>
                </c:pt>
                <c:pt idx="366">
                  <c:v>1701.5</c:v>
                </c:pt>
                <c:pt idx="367">
                  <c:v>1818.5</c:v>
                </c:pt>
                <c:pt idx="368">
                  <c:v>1819.7</c:v>
                </c:pt>
                <c:pt idx="369">
                  <c:v>1893.1</c:v>
                </c:pt>
                <c:pt idx="370">
                  <c:v>1935</c:v>
                </c:pt>
                <c:pt idx="371">
                  <c:v>1936.4</c:v>
                </c:pt>
                <c:pt idx="372">
                  <c:v>1996.5</c:v>
                </c:pt>
                <c:pt idx="373">
                  <c:v>1923.7</c:v>
                </c:pt>
                <c:pt idx="374">
                  <c:v>1921.2</c:v>
                </c:pt>
                <c:pt idx="375">
                  <c:v>2044.8</c:v>
                </c:pt>
                <c:pt idx="376">
                  <c:v>2193.7</c:v>
                </c:pt>
                <c:pt idx="377">
                  <c:v>2177.7</c:v>
                </c:pt>
                <c:pt idx="378">
                  <c:v>2107.4</c:v>
                </c:pt>
                <c:pt idx="379">
                  <c:v>2140</c:v>
                </c:pt>
                <c:pt idx="380">
                  <c:v>2130.5</c:v>
                </c:pt>
                <c:pt idx="381">
                  <c:v>1990.8</c:v>
                </c:pt>
                <c:pt idx="382">
                  <c:v>1875.1</c:v>
                </c:pt>
                <c:pt idx="383">
                  <c:v>1652.9</c:v>
                </c:pt>
                <c:pt idx="384">
                  <c:v>1562</c:v>
                </c:pt>
                <c:pt idx="385">
                  <c:v>1596.8</c:v>
                </c:pt>
                <c:pt idx="386">
                  <c:v>1461.6</c:v>
                </c:pt>
                <c:pt idx="387">
                  <c:v>1586.2</c:v>
                </c:pt>
                <c:pt idx="388">
                  <c:v>1629.4</c:v>
                </c:pt>
                <c:pt idx="389">
                  <c:v>1740.3</c:v>
                </c:pt>
                <c:pt idx="390">
                  <c:v>1753.3</c:v>
                </c:pt>
                <c:pt idx="391">
                  <c:v>1790.9</c:v>
                </c:pt>
                <c:pt idx="392">
                  <c:v>1776.6</c:v>
                </c:pt>
                <c:pt idx="393">
                  <c:v>1759.7</c:v>
                </c:pt>
                <c:pt idx="394">
                  <c:v>2173</c:v>
                </c:pt>
                <c:pt idx="395">
                  <c:v>2344.8</c:v>
                </c:pt>
                <c:pt idx="396">
                  <c:v>2342.6</c:v>
                </c:pt>
                <c:pt idx="397">
                  <c:v>2276.4</c:v>
                </c:pt>
                <c:pt idx="398">
                  <c:v>2285.7</c:v>
                </c:pt>
                <c:pt idx="399">
                  <c:v>2510.1</c:v>
                </c:pt>
                <c:pt idx="400">
                  <c:v>2527.1</c:v>
                </c:pt>
              </c:numCache>
            </c:numRef>
          </c:val>
          <c:smooth val="0"/>
        </c:ser>
        <c:ser>
          <c:idx val="2"/>
          <c:order val="2"/>
          <c:tx>
            <c:strRef>
              <c:f>Sheet1!$D$1</c:f>
              <c:strCache>
                <c:ptCount val="1"/>
                <c:pt idx="0">
                  <c:v>BNB</c:v>
                </c:pt>
              </c:strCache>
            </c:strRef>
          </c:tx>
          <c:spPr>
            <a:solidFill>
              <a:srgbClr val="7FA99B"/>
            </a:solidFill>
            <a:ln w="25400" cap="flat">
              <a:solidFill>
                <a:srgbClr val="7FA99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A99B"/>
              </a:solidFill>
              <a:ln w="9525" cap="flat">
                <a:solidFill>
                  <a:srgbClr val="7FA99B"/>
                </a:solidFill>
                <a:prstDash val="solid"/>
                <a:round/>
              </a:ln>
              <a:effectLst/>
            </c:spPr>
          </c:marker>
          <c:cat>
            <c:multiLvlStrRef>
              <c:f>Sheet1!$A$2:$A$402</c:f>
              <c:multiLvlStrCache>
                <c:ptCount val="401"/>
                <c:lvl>
                  <c:pt idx="0">
                    <c:v>2019-01</c:v>
                  </c:pt>
                  <c:pt idx="1">
                    <c:v>2019-02</c:v>
                  </c:pt>
                  <c:pt idx="2">
                    <c:v>2019-02</c:v>
                  </c:pt>
                  <c:pt idx="3">
                    <c:v>2019-02</c:v>
                  </c:pt>
                  <c:pt idx="4">
                    <c:v>2019-02</c:v>
                  </c:pt>
                  <c:pt idx="5">
                    <c:v>2019-03</c:v>
                  </c:pt>
                  <c:pt idx="6">
                    <c:v>2019-03</c:v>
                  </c:pt>
                  <c:pt idx="7">
                    <c:v>2019-03</c:v>
                  </c:pt>
                  <c:pt idx="8">
                    <c:v>2019-03</c:v>
                  </c:pt>
                  <c:pt idx="9">
                    <c:v>2019-04</c:v>
                  </c:pt>
                  <c:pt idx="10">
                    <c:v>2019-04</c:v>
                  </c:pt>
                  <c:pt idx="11">
                    <c:v>2019-04</c:v>
                  </c:pt>
                  <c:pt idx="12">
                    <c:v>2019-04</c:v>
                  </c:pt>
                  <c:pt idx="13">
                    <c:v>2019-05</c:v>
                  </c:pt>
                  <c:pt idx="14">
                    <c:v>2019-05</c:v>
                  </c:pt>
                  <c:pt idx="15">
                    <c:v>2019-05</c:v>
                  </c:pt>
                  <c:pt idx="16">
                    <c:v>2019-05</c:v>
                  </c:pt>
                  <c:pt idx="17">
                    <c:v>2019-05</c:v>
                  </c:pt>
                  <c:pt idx="18">
                    <c:v>2019-06</c:v>
                  </c:pt>
                  <c:pt idx="19">
                    <c:v>2019-06</c:v>
                  </c:pt>
                  <c:pt idx="20">
                    <c:v>2019-06</c:v>
                  </c:pt>
                  <c:pt idx="21">
                    <c:v>2019-06</c:v>
                  </c:pt>
                  <c:pt idx="22">
                    <c:v>2019-07</c:v>
                  </c:pt>
                  <c:pt idx="23">
                    <c:v>2019-07</c:v>
                  </c:pt>
                  <c:pt idx="24">
                    <c:v>2019-07</c:v>
                  </c:pt>
                  <c:pt idx="25">
                    <c:v>2019-07</c:v>
                  </c:pt>
                  <c:pt idx="26">
                    <c:v>2019-08</c:v>
                  </c:pt>
                  <c:pt idx="27">
                    <c:v>2019-08</c:v>
                  </c:pt>
                  <c:pt idx="28">
                    <c:v>2019-08</c:v>
                  </c:pt>
                  <c:pt idx="29">
                    <c:v>2019-08</c:v>
                  </c:pt>
                  <c:pt idx="30">
                    <c:v>2019-08</c:v>
                  </c:pt>
                  <c:pt idx="31">
                    <c:v>2019-09</c:v>
                  </c:pt>
                  <c:pt idx="32">
                    <c:v>2019-09</c:v>
                  </c:pt>
                  <c:pt idx="33">
                    <c:v>2019-09</c:v>
                  </c:pt>
                  <c:pt idx="34">
                    <c:v>2019-09</c:v>
                  </c:pt>
                  <c:pt idx="35">
                    <c:v>2019-10</c:v>
                  </c:pt>
                  <c:pt idx="36">
                    <c:v>2019-10</c:v>
                  </c:pt>
                  <c:pt idx="37">
                    <c:v>2019-10</c:v>
                  </c:pt>
                  <c:pt idx="38">
                    <c:v>2019-10</c:v>
                  </c:pt>
                  <c:pt idx="39">
                    <c:v>2019-10</c:v>
                  </c:pt>
                  <c:pt idx="40">
                    <c:v>2019-11</c:v>
                  </c:pt>
                  <c:pt idx="41">
                    <c:v>2019-11</c:v>
                  </c:pt>
                  <c:pt idx="42">
                    <c:v>2019-11</c:v>
                  </c:pt>
                  <c:pt idx="43">
                    <c:v>2019-11</c:v>
                  </c:pt>
                  <c:pt idx="44">
                    <c:v>2019-12</c:v>
                  </c:pt>
                  <c:pt idx="45">
                    <c:v>2019-12</c:v>
                  </c:pt>
                  <c:pt idx="46">
                    <c:v>2019-12</c:v>
                  </c:pt>
                  <c:pt idx="47">
                    <c:v>2019-12</c:v>
                  </c:pt>
                  <c:pt idx="48">
                    <c:v>2020-01</c:v>
                  </c:pt>
                  <c:pt idx="49">
                    <c:v>2020-01</c:v>
                  </c:pt>
                  <c:pt idx="50">
                    <c:v>2020-01</c:v>
                  </c:pt>
                  <c:pt idx="51">
                    <c:v>2020-01</c:v>
                  </c:pt>
                  <c:pt idx="52">
                    <c:v>2020-01</c:v>
                  </c:pt>
                  <c:pt idx="53">
                    <c:v>2020-02</c:v>
                  </c:pt>
                  <c:pt idx="54">
                    <c:v>2020-02</c:v>
                  </c:pt>
                  <c:pt idx="55">
                    <c:v>2020-02</c:v>
                  </c:pt>
                  <c:pt idx="56">
                    <c:v>2020-02</c:v>
                  </c:pt>
                  <c:pt idx="57">
                    <c:v>2020-03</c:v>
                  </c:pt>
                  <c:pt idx="58">
                    <c:v>2020-03</c:v>
                  </c:pt>
                  <c:pt idx="59">
                    <c:v>2020-03</c:v>
                  </c:pt>
                  <c:pt idx="60">
                    <c:v>2020-03</c:v>
                  </c:pt>
                  <c:pt idx="61">
                    <c:v>2020-04</c:v>
                  </c:pt>
                  <c:pt idx="62">
                    <c:v>2020-04</c:v>
                  </c:pt>
                  <c:pt idx="63">
                    <c:v>2020-04</c:v>
                  </c:pt>
                  <c:pt idx="64">
                    <c:v>2020-04</c:v>
                  </c:pt>
                  <c:pt idx="65">
                    <c:v>2020-04</c:v>
                  </c:pt>
                  <c:pt idx="66">
                    <c:v>2020-05</c:v>
                  </c:pt>
                  <c:pt idx="67">
                    <c:v>2020-05</c:v>
                  </c:pt>
                  <c:pt idx="68">
                    <c:v>2020-05</c:v>
                  </c:pt>
                  <c:pt idx="69">
                    <c:v>2020-05</c:v>
                  </c:pt>
                  <c:pt idx="70">
                    <c:v>2020-06</c:v>
                  </c:pt>
                  <c:pt idx="71">
                    <c:v>2020-06</c:v>
                  </c:pt>
                  <c:pt idx="72">
                    <c:v>2020-06</c:v>
                  </c:pt>
                  <c:pt idx="73">
                    <c:v>2020-06</c:v>
                  </c:pt>
                  <c:pt idx="74">
                    <c:v>2020-07</c:v>
                  </c:pt>
                  <c:pt idx="75">
                    <c:v>2020-07</c:v>
                  </c:pt>
                  <c:pt idx="76">
                    <c:v>2020-07</c:v>
                  </c:pt>
                  <c:pt idx="77">
                    <c:v>2020-07</c:v>
                  </c:pt>
                  <c:pt idx="78">
                    <c:v>2020-07</c:v>
                  </c:pt>
                  <c:pt idx="79">
                    <c:v>2020-08</c:v>
                  </c:pt>
                  <c:pt idx="80">
                    <c:v>2020-08</c:v>
                  </c:pt>
                  <c:pt idx="81">
                    <c:v>2020-08</c:v>
                  </c:pt>
                  <c:pt idx="82">
                    <c:v>2020-08</c:v>
                  </c:pt>
                  <c:pt idx="83">
                    <c:v>2020-09</c:v>
                  </c:pt>
                  <c:pt idx="84">
                    <c:v>2020-09</c:v>
                  </c:pt>
                  <c:pt idx="85">
                    <c:v>2020-09</c:v>
                  </c:pt>
                  <c:pt idx="86">
                    <c:v>2020-09</c:v>
                  </c:pt>
                  <c:pt idx="87">
                    <c:v>2020-10</c:v>
                  </c:pt>
                  <c:pt idx="88">
                    <c:v>2020-10</c:v>
                  </c:pt>
                  <c:pt idx="89">
                    <c:v>2020-10</c:v>
                  </c:pt>
                  <c:pt idx="90">
                    <c:v>2020-10</c:v>
                  </c:pt>
                  <c:pt idx="91">
                    <c:v>2020-10</c:v>
                  </c:pt>
                  <c:pt idx="92">
                    <c:v>2020-11</c:v>
                  </c:pt>
                  <c:pt idx="93">
                    <c:v>2020-11</c:v>
                  </c:pt>
                  <c:pt idx="94">
                    <c:v>2020-11</c:v>
                  </c:pt>
                  <c:pt idx="95">
                    <c:v>2020-11</c:v>
                  </c:pt>
                  <c:pt idx="96">
                    <c:v>2020-12</c:v>
                  </c:pt>
                  <c:pt idx="97">
                    <c:v>2020-12</c:v>
                  </c:pt>
                  <c:pt idx="98">
                    <c:v>2020-12</c:v>
                  </c:pt>
                  <c:pt idx="99">
                    <c:v>2020-12</c:v>
                  </c:pt>
                  <c:pt idx="100">
                    <c:v>2020-12</c:v>
                  </c:pt>
                  <c:pt idx="101">
                    <c:v>2021-01</c:v>
                  </c:pt>
                  <c:pt idx="102">
                    <c:v>2021-01</c:v>
                  </c:pt>
                  <c:pt idx="103">
                    <c:v>2021-01</c:v>
                  </c:pt>
                  <c:pt idx="104">
                    <c:v>2021-01</c:v>
                  </c:pt>
                  <c:pt idx="105">
                    <c:v>2021-02</c:v>
                  </c:pt>
                  <c:pt idx="106">
                    <c:v>2021-02</c:v>
                  </c:pt>
                  <c:pt idx="107">
                    <c:v>2021-02</c:v>
                  </c:pt>
                  <c:pt idx="108">
                    <c:v>2021-02</c:v>
                  </c:pt>
                  <c:pt idx="109">
                    <c:v>2021-03</c:v>
                  </c:pt>
                  <c:pt idx="110">
                    <c:v>2021-03</c:v>
                  </c:pt>
                  <c:pt idx="111">
                    <c:v>2021-03</c:v>
                  </c:pt>
                  <c:pt idx="112">
                    <c:v>2021-03</c:v>
                  </c:pt>
                  <c:pt idx="113">
                    <c:v>2021-04</c:v>
                  </c:pt>
                  <c:pt idx="114">
                    <c:v>2021-04</c:v>
                  </c:pt>
                  <c:pt idx="115">
                    <c:v>2021-04</c:v>
                  </c:pt>
                  <c:pt idx="116">
                    <c:v>2021-04</c:v>
                  </c:pt>
                  <c:pt idx="117">
                    <c:v>2021-04</c:v>
                  </c:pt>
                  <c:pt idx="118">
                    <c:v>2021-05</c:v>
                  </c:pt>
                  <c:pt idx="119">
                    <c:v>2021-05</c:v>
                  </c:pt>
                  <c:pt idx="120">
                    <c:v>2021-05</c:v>
                  </c:pt>
                  <c:pt idx="121">
                    <c:v>2021-05</c:v>
                  </c:pt>
                  <c:pt idx="122">
                    <c:v>2021-06</c:v>
                  </c:pt>
                  <c:pt idx="123">
                    <c:v>2021-06</c:v>
                  </c:pt>
                  <c:pt idx="124">
                    <c:v>2021-06</c:v>
                  </c:pt>
                  <c:pt idx="125">
                    <c:v>2021-06</c:v>
                  </c:pt>
                  <c:pt idx="126">
                    <c:v>2021-07</c:v>
                  </c:pt>
                  <c:pt idx="127">
                    <c:v>2021-07</c:v>
                  </c:pt>
                  <c:pt idx="128">
                    <c:v>2021-07</c:v>
                  </c:pt>
                  <c:pt idx="129">
                    <c:v>2021-07</c:v>
                  </c:pt>
                  <c:pt idx="130">
                    <c:v>2021-07</c:v>
                  </c:pt>
                  <c:pt idx="131">
                    <c:v>2021-08</c:v>
                  </c:pt>
                  <c:pt idx="132">
                    <c:v>2021-08</c:v>
                  </c:pt>
                  <c:pt idx="133">
                    <c:v>2021-08</c:v>
                  </c:pt>
                  <c:pt idx="134">
                    <c:v>2021-08</c:v>
                  </c:pt>
                  <c:pt idx="135">
                    <c:v>2021-09</c:v>
                  </c:pt>
                  <c:pt idx="136">
                    <c:v>2021-09</c:v>
                  </c:pt>
                  <c:pt idx="137">
                    <c:v>2021-09</c:v>
                  </c:pt>
                  <c:pt idx="138">
                    <c:v>2021-09</c:v>
                  </c:pt>
                  <c:pt idx="139">
                    <c:v>2021-09</c:v>
                  </c:pt>
                  <c:pt idx="140">
                    <c:v>2021-10</c:v>
                  </c:pt>
                  <c:pt idx="141">
                    <c:v>2021-10</c:v>
                  </c:pt>
                  <c:pt idx="142">
                    <c:v>2021-10</c:v>
                  </c:pt>
                  <c:pt idx="143">
                    <c:v>2021-10</c:v>
                  </c:pt>
                  <c:pt idx="144">
                    <c:v>2021-11</c:v>
                  </c:pt>
                  <c:pt idx="145">
                    <c:v>2021-11</c:v>
                  </c:pt>
                  <c:pt idx="146">
                    <c:v>2021-11</c:v>
                  </c:pt>
                  <c:pt idx="147">
                    <c:v>2021-11</c:v>
                  </c:pt>
                  <c:pt idx="148">
                    <c:v>2021-12</c:v>
                  </c:pt>
                  <c:pt idx="149">
                    <c:v>2021-12</c:v>
                  </c:pt>
                  <c:pt idx="150">
                    <c:v>2021-12</c:v>
                  </c:pt>
                  <c:pt idx="151">
                    <c:v>2021-12</c:v>
                  </c:pt>
                  <c:pt idx="152">
                    <c:v>2021-12</c:v>
                  </c:pt>
                  <c:pt idx="153">
                    <c:v>2022-01</c:v>
                  </c:pt>
                  <c:pt idx="154">
                    <c:v>2022-01</c:v>
                  </c:pt>
                  <c:pt idx="155">
                    <c:v>2022-01</c:v>
                  </c:pt>
                  <c:pt idx="156">
                    <c:v>2022-01</c:v>
                  </c:pt>
                  <c:pt idx="157">
                    <c:v>2022-02</c:v>
                  </c:pt>
                  <c:pt idx="158">
                    <c:v>2022-02</c:v>
                  </c:pt>
                  <c:pt idx="159">
                    <c:v>2022-02</c:v>
                  </c:pt>
                  <c:pt idx="160">
                    <c:v>2022-02</c:v>
                  </c:pt>
                  <c:pt idx="161">
                    <c:v>2022-03</c:v>
                  </c:pt>
                  <c:pt idx="162">
                    <c:v>2022-03</c:v>
                  </c:pt>
                  <c:pt idx="163">
                    <c:v>2022-03</c:v>
                  </c:pt>
                  <c:pt idx="164">
                    <c:v>2022-03</c:v>
                  </c:pt>
                  <c:pt idx="165">
                    <c:v>2022-03</c:v>
                  </c:pt>
                  <c:pt idx="166">
                    <c:v>2022-04</c:v>
                  </c:pt>
                  <c:pt idx="167">
                    <c:v>2022-04</c:v>
                  </c:pt>
                  <c:pt idx="168">
                    <c:v>2022-04</c:v>
                  </c:pt>
                  <c:pt idx="169">
                    <c:v>2022-04</c:v>
                  </c:pt>
                  <c:pt idx="170">
                    <c:v>2022-05</c:v>
                  </c:pt>
                  <c:pt idx="171">
                    <c:v>2022-05</c:v>
                  </c:pt>
                  <c:pt idx="172">
                    <c:v>2022-05</c:v>
                  </c:pt>
                  <c:pt idx="173">
                    <c:v>2022-05</c:v>
                  </c:pt>
                  <c:pt idx="174">
                    <c:v>2022-06</c:v>
                  </c:pt>
                  <c:pt idx="175">
                    <c:v>2022-06</c:v>
                  </c:pt>
                  <c:pt idx="176">
                    <c:v>2022-06</c:v>
                  </c:pt>
                  <c:pt idx="177">
                    <c:v>2022-06</c:v>
                  </c:pt>
                  <c:pt idx="178">
                    <c:v>2022-06</c:v>
                  </c:pt>
                  <c:pt idx="179">
                    <c:v>2022-07</c:v>
                  </c:pt>
                  <c:pt idx="180">
                    <c:v>2022-07</c:v>
                  </c:pt>
                  <c:pt idx="181">
                    <c:v>2022-07</c:v>
                  </c:pt>
                  <c:pt idx="182">
                    <c:v>2022-07</c:v>
                  </c:pt>
                  <c:pt idx="183">
                    <c:v>2022-08</c:v>
                  </c:pt>
                  <c:pt idx="184">
                    <c:v>2022-08</c:v>
                  </c:pt>
                  <c:pt idx="185">
                    <c:v>2022-08</c:v>
                  </c:pt>
                  <c:pt idx="186">
                    <c:v>2022-08</c:v>
                  </c:pt>
                  <c:pt idx="187">
                    <c:v>2022-09</c:v>
                  </c:pt>
                  <c:pt idx="188">
                    <c:v>2022-09</c:v>
                  </c:pt>
                  <c:pt idx="189">
                    <c:v>2022-09</c:v>
                  </c:pt>
                  <c:pt idx="190">
                    <c:v>2022-09</c:v>
                  </c:pt>
                  <c:pt idx="191">
                    <c:v>2022-09</c:v>
                  </c:pt>
                  <c:pt idx="192">
                    <c:v>2022-10</c:v>
                  </c:pt>
                  <c:pt idx="193">
                    <c:v>2022-10</c:v>
                  </c:pt>
                  <c:pt idx="194">
                    <c:v>2022-10</c:v>
                  </c:pt>
                  <c:pt idx="195">
                    <c:v>2022-10</c:v>
                  </c:pt>
                  <c:pt idx="196">
                    <c:v>2022-11</c:v>
                  </c:pt>
                  <c:pt idx="197">
                    <c:v>2022-11</c:v>
                  </c:pt>
                  <c:pt idx="198">
                    <c:v>2022-11</c:v>
                  </c:pt>
                  <c:pt idx="199">
                    <c:v>2022-11</c:v>
                  </c:pt>
                  <c:pt idx="200">
                    <c:v>2022-12</c:v>
                  </c:pt>
                  <c:pt idx="201">
                    <c:v>2022-12</c:v>
                  </c:pt>
                  <c:pt idx="202">
                    <c:v>2022-12</c:v>
                  </c:pt>
                  <c:pt idx="203">
                    <c:v>2022-12</c:v>
                  </c:pt>
                  <c:pt idx="204">
                    <c:v>2022-12</c:v>
                  </c:pt>
                  <c:pt idx="205">
                    <c:v>2023-01</c:v>
                  </c:pt>
                  <c:pt idx="206">
                    <c:v>2023-01</c:v>
                  </c:pt>
                  <c:pt idx="207">
                    <c:v>2023-01</c:v>
                  </c:pt>
                  <c:pt idx="208">
                    <c:v>2023-01</c:v>
                  </c:pt>
                  <c:pt idx="209">
                    <c:v>2023-02</c:v>
                  </c:pt>
                  <c:pt idx="210">
                    <c:v>2023-02</c:v>
                  </c:pt>
                  <c:pt idx="211">
                    <c:v>2023-02</c:v>
                  </c:pt>
                  <c:pt idx="212">
                    <c:v>2023-02</c:v>
                  </c:pt>
                  <c:pt idx="213">
                    <c:v>2023-03</c:v>
                  </c:pt>
                  <c:pt idx="214">
                    <c:v>2023-03</c:v>
                  </c:pt>
                  <c:pt idx="215">
                    <c:v>2023-03</c:v>
                  </c:pt>
                  <c:pt idx="216">
                    <c:v>2023-03</c:v>
                  </c:pt>
                  <c:pt idx="217">
                    <c:v>2023-03</c:v>
                  </c:pt>
                  <c:pt idx="218">
                    <c:v>2023-04</c:v>
                  </c:pt>
                  <c:pt idx="219">
                    <c:v>2023-04</c:v>
                  </c:pt>
                  <c:pt idx="220">
                    <c:v>2023-04</c:v>
                  </c:pt>
                  <c:pt idx="221">
                    <c:v>2023-04</c:v>
                  </c:pt>
                  <c:pt idx="222">
                    <c:v>2023-05</c:v>
                  </c:pt>
                  <c:pt idx="223">
                    <c:v>2023-05</c:v>
                  </c:pt>
                  <c:pt idx="224">
                    <c:v>2023-05</c:v>
                  </c:pt>
                  <c:pt idx="225">
                    <c:v>2023-05</c:v>
                  </c:pt>
                  <c:pt idx="226">
                    <c:v>2023-06</c:v>
                  </c:pt>
                  <c:pt idx="227">
                    <c:v>2023-06</c:v>
                  </c:pt>
                  <c:pt idx="228">
                    <c:v>2023-06</c:v>
                  </c:pt>
                  <c:pt idx="229">
                    <c:v>2023-06</c:v>
                  </c:pt>
                  <c:pt idx="230">
                    <c:v>2023-06</c:v>
                  </c:pt>
                  <c:pt idx="231">
                    <c:v>2023-07</c:v>
                  </c:pt>
                  <c:pt idx="232">
                    <c:v>2023-07</c:v>
                  </c:pt>
                  <c:pt idx="233">
                    <c:v>2023-07</c:v>
                  </c:pt>
                  <c:pt idx="234">
                    <c:v>2023-07</c:v>
                  </c:pt>
                  <c:pt idx="235">
                    <c:v>2023-08</c:v>
                  </c:pt>
                  <c:pt idx="236">
                    <c:v>2023-08</c:v>
                  </c:pt>
                  <c:pt idx="237">
                    <c:v>2023-08</c:v>
                  </c:pt>
                  <c:pt idx="238">
                    <c:v>2023-08</c:v>
                  </c:pt>
                  <c:pt idx="239">
                    <c:v>2023-08</c:v>
                  </c:pt>
                  <c:pt idx="240">
                    <c:v>2023-09</c:v>
                  </c:pt>
                  <c:pt idx="241">
                    <c:v>2023-09</c:v>
                  </c:pt>
                  <c:pt idx="242">
                    <c:v>2023-09</c:v>
                  </c:pt>
                  <c:pt idx="243">
                    <c:v>2023-09</c:v>
                  </c:pt>
                  <c:pt idx="244">
                    <c:v>2023-10</c:v>
                  </c:pt>
                  <c:pt idx="245">
                    <c:v>2023-10</c:v>
                  </c:pt>
                  <c:pt idx="246">
                    <c:v>2023-10</c:v>
                  </c:pt>
                  <c:pt idx="247">
                    <c:v>2023-10</c:v>
                  </c:pt>
                  <c:pt idx="248">
                    <c:v>2023-11</c:v>
                  </c:pt>
                  <c:pt idx="249">
                    <c:v>2023-11</c:v>
                  </c:pt>
                  <c:pt idx="250">
                    <c:v>2023-11</c:v>
                  </c:pt>
                  <c:pt idx="251">
                    <c:v>2023-11</c:v>
                  </c:pt>
                  <c:pt idx="252">
                    <c:v>2023-11</c:v>
                  </c:pt>
                  <c:pt idx="253">
                    <c:v>2023-12</c:v>
                  </c:pt>
                  <c:pt idx="254">
                    <c:v>2023-12</c:v>
                  </c:pt>
                  <c:pt idx="255">
                    <c:v>2023-12</c:v>
                  </c:pt>
                  <c:pt idx="256">
                    <c:v>2023-12</c:v>
                  </c:pt>
                  <c:pt idx="257">
                    <c:v>2024-01</c:v>
                  </c:pt>
                  <c:pt idx="258">
                    <c:v>2024-01</c:v>
                  </c:pt>
                  <c:pt idx="259">
                    <c:v>2024-01</c:v>
                  </c:pt>
                  <c:pt idx="260">
                    <c:v>2024-01</c:v>
                  </c:pt>
                  <c:pt idx="261">
                    <c:v>2024-02</c:v>
                  </c:pt>
                  <c:pt idx="262">
                    <c:v>2024-02</c:v>
                  </c:pt>
                  <c:pt idx="263">
                    <c:v>2024-02</c:v>
                  </c:pt>
                  <c:pt idx="264">
                    <c:v>2024-02</c:v>
                  </c:pt>
                  <c:pt idx="265">
                    <c:v>2024-02</c:v>
                  </c:pt>
                  <c:pt idx="266">
                    <c:v>2024-03</c:v>
                  </c:pt>
                  <c:pt idx="267">
                    <c:v>2024-03</c:v>
                  </c:pt>
                  <c:pt idx="268">
                    <c:v>2024-03</c:v>
                  </c:pt>
                  <c:pt idx="269">
                    <c:v>2024-03</c:v>
                  </c:pt>
                  <c:pt idx="270">
                    <c:v>2024-04</c:v>
                  </c:pt>
                  <c:pt idx="271">
                    <c:v>2024-04</c:v>
                  </c:pt>
                  <c:pt idx="272">
                    <c:v>2024-04</c:v>
                  </c:pt>
                  <c:pt idx="273">
                    <c:v>2024-04</c:v>
                  </c:pt>
                  <c:pt idx="274">
                    <c:v>2024-05</c:v>
                  </c:pt>
                  <c:pt idx="275">
                    <c:v>2024-05</c:v>
                  </c:pt>
                  <c:pt idx="276">
                    <c:v>2024-05</c:v>
                  </c:pt>
                  <c:pt idx="277">
                    <c:v>2024-05</c:v>
                  </c:pt>
                  <c:pt idx="278">
                    <c:v>2024-05</c:v>
                  </c:pt>
                  <c:pt idx="279">
                    <c:v>2024-06</c:v>
                  </c:pt>
                  <c:pt idx="280">
                    <c:v>2024-06</c:v>
                  </c:pt>
                  <c:pt idx="281">
                    <c:v>2024-06</c:v>
                  </c:pt>
                  <c:pt idx="282">
                    <c:v>2024-06</c:v>
                  </c:pt>
                  <c:pt idx="283">
                    <c:v>2024-07</c:v>
                  </c:pt>
                  <c:pt idx="284">
                    <c:v>2024-07</c:v>
                  </c:pt>
                  <c:pt idx="285">
                    <c:v>2024-07</c:v>
                  </c:pt>
                  <c:pt idx="286">
                    <c:v>2024-07</c:v>
                  </c:pt>
                  <c:pt idx="287">
                    <c:v>2024-08</c:v>
                  </c:pt>
                  <c:pt idx="288">
                    <c:v>2024-08</c:v>
                  </c:pt>
                  <c:pt idx="289">
                    <c:v>2024-08</c:v>
                  </c:pt>
                  <c:pt idx="290">
                    <c:v>2024-08</c:v>
                  </c:pt>
                  <c:pt idx="291">
                    <c:v>2024-08</c:v>
                  </c:pt>
                  <c:pt idx="292">
                    <c:v>2024-09</c:v>
                  </c:pt>
                  <c:pt idx="293">
                    <c:v>2024-09</c:v>
                  </c:pt>
                  <c:pt idx="294">
                    <c:v>2024-09</c:v>
                  </c:pt>
                  <c:pt idx="295">
                    <c:v>2024-09</c:v>
                  </c:pt>
                  <c:pt idx="296">
                    <c:v>2024-10</c:v>
                  </c:pt>
                  <c:pt idx="297">
                    <c:v>2024-10</c:v>
                  </c:pt>
                  <c:pt idx="298">
                    <c:v>2024-10</c:v>
                  </c:pt>
                  <c:pt idx="299">
                    <c:v>2024-10</c:v>
                  </c:pt>
                  <c:pt idx="300">
                    <c:v>2024-10</c:v>
                  </c:pt>
                  <c:pt idx="301">
                    <c:v>2024-11</c:v>
                  </c:pt>
                  <c:pt idx="302">
                    <c:v>2024-11</c:v>
                  </c:pt>
                  <c:pt idx="303">
                    <c:v>2024-11</c:v>
                  </c:pt>
                  <c:pt idx="304">
                    <c:v>2024-11</c:v>
                  </c:pt>
                  <c:pt idx="305">
                    <c:v>2024-12</c:v>
                  </c:pt>
                  <c:pt idx="306">
                    <c:v>2024-12</c:v>
                  </c:pt>
                  <c:pt idx="307">
                    <c:v>2024-12</c:v>
                  </c:pt>
                  <c:pt idx="308">
                    <c:v>2024-12</c:v>
                  </c:pt>
                  <c:pt idx="309">
                    <c:v>2025-01</c:v>
                  </c:pt>
                  <c:pt idx="310">
                    <c:v>2025-01</c:v>
                  </c:pt>
                  <c:pt idx="311">
                    <c:v>2025-01</c:v>
                  </c:pt>
                  <c:pt idx="312">
                    <c:v>2025-01</c:v>
                  </c:pt>
                  <c:pt idx="313">
                    <c:v>2025-01</c:v>
                  </c:pt>
                  <c:pt idx="314">
                    <c:v>2025-02</c:v>
                  </c:pt>
                  <c:pt idx="315">
                    <c:v>2025-02</c:v>
                  </c:pt>
                  <c:pt idx="316">
                    <c:v>2025-02</c:v>
                  </c:pt>
                  <c:pt idx="317">
                    <c:v>2025-02</c:v>
                  </c:pt>
                  <c:pt idx="318">
                    <c:v>2025-03</c:v>
                  </c:pt>
                  <c:pt idx="319">
                    <c:v>2025-03</c:v>
                  </c:pt>
                  <c:pt idx="320">
                    <c:v>2025-03</c:v>
                  </c:pt>
                  <c:pt idx="321">
                    <c:v>2025-03</c:v>
                  </c:pt>
                  <c:pt idx="322">
                    <c:v>2025-04</c:v>
                  </c:pt>
                  <c:pt idx="323">
                    <c:v>2025-04</c:v>
                  </c:pt>
                  <c:pt idx="324">
                    <c:v>2025-04</c:v>
                  </c:pt>
                  <c:pt idx="325">
                    <c:v>2025-04</c:v>
                  </c:pt>
                  <c:pt idx="326">
                    <c:v>2025-05</c:v>
                  </c:pt>
                  <c:pt idx="327">
                    <c:v>2025-05</c:v>
                  </c:pt>
                  <c:pt idx="328">
                    <c:v>2025-05</c:v>
                  </c:pt>
                  <c:pt idx="329">
                    <c:v>2025-05</c:v>
                  </c:pt>
                  <c:pt idx="330">
                    <c:v>2025-05</c:v>
                  </c:pt>
                  <c:pt idx="331">
                    <c:v>2025-06</c:v>
                  </c:pt>
                  <c:pt idx="332">
                    <c:v>2025-06</c:v>
                  </c:pt>
                  <c:pt idx="333">
                    <c:v>2025-06</c:v>
                  </c:pt>
                  <c:pt idx="334">
                    <c:v>2025-06</c:v>
                  </c:pt>
                  <c:pt idx="335">
                    <c:v>2025-07</c:v>
                  </c:pt>
                  <c:pt idx="336">
                    <c:v>2025-07</c:v>
                  </c:pt>
                  <c:pt idx="337">
                    <c:v>2025-07</c:v>
                  </c:pt>
                  <c:pt idx="338">
                    <c:v>2025-07</c:v>
                  </c:pt>
                  <c:pt idx="339">
                    <c:v>2025-07</c:v>
                  </c:pt>
                  <c:pt idx="340">
                    <c:v>2025-08</c:v>
                  </c:pt>
                  <c:pt idx="341">
                    <c:v>2025-08</c:v>
                  </c:pt>
                  <c:pt idx="342">
                    <c:v>2025-08</c:v>
                  </c:pt>
                  <c:pt idx="343">
                    <c:v>2025-08</c:v>
                  </c:pt>
                  <c:pt idx="344">
                    <c:v>2025-09</c:v>
                  </c:pt>
                  <c:pt idx="345">
                    <c:v>2025-09</c:v>
                  </c:pt>
                  <c:pt idx="346">
                    <c:v>2025-09</c:v>
                  </c:pt>
                  <c:pt idx="347">
                    <c:v>2025-09</c:v>
                  </c:pt>
                  <c:pt idx="348">
                    <c:v>2025-10</c:v>
                  </c:pt>
                  <c:pt idx="349">
                    <c:v>2025-10</c:v>
                  </c:pt>
                  <c:pt idx="350">
                    <c:v>2025-10</c:v>
                  </c:pt>
                  <c:pt idx="351">
                    <c:v>2025-10</c:v>
                  </c:pt>
                  <c:pt idx="352">
                    <c:v>2025-10</c:v>
                  </c:pt>
                  <c:pt idx="353">
                    <c:v>2025-11</c:v>
                  </c:pt>
                  <c:pt idx="354">
                    <c:v>2025-11</c:v>
                  </c:pt>
                  <c:pt idx="355">
                    <c:v>2025-11</c:v>
                  </c:pt>
                  <c:pt idx="356">
                    <c:v>2025-11</c:v>
                  </c:pt>
                  <c:pt idx="357">
                    <c:v>2025-12</c:v>
                  </c:pt>
                  <c:pt idx="358">
                    <c:v>2025-12</c:v>
                  </c:pt>
                  <c:pt idx="359">
                    <c:v>2025-12</c:v>
                  </c:pt>
                  <c:pt idx="360">
                    <c:v>2025-12</c:v>
                  </c:pt>
                  <c:pt idx="361">
                    <c:v>2026-01</c:v>
                  </c:pt>
                  <c:pt idx="362">
                    <c:v>2026-01</c:v>
                  </c:pt>
                  <c:pt idx="363">
                    <c:v>2026-01</c:v>
                  </c:pt>
                  <c:pt idx="364">
                    <c:v>2026-01</c:v>
                  </c:pt>
                  <c:pt idx="365">
                    <c:v>2026-01</c:v>
                  </c:pt>
                  <c:pt idx="366">
                    <c:v>2026-02</c:v>
                  </c:pt>
                  <c:pt idx="367">
                    <c:v>2026-02</c:v>
                  </c:pt>
                  <c:pt idx="368">
                    <c:v>2026-02</c:v>
                  </c:pt>
                  <c:pt idx="369">
                    <c:v>2026-02</c:v>
                  </c:pt>
                  <c:pt idx="370">
                    <c:v>2026-03</c:v>
                  </c:pt>
                  <c:pt idx="371">
                    <c:v>2026-03</c:v>
                  </c:pt>
                  <c:pt idx="372">
                    <c:v>2026-03</c:v>
                  </c:pt>
                  <c:pt idx="373">
                    <c:v>2026-03</c:v>
                  </c:pt>
                  <c:pt idx="374">
                    <c:v>2026-04</c:v>
                  </c:pt>
                  <c:pt idx="375">
                    <c:v>2026-04</c:v>
                  </c:pt>
                  <c:pt idx="376">
                    <c:v>2026-04</c:v>
                  </c:pt>
                  <c:pt idx="377">
                    <c:v>2026-04</c:v>
                  </c:pt>
                  <c:pt idx="378">
                    <c:v>2026-04</c:v>
                  </c:pt>
                  <c:pt idx="379">
                    <c:v>2026-05</c:v>
                  </c:pt>
                  <c:pt idx="380">
                    <c:v>2026-05</c:v>
                  </c:pt>
                  <c:pt idx="381">
                    <c:v>2026-05</c:v>
                  </c:pt>
                  <c:pt idx="382">
                    <c:v>2026-05</c:v>
                  </c:pt>
                  <c:pt idx="383">
                    <c:v>2026-06</c:v>
                  </c:pt>
                  <c:pt idx="384">
                    <c:v>2026-06</c:v>
                  </c:pt>
                  <c:pt idx="385">
                    <c:v>2026-06</c:v>
                  </c:pt>
                  <c:pt idx="386">
                    <c:v>2026-06</c:v>
                  </c:pt>
                  <c:pt idx="387">
                    <c:v>2026-07</c:v>
                  </c:pt>
                  <c:pt idx="388">
                    <c:v>2026-07</c:v>
                  </c:pt>
                  <c:pt idx="389">
                    <c:v>2026-07</c:v>
                  </c:pt>
                  <c:pt idx="390">
                    <c:v>2026-07</c:v>
                  </c:pt>
                  <c:pt idx="391">
                    <c:v>2026-07</c:v>
                  </c:pt>
                  <c:pt idx="392">
                    <c:v>2026-08</c:v>
                  </c:pt>
                  <c:pt idx="393">
                    <c:v>2026-08</c:v>
                  </c:pt>
                  <c:pt idx="394">
                    <c:v>2026-08</c:v>
                  </c:pt>
                  <c:pt idx="395">
                    <c:v>2026-08</c:v>
                  </c:pt>
                  <c:pt idx="396">
                    <c:v>2026-09</c:v>
                  </c:pt>
                  <c:pt idx="397">
                    <c:v>2026-09</c:v>
                  </c:pt>
                  <c:pt idx="398">
                    <c:v>2026-09</c:v>
                  </c:pt>
                  <c:pt idx="399">
                    <c:v>2026-09</c:v>
                  </c:pt>
                  <c:pt idx="400">
                    <c:v>2026-10</c:v>
                  </c:pt>
                </c:lvl>
              </c:multiLvlStrCache>
            </c:multiLvlStrRef>
          </c:cat>
          <c:val>
            <c:numRef>
              <c:f>Sheet1!$D$2:$D$402</c:f>
              <c:numCache>
                <c:formatCode>General</c:formatCode>
                <c:ptCount val="401"/>
                <c:pt idx="0">
                  <c:v>100</c:v>
                </c:pt>
                <c:pt idx="1">
                  <c:v>123.3</c:v>
                </c:pt>
                <c:pt idx="2">
                  <c:v>140.1</c:v>
                </c:pt>
                <c:pt idx="3">
                  <c:v>167.4</c:v>
                </c:pt>
                <c:pt idx="4">
                  <c:v>165.4</c:v>
                </c:pt>
                <c:pt idx="5">
                  <c:v>241.6</c:v>
                </c:pt>
                <c:pt idx="6">
                  <c:v>240.1</c:v>
                </c:pt>
                <c:pt idx="7">
                  <c:v>231.6</c:v>
                </c:pt>
                <c:pt idx="8">
                  <c:v>268.1</c:v>
                </c:pt>
                <c:pt idx="9">
                  <c:v>305.4</c:v>
                </c:pt>
                <c:pt idx="10">
                  <c:v>282.4</c:v>
                </c:pt>
                <c:pt idx="11">
                  <c:v>351.6</c:v>
                </c:pt>
                <c:pt idx="12">
                  <c:v>354.8</c:v>
                </c:pt>
                <c:pt idx="13">
                  <c:v>376.4</c:v>
                </c:pt>
                <c:pt idx="14">
                  <c:v>300.4</c:v>
                </c:pt>
                <c:pt idx="15">
                  <c:v>420</c:v>
                </c:pt>
                <c:pt idx="16">
                  <c:v>502.8</c:v>
                </c:pt>
                <c:pt idx="17">
                  <c:v>515.1</c:v>
                </c:pt>
                <c:pt idx="18">
                  <c:v>502.2</c:v>
                </c:pt>
                <c:pt idx="19">
                  <c:v>560.6</c:v>
                </c:pt>
                <c:pt idx="20">
                  <c:v>585.9</c:v>
                </c:pt>
                <c:pt idx="21">
                  <c:v>539.6</c:v>
                </c:pt>
                <c:pt idx="22">
                  <c:v>524.7</c:v>
                </c:pt>
                <c:pt idx="23">
                  <c:v>472.9</c:v>
                </c:pt>
                <c:pt idx="24">
                  <c:v>461.4</c:v>
                </c:pt>
                <c:pt idx="25">
                  <c:v>462.7</c:v>
                </c:pt>
                <c:pt idx="26">
                  <c:v>459</c:v>
                </c:pt>
                <c:pt idx="27">
                  <c:v>491.9</c:v>
                </c:pt>
                <c:pt idx="28">
                  <c:v>447.4</c:v>
                </c:pt>
                <c:pt idx="29">
                  <c:v>432.2</c:v>
                </c:pt>
                <c:pt idx="30">
                  <c:v>349.2</c:v>
                </c:pt>
                <c:pt idx="31">
                  <c:v>363.1</c:v>
                </c:pt>
                <c:pt idx="32">
                  <c:v>333.8</c:v>
                </c:pt>
                <c:pt idx="33">
                  <c:v>344.8</c:v>
                </c:pt>
                <c:pt idx="34">
                  <c:v>246.6</c:v>
                </c:pt>
                <c:pt idx="35">
                  <c:v>250.9</c:v>
                </c:pt>
                <c:pt idx="36">
                  <c:v>280.3</c:v>
                </c:pt>
                <c:pt idx="37">
                  <c:v>296.3</c:v>
                </c:pt>
                <c:pt idx="38">
                  <c:v>269.5</c:v>
                </c:pt>
                <c:pt idx="39">
                  <c:v>319.1</c:v>
                </c:pt>
                <c:pt idx="40">
                  <c:v>329.4</c:v>
                </c:pt>
                <c:pt idx="41">
                  <c:v>339.2</c:v>
                </c:pt>
                <c:pt idx="42">
                  <c:v>268.7</c:v>
                </c:pt>
                <c:pt idx="43">
                  <c:v>250.2</c:v>
                </c:pt>
                <c:pt idx="44">
                  <c:v>251.5</c:v>
                </c:pt>
                <c:pt idx="45">
                  <c:v>236.4</c:v>
                </c:pt>
                <c:pt idx="46">
                  <c:v>214.5</c:v>
                </c:pt>
                <c:pt idx="47">
                  <c:v>210.7</c:v>
                </c:pt>
                <c:pt idx="48">
                  <c:v>207.8</c:v>
                </c:pt>
                <c:pt idx="49">
                  <c:v>231.3</c:v>
                </c:pt>
                <c:pt idx="50">
                  <c:v>272.4</c:v>
                </c:pt>
                <c:pt idx="51">
                  <c:v>271.5</c:v>
                </c:pt>
                <c:pt idx="52">
                  <c:v>296.6</c:v>
                </c:pt>
                <c:pt idx="53">
                  <c:v>328.6</c:v>
                </c:pt>
                <c:pt idx="54">
                  <c:v>405.8</c:v>
                </c:pt>
                <c:pt idx="55">
                  <c:v>354.6</c:v>
                </c:pt>
                <c:pt idx="56">
                  <c:v>305.1</c:v>
                </c:pt>
                <c:pt idx="57">
                  <c:v>331.9</c:v>
                </c:pt>
                <c:pt idx="58">
                  <c:v>153.2</c:v>
                </c:pt>
                <c:pt idx="59">
                  <c:v>195.9</c:v>
                </c:pt>
                <c:pt idx="60">
                  <c:v>210.9</c:v>
                </c:pt>
                <c:pt idx="61">
                  <c:v>208.5</c:v>
                </c:pt>
                <c:pt idx="62">
                  <c:v>240.3</c:v>
                </c:pt>
                <c:pt idx="63">
                  <c:v>250.5</c:v>
                </c:pt>
                <c:pt idx="64">
                  <c:v>255.3</c:v>
                </c:pt>
                <c:pt idx="65">
                  <c:v>271.7</c:v>
                </c:pt>
                <c:pt idx="66">
                  <c:v>271.4</c:v>
                </c:pt>
                <c:pt idx="67">
                  <c:v>261</c:v>
                </c:pt>
                <c:pt idx="68">
                  <c:v>257.2</c:v>
                </c:pt>
                <c:pt idx="69">
                  <c:v>272.1</c:v>
                </c:pt>
                <c:pt idx="70">
                  <c:v>280.2</c:v>
                </c:pt>
                <c:pt idx="71">
                  <c:v>260.2</c:v>
                </c:pt>
                <c:pt idx="72">
                  <c:v>258.6</c:v>
                </c:pt>
                <c:pt idx="73">
                  <c:v>254</c:v>
                </c:pt>
                <c:pt idx="74">
                  <c:v>247.9</c:v>
                </c:pt>
                <c:pt idx="75">
                  <c:v>269.4</c:v>
                </c:pt>
                <c:pt idx="76">
                  <c:v>273.5</c:v>
                </c:pt>
                <c:pt idx="77">
                  <c:v>297.9</c:v>
                </c:pt>
                <c:pt idx="78">
                  <c:v>319.3</c:v>
                </c:pt>
                <c:pt idx="79">
                  <c:v>362.3</c:v>
                </c:pt>
                <c:pt idx="80">
                  <c:v>352.2</c:v>
                </c:pt>
                <c:pt idx="81">
                  <c:v>368.4</c:v>
                </c:pt>
                <c:pt idx="82">
                  <c:v>368.2</c:v>
                </c:pt>
                <c:pt idx="83">
                  <c:v>328.9</c:v>
                </c:pt>
                <c:pt idx="84">
                  <c:v>391.8</c:v>
                </c:pt>
                <c:pt idx="85">
                  <c:v>430.6</c:v>
                </c:pt>
                <c:pt idx="86">
                  <c:v>392.7</c:v>
                </c:pt>
                <c:pt idx="87">
                  <c:v>437.6</c:v>
                </c:pt>
                <c:pt idx="88">
                  <c:v>442</c:v>
                </c:pt>
                <c:pt idx="89">
                  <c:v>499.3</c:v>
                </c:pt>
                <c:pt idx="90">
                  <c:v>489.1</c:v>
                </c:pt>
                <c:pt idx="91">
                  <c:v>476.1</c:v>
                </c:pt>
                <c:pt idx="92">
                  <c:v>441.5</c:v>
                </c:pt>
                <c:pt idx="93">
                  <c:v>440.5</c:v>
                </c:pt>
                <c:pt idx="94">
                  <c:v>448.2</c:v>
                </c:pt>
                <c:pt idx="95">
                  <c:v>450</c:v>
                </c:pt>
                <c:pt idx="96">
                  <c:v>489.8</c:v>
                </c:pt>
                <c:pt idx="97">
                  <c:v>441.8</c:v>
                </c:pt>
                <c:pt idx="98">
                  <c:v>481.5</c:v>
                </c:pt>
                <c:pt idx="99">
                  <c:v>518.5</c:v>
                </c:pt>
                <c:pt idx="100">
                  <c:v>596.3</c:v>
                </c:pt>
                <c:pt idx="101">
                  <c:v>693.1</c:v>
                </c:pt>
                <c:pt idx="102">
                  <c:v>666.7</c:v>
                </c:pt>
                <c:pt idx="103">
                  <c:v>616.5</c:v>
                </c:pt>
                <c:pt idx="104">
                  <c:v>678.5</c:v>
                </c:pt>
                <c:pt idx="105">
                  <c:v>892.2</c:v>
                </c:pt>
                <c:pt idx="106">
                  <c:v>1985.1</c:v>
                </c:pt>
                <c:pt idx="107">
                  <c:v>3125.7</c:v>
                </c:pt>
                <c:pt idx="108">
                  <c:v>3731.2</c:v>
                </c:pt>
                <c:pt idx="109">
                  <c:v>3668.3</c:v>
                </c:pt>
                <c:pt idx="110">
                  <c:v>4623</c:v>
                </c:pt>
                <c:pt idx="111">
                  <c:v>4175</c:v>
                </c:pt>
                <c:pt idx="112">
                  <c:v>3747.1</c:v>
                </c:pt>
                <c:pt idx="113">
                  <c:v>5347.6</c:v>
                </c:pt>
                <c:pt idx="114">
                  <c:v>6668.9</c:v>
                </c:pt>
                <c:pt idx="115">
                  <c:v>8656.6</c:v>
                </c:pt>
                <c:pt idx="116">
                  <c:v>8072.4</c:v>
                </c:pt>
                <c:pt idx="117">
                  <c:v>9567.1</c:v>
                </c:pt>
                <c:pt idx="118">
                  <c:v>10102.7</c:v>
                </c:pt>
                <c:pt idx="119">
                  <c:v>9116.1</c:v>
                </c:pt>
                <c:pt idx="120">
                  <c:v>6279.3</c:v>
                </c:pt>
                <c:pt idx="121">
                  <c:v>5865.2</c:v>
                </c:pt>
                <c:pt idx="122">
                  <c:v>6824.8</c:v>
                </c:pt>
                <c:pt idx="123">
                  <c:v>5618.4</c:v>
                </c:pt>
                <c:pt idx="124">
                  <c:v>5627.2</c:v>
                </c:pt>
                <c:pt idx="125">
                  <c:v>4919.8</c:v>
                </c:pt>
                <c:pt idx="126">
                  <c:v>4597.9</c:v>
                </c:pt>
                <c:pt idx="127">
                  <c:v>4952.2</c:v>
                </c:pt>
                <c:pt idx="128">
                  <c:v>5029.1</c:v>
                </c:pt>
                <c:pt idx="129">
                  <c:v>4684.4</c:v>
                </c:pt>
                <c:pt idx="130">
                  <c:v>5053.1</c:v>
                </c:pt>
                <c:pt idx="131">
                  <c:v>5390.1</c:v>
                </c:pt>
                <c:pt idx="132">
                  <c:v>6154.9</c:v>
                </c:pt>
                <c:pt idx="133">
                  <c:v>6875.5</c:v>
                </c:pt>
                <c:pt idx="134">
                  <c:v>7641.6</c:v>
                </c:pt>
                <c:pt idx="135">
                  <c:v>7720</c:v>
                </c:pt>
                <c:pt idx="136">
                  <c:v>6720.5</c:v>
                </c:pt>
                <c:pt idx="137">
                  <c:v>6774.4</c:v>
                </c:pt>
                <c:pt idx="138">
                  <c:v>6123.1</c:v>
                </c:pt>
                <c:pt idx="139">
                  <c:v>6174.7</c:v>
                </c:pt>
                <c:pt idx="140">
                  <c:v>6999.5</c:v>
                </c:pt>
                <c:pt idx="141">
                  <c:v>7530.1</c:v>
                </c:pt>
                <c:pt idx="142">
                  <c:v>7517.9</c:v>
                </c:pt>
                <c:pt idx="143">
                  <c:v>7849.1</c:v>
                </c:pt>
                <c:pt idx="144">
                  <c:v>8929.5</c:v>
                </c:pt>
                <c:pt idx="145">
                  <c:v>10048.6</c:v>
                </c:pt>
                <c:pt idx="146">
                  <c:v>8490.8</c:v>
                </c:pt>
                <c:pt idx="147">
                  <c:v>9631.3</c:v>
                </c:pt>
                <c:pt idx="148">
                  <c:v>9882.4</c:v>
                </c:pt>
                <c:pt idx="149">
                  <c:v>9119.5</c:v>
                </c:pt>
                <c:pt idx="150">
                  <c:v>8395.2</c:v>
                </c:pt>
                <c:pt idx="151">
                  <c:v>8753.8</c:v>
                </c:pt>
                <c:pt idx="152">
                  <c:v>8278.1</c:v>
                </c:pt>
                <c:pt idx="153">
                  <c:v>7550.1</c:v>
                </c:pt>
                <c:pt idx="154">
                  <c:v>7578.1</c:v>
                </c:pt>
                <c:pt idx="155">
                  <c:v>7019.4</c:v>
                </c:pt>
                <c:pt idx="156">
                  <c:v>6223.1</c:v>
                </c:pt>
                <c:pt idx="157">
                  <c:v>5916.6</c:v>
                </c:pt>
                <c:pt idx="158">
                  <c:v>6622.4</c:v>
                </c:pt>
                <c:pt idx="159">
                  <c:v>6420.3</c:v>
                </c:pt>
                <c:pt idx="160">
                  <c:v>5762.8</c:v>
                </c:pt>
                <c:pt idx="161">
                  <c:v>6421.9</c:v>
                </c:pt>
                <c:pt idx="162">
                  <c:v>5937</c:v>
                </c:pt>
                <c:pt idx="163">
                  <c:v>6250.8</c:v>
                </c:pt>
                <c:pt idx="164">
                  <c:v>6606.5</c:v>
                </c:pt>
                <c:pt idx="165">
                  <c:v>6842.5</c:v>
                </c:pt>
                <c:pt idx="166">
                  <c:v>6968.2</c:v>
                </c:pt>
                <c:pt idx="167">
                  <c:v>6615.1</c:v>
                </c:pt>
                <c:pt idx="168">
                  <c:v>6461.3</c:v>
                </c:pt>
                <c:pt idx="169">
                  <c:v>6488.4</c:v>
                </c:pt>
                <c:pt idx="170">
                  <c:v>6042.6</c:v>
                </c:pt>
                <c:pt idx="171">
                  <c:v>4297.8</c:v>
                </c:pt>
                <c:pt idx="172">
                  <c:v>4894.2</c:v>
                </c:pt>
                <c:pt idx="173">
                  <c:v>4865.1</c:v>
                </c:pt>
                <c:pt idx="174">
                  <c:v>4915.1</c:v>
                </c:pt>
                <c:pt idx="175">
                  <c:v>4625.1</c:v>
                </c:pt>
                <c:pt idx="176">
                  <c:v>3342.8</c:v>
                </c:pt>
                <c:pt idx="177">
                  <c:v>3652.5</c:v>
                </c:pt>
                <c:pt idx="178">
                  <c:v>3498.5</c:v>
                </c:pt>
                <c:pt idx="179">
                  <c:v>3853.3</c:v>
                </c:pt>
                <c:pt idx="180">
                  <c:v>3799.4</c:v>
                </c:pt>
                <c:pt idx="181">
                  <c:v>4234.9</c:v>
                </c:pt>
                <c:pt idx="182">
                  <c:v>4423.7</c:v>
                </c:pt>
                <c:pt idx="183">
                  <c:v>4956.7</c:v>
                </c:pt>
                <c:pt idx="184">
                  <c:v>5165.6</c:v>
                </c:pt>
                <c:pt idx="185">
                  <c:v>4756.2</c:v>
                </c:pt>
                <c:pt idx="186">
                  <c:v>4811.1</c:v>
                </c:pt>
                <c:pt idx="187">
                  <c:v>4441.6</c:v>
                </c:pt>
                <c:pt idx="188">
                  <c:v>4476</c:v>
                </c:pt>
                <c:pt idx="189">
                  <c:v>4320.2</c:v>
                </c:pt>
                <c:pt idx="190">
                  <c:v>4395</c:v>
                </c:pt>
                <c:pt idx="191">
                  <c:v>4527.3</c:v>
                </c:pt>
                <c:pt idx="192">
                  <c:v>4572.7</c:v>
                </c:pt>
                <c:pt idx="193">
                  <c:v>4336.8</c:v>
                </c:pt>
                <c:pt idx="194">
                  <c:v>4295.7</c:v>
                </c:pt>
                <c:pt idx="195">
                  <c:v>4576</c:v>
                </c:pt>
                <c:pt idx="196">
                  <c:v>5260</c:v>
                </c:pt>
                <c:pt idx="197">
                  <c:v>4851</c:v>
                </c:pt>
                <c:pt idx="198">
                  <c:v>4274</c:v>
                </c:pt>
                <c:pt idx="199">
                  <c:v>4792.7</c:v>
                </c:pt>
                <c:pt idx="200">
                  <c:v>4658.5</c:v>
                </c:pt>
                <c:pt idx="201">
                  <c:v>4634.9</c:v>
                </c:pt>
                <c:pt idx="202">
                  <c:v>4120.2</c:v>
                </c:pt>
                <c:pt idx="203">
                  <c:v>3922.7</c:v>
                </c:pt>
                <c:pt idx="204">
                  <c:v>3932.1</c:v>
                </c:pt>
                <c:pt idx="205">
                  <c:v>4090.7</c:v>
                </c:pt>
                <c:pt idx="206">
                  <c:v>4591.5</c:v>
                </c:pt>
                <c:pt idx="207">
                  <c:v>4703.8</c:v>
                </c:pt>
                <c:pt idx="208">
                  <c:v>4863.5</c:v>
                </c:pt>
                <c:pt idx="209">
                  <c:v>5158.4</c:v>
                </c:pt>
                <c:pt idx="210">
                  <c:v>4881</c:v>
                </c:pt>
                <c:pt idx="211">
                  <c:v>4861.9</c:v>
                </c:pt>
                <c:pt idx="212">
                  <c:v>4922</c:v>
                </c:pt>
                <c:pt idx="213">
                  <c:v>4785</c:v>
                </c:pt>
                <c:pt idx="214">
                  <c:v>4423.7</c:v>
                </c:pt>
                <c:pt idx="215">
                  <c:v>5262.3</c:v>
                </c:pt>
                <c:pt idx="216">
                  <c:v>5261.9</c:v>
                </c:pt>
                <c:pt idx="217">
                  <c:v>5050.2</c:v>
                </c:pt>
                <c:pt idx="218">
                  <c:v>4984.6</c:v>
                </c:pt>
                <c:pt idx="219">
                  <c:v>5183.9</c:v>
                </c:pt>
                <c:pt idx="220">
                  <c:v>5071.3</c:v>
                </c:pt>
                <c:pt idx="221">
                  <c:v>5283.5</c:v>
                </c:pt>
                <c:pt idx="222">
                  <c:v>5167.4</c:v>
                </c:pt>
                <c:pt idx="223">
                  <c:v>4908.7</c:v>
                </c:pt>
                <c:pt idx="224">
                  <c:v>4936.7</c:v>
                </c:pt>
                <c:pt idx="225">
                  <c:v>4861.4</c:v>
                </c:pt>
                <c:pt idx="226">
                  <c:v>4864.9</c:v>
                </c:pt>
                <c:pt idx="227">
                  <c:v>4182</c:v>
                </c:pt>
                <c:pt idx="228">
                  <c:v>3769.4</c:v>
                </c:pt>
                <c:pt idx="229">
                  <c:v>3841.3</c:v>
                </c:pt>
                <c:pt idx="230">
                  <c:v>3720.7</c:v>
                </c:pt>
                <c:pt idx="231">
                  <c:v>3706.2</c:v>
                </c:pt>
                <c:pt idx="232">
                  <c:v>4091.8</c:v>
                </c:pt>
                <c:pt idx="233">
                  <c:v>3872.3</c:v>
                </c:pt>
                <c:pt idx="234">
                  <c:v>3836.7</c:v>
                </c:pt>
                <c:pt idx="235">
                  <c:v>3845.6</c:v>
                </c:pt>
                <c:pt idx="236">
                  <c:v>3848.8</c:v>
                </c:pt>
                <c:pt idx="237">
                  <c:v>3486.3</c:v>
                </c:pt>
                <c:pt idx="238">
                  <c:v>3488.1</c:v>
                </c:pt>
                <c:pt idx="239">
                  <c:v>3455.4</c:v>
                </c:pt>
                <c:pt idx="240">
                  <c:v>3460</c:v>
                </c:pt>
                <c:pt idx="241">
                  <c:v>3386.5</c:v>
                </c:pt>
                <c:pt idx="242">
                  <c:v>3362.8</c:v>
                </c:pt>
                <c:pt idx="243">
                  <c:v>3431.1</c:v>
                </c:pt>
                <c:pt idx="244">
                  <c:v>3361</c:v>
                </c:pt>
                <c:pt idx="245">
                  <c:v>3274</c:v>
                </c:pt>
                <c:pt idx="246">
                  <c:v>3368.4</c:v>
                </c:pt>
                <c:pt idx="247">
                  <c:v>3561.3</c:v>
                </c:pt>
                <c:pt idx="248">
                  <c:v>3696.7</c:v>
                </c:pt>
                <c:pt idx="249">
                  <c:v>4012.3</c:v>
                </c:pt>
                <c:pt idx="250">
                  <c:v>3872.7</c:v>
                </c:pt>
                <c:pt idx="251">
                  <c:v>3729.3</c:v>
                </c:pt>
                <c:pt idx="252">
                  <c:v>3632.2</c:v>
                </c:pt>
                <c:pt idx="253">
                  <c:v>3716.7</c:v>
                </c:pt>
                <c:pt idx="254">
                  <c:v>4044.7</c:v>
                </c:pt>
                <c:pt idx="255">
                  <c:v>4327.2</c:v>
                </c:pt>
                <c:pt idx="256">
                  <c:v>5162.4</c:v>
                </c:pt>
                <c:pt idx="257">
                  <c:v>5162.4</c:v>
                </c:pt>
                <c:pt idx="258">
                  <c:v>4924.7</c:v>
                </c:pt>
                <c:pt idx="259">
                  <c:v>4997.9</c:v>
                </c:pt>
                <c:pt idx="260">
                  <c:v>4657</c:v>
                </c:pt>
                <c:pt idx="261">
                  <c:v>4788.7</c:v>
                </c:pt>
                <c:pt idx="262">
                  <c:v>5086.9</c:v>
                </c:pt>
                <c:pt idx="263">
                  <c:v>5658.7</c:v>
                </c:pt>
                <c:pt idx="264">
                  <c:v>6094.2</c:v>
                </c:pt>
                <c:pt idx="265">
                  <c:v>6377.6</c:v>
                </c:pt>
                <c:pt idx="266">
                  <c:v>7582.3</c:v>
                </c:pt>
                <c:pt idx="267">
                  <c:v>9619.4</c:v>
                </c:pt>
                <c:pt idx="268">
                  <c:v>8825.9</c:v>
                </c:pt>
                <c:pt idx="269">
                  <c:v>9304.9</c:v>
                </c:pt>
                <c:pt idx="270">
                  <c:v>9339.5</c:v>
                </c:pt>
                <c:pt idx="271">
                  <c:v>9649.8</c:v>
                </c:pt>
                <c:pt idx="272">
                  <c:v>8808.8</c:v>
                </c:pt>
                <c:pt idx="273">
                  <c:v>9795.2</c:v>
                </c:pt>
                <c:pt idx="274">
                  <c:v>8942.1</c:v>
                </c:pt>
                <c:pt idx="275">
                  <c:v>9508.5</c:v>
                </c:pt>
                <c:pt idx="276">
                  <c:v>9080.3</c:v>
                </c:pt>
                <c:pt idx="277">
                  <c:v>9550.6</c:v>
                </c:pt>
                <c:pt idx="278">
                  <c:v>9492.4</c:v>
                </c:pt>
                <c:pt idx="279">
                  <c:v>11334</c:v>
                </c:pt>
                <c:pt idx="280">
                  <c:v>9564</c:v>
                </c:pt>
                <c:pt idx="281">
                  <c:v>9366.1</c:v>
                </c:pt>
                <c:pt idx="282">
                  <c:v>9265.4</c:v>
                </c:pt>
                <c:pt idx="283">
                  <c:v>8199.7</c:v>
                </c:pt>
                <c:pt idx="284">
                  <c:v>8377.5</c:v>
                </c:pt>
                <c:pt idx="285">
                  <c:v>9124.3</c:v>
                </c:pt>
                <c:pt idx="286">
                  <c:v>9104.6</c:v>
                </c:pt>
                <c:pt idx="287">
                  <c:v>9175.3</c:v>
                </c:pt>
                <c:pt idx="288">
                  <c:v>8253.1</c:v>
                </c:pt>
                <c:pt idx="289">
                  <c:v>8293.5</c:v>
                </c:pt>
                <c:pt idx="290">
                  <c:v>9301.4</c:v>
                </c:pt>
                <c:pt idx="291">
                  <c:v>8560.8</c:v>
                </c:pt>
                <c:pt idx="292">
                  <c:v>8009.5</c:v>
                </c:pt>
                <c:pt idx="293">
                  <c:v>8683.2</c:v>
                </c:pt>
                <c:pt idx="294">
                  <c:v>9032.9</c:v>
                </c:pt>
                <c:pt idx="295">
                  <c:v>9520.3</c:v>
                </c:pt>
                <c:pt idx="296">
                  <c:v>8685.2</c:v>
                </c:pt>
                <c:pt idx="297">
                  <c:v>8977.1</c:v>
                </c:pt>
                <c:pt idx="298">
                  <c:v>9444.8</c:v>
                </c:pt>
                <c:pt idx="299">
                  <c:v>9478.5</c:v>
                </c:pt>
                <c:pt idx="300">
                  <c:v>9189.4</c:v>
                </c:pt>
                <c:pt idx="301">
                  <c:v>9546.8</c:v>
                </c:pt>
                <c:pt idx="302">
                  <c:v>9917.6</c:v>
                </c:pt>
                <c:pt idx="303">
                  <c:v>9935.9</c:v>
                </c:pt>
                <c:pt idx="304">
                  <c:v>10439</c:v>
                </c:pt>
                <c:pt idx="305">
                  <c:v>11395.5</c:v>
                </c:pt>
                <c:pt idx="306">
                  <c:v>11261.9</c:v>
                </c:pt>
                <c:pt idx="307">
                  <c:v>10633.7</c:v>
                </c:pt>
                <c:pt idx="308">
                  <c:v>10981.4</c:v>
                </c:pt>
                <c:pt idx="309">
                  <c:v>11257.7</c:v>
                </c:pt>
                <c:pt idx="310">
                  <c:v>10929.7</c:v>
                </c:pt>
                <c:pt idx="311">
                  <c:v>11299.4</c:v>
                </c:pt>
                <c:pt idx="312">
                  <c:v>11010.8</c:v>
                </c:pt>
                <c:pt idx="313">
                  <c:v>10809</c:v>
                </c:pt>
                <c:pt idx="314">
                  <c:v>9129.5</c:v>
                </c:pt>
                <c:pt idx="315">
                  <c:v>10661</c:v>
                </c:pt>
                <c:pt idx="316">
                  <c:v>10484.3</c:v>
                </c:pt>
                <c:pt idx="317">
                  <c:v>9653.5</c:v>
                </c:pt>
                <c:pt idx="318">
                  <c:v>9519.5</c:v>
                </c:pt>
                <c:pt idx="319">
                  <c:v>9240.2</c:v>
                </c:pt>
                <c:pt idx="320">
                  <c:v>10049.4</c:v>
                </c:pt>
                <c:pt idx="321">
                  <c:v>10165.3</c:v>
                </c:pt>
                <c:pt idx="322">
                  <c:v>9446.1</c:v>
                </c:pt>
                <c:pt idx="323">
                  <c:v>9211.3</c:v>
                </c:pt>
                <c:pt idx="324">
                  <c:v>9414.8</c:v>
                </c:pt>
                <c:pt idx="325">
                  <c:v>9599.1</c:v>
                </c:pt>
                <c:pt idx="326">
                  <c:v>9570.5</c:v>
                </c:pt>
                <c:pt idx="327">
                  <c:v>10029</c:v>
                </c:pt>
                <c:pt idx="328">
                  <c:v>10389.6</c:v>
                </c:pt>
                <c:pt idx="329">
                  <c:v>10947.5</c:v>
                </c:pt>
                <c:pt idx="330">
                  <c:v>10771</c:v>
                </c:pt>
                <c:pt idx="331">
                  <c:v>10115</c:v>
                </c:pt>
                <c:pt idx="332">
                  <c:v>10469</c:v>
                </c:pt>
                <c:pt idx="333">
                  <c:v>10284.6</c:v>
                </c:pt>
                <c:pt idx="334">
                  <c:v>10248.4</c:v>
                </c:pt>
                <c:pt idx="335">
                  <c:v>10582</c:v>
                </c:pt>
                <c:pt idx="336">
                  <c:v>10938.3</c:v>
                </c:pt>
                <c:pt idx="337">
                  <c:v>11505.5</c:v>
                </c:pt>
                <c:pt idx="338">
                  <c:v>12303.5</c:v>
                </c:pt>
                <c:pt idx="339">
                  <c:v>12501.8</c:v>
                </c:pt>
                <c:pt idx="340">
                  <c:v>12574.1</c:v>
                </c:pt>
                <c:pt idx="341">
                  <c:v>13415.3</c:v>
                </c:pt>
                <c:pt idx="342">
                  <c:v>13385.2</c:v>
                </c:pt>
                <c:pt idx="343">
                  <c:v>13948.7</c:v>
                </c:pt>
                <c:pt idx="344">
                  <c:v>13461.1</c:v>
                </c:pt>
                <c:pt idx="345">
                  <c:v>14405.2</c:v>
                </c:pt>
                <c:pt idx="346">
                  <c:v>15663.2</c:v>
                </c:pt>
                <c:pt idx="347">
                  <c:v>15086.9</c:v>
                </c:pt>
                <c:pt idx="348">
                  <c:v>17399.2</c:v>
                </c:pt>
                <c:pt idx="349">
                  <c:v>20035.2</c:v>
                </c:pt>
                <c:pt idx="350">
                  <c:v>18279.3</c:v>
                </c:pt>
                <c:pt idx="351">
                  <c:v>17988.1</c:v>
                </c:pt>
                <c:pt idx="352">
                  <c:v>17207</c:v>
                </c:pt>
                <c:pt idx="353">
                  <c:v>15142.2</c:v>
                </c:pt>
                <c:pt idx="354">
                  <c:v>14805.1</c:v>
                </c:pt>
                <c:pt idx="355">
                  <c:v>13820.7</c:v>
                </c:pt>
                <c:pt idx="356">
                  <c:v>14286.8</c:v>
                </c:pt>
                <c:pt idx="357">
                  <c:v>14358.7</c:v>
                </c:pt>
                <c:pt idx="358">
                  <c:v>14137</c:v>
                </c:pt>
                <c:pt idx="359">
                  <c:v>13229.8</c:v>
                </c:pt>
                <c:pt idx="360">
                  <c:v>13231.8</c:v>
                </c:pt>
                <c:pt idx="361">
                  <c:v>13768.3</c:v>
                </c:pt>
                <c:pt idx="362">
                  <c:v>14226.1</c:v>
                </c:pt>
                <c:pt idx="363">
                  <c:v>14850.2</c:v>
                </c:pt>
                <c:pt idx="364">
                  <c:v>14149.8</c:v>
                </c:pt>
                <c:pt idx="365">
                  <c:v>13832.8</c:v>
                </c:pt>
                <c:pt idx="366">
                  <c:v>9676.1</c:v>
                </c:pt>
                <c:pt idx="367">
                  <c:v>9790.5</c:v>
                </c:pt>
                <c:pt idx="368">
                  <c:v>9686</c:v>
                </c:pt>
                <c:pt idx="369">
                  <c:v>9985.2</c:v>
                </c:pt>
                <c:pt idx="370">
                  <c:v>10331.5</c:v>
                </c:pt>
                <c:pt idx="371">
                  <c:v>10403.5</c:v>
                </c:pt>
                <c:pt idx="372">
                  <c:v>10198.2</c:v>
                </c:pt>
                <c:pt idx="373">
                  <c:v>10034.3</c:v>
                </c:pt>
                <c:pt idx="374">
                  <c:v>9302.7</c:v>
                </c:pt>
                <c:pt idx="375">
                  <c:v>9616.9</c:v>
                </c:pt>
                <c:pt idx="376">
                  <c:v>10139.4</c:v>
                </c:pt>
                <c:pt idx="377">
                  <c:v>10189.6</c:v>
                </c:pt>
                <c:pt idx="378">
                  <c:v>9812.1</c:v>
                </c:pt>
                <c:pt idx="379">
                  <c:v>10162.4</c:v>
                </c:pt>
                <c:pt idx="380">
                  <c:v>10815.1</c:v>
                </c:pt>
                <c:pt idx="381">
                  <c:v>10486.7</c:v>
                </c:pt>
                <c:pt idx="382">
                  <c:v>10169.9</c:v>
                </c:pt>
                <c:pt idx="383">
                  <c:v>9628.2</c:v>
                </c:pt>
                <c:pt idx="384">
                  <c:v>9652.2</c:v>
                </c:pt>
                <c:pt idx="385">
                  <c:v>9221</c:v>
                </c:pt>
                <c:pt idx="386">
                  <c:v>8930.4</c:v>
                </c:pt>
                <c:pt idx="387">
                  <c:v>8902</c:v>
                </c:pt>
                <c:pt idx="388">
                  <c:v>9068.7</c:v>
                </c:pt>
                <c:pt idx="389">
                  <c:v>9128.2</c:v>
                </c:pt>
                <c:pt idx="390">
                  <c:v>9044.4</c:v>
                </c:pt>
                <c:pt idx="391">
                  <c:v>9444.3</c:v>
                </c:pt>
                <c:pt idx="392">
                  <c:v>9438.6</c:v>
                </c:pt>
                <c:pt idx="393">
                  <c:v>9731.9</c:v>
                </c:pt>
                <c:pt idx="394">
                  <c:v>10447.7</c:v>
                </c:pt>
                <c:pt idx="395">
                  <c:v>11361.2</c:v>
                </c:pt>
                <c:pt idx="396">
                  <c:v>11565.8</c:v>
                </c:pt>
                <c:pt idx="397">
                  <c:v>11312.8</c:v>
                </c:pt>
                <c:pt idx="398">
                  <c:v>11773.3</c:v>
                </c:pt>
                <c:pt idx="399">
                  <c:v>12387.4</c:v>
                </c:pt>
                <c:pt idx="400">
                  <c:v>12302.7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logBase val="10"/>
          <c:orientation val="minMax"/>
          <c:max val="100000"/>
          <c:min val="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3272D"/>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72D"/>
                </a:solidFill>
                <a:latin typeface="+mn-lt"/>
              </a:defRPr>
            </a:pPr>
            <a:r>
              <a:rPr sz="1300" b="0" i="0" u="none" strike="noStrike">
                <a:solidFill>
                  <a:srgbClr val="13272D"/>
                </a:solidFill>
                <a:latin typeface="+mn-lt"/>
              </a:rPr>
              <a:t>Normalized prices, base 100 on 31 Jan 2019 (log scale)</a:t>
            </a:r>
          </a:p>
        </c:rich>
      </c:tx>
      <c:layout/>
      <c:overlay val="0"/>
    </c:title>
    <c:autoTitleDeleted val="0"/>
    <c:plotArea>
      <c:layout/>
      <c:scatterChart>
        <c:scatterStyle val="lineMarker"/>
        <c:varyColors val="0"/>
        <c:ser>
          <c:idx val="0"/>
          <c:order val="0"/>
          <c:tx>
            <c:strRef>
              <c:f>Sheet1!$B$1</c:f>
              <c:strCache>
                <c:ptCount val="1"/>
                <c:pt idx="0">
                  <c:v>Bitcoin</c:v>
                </c:pt>
              </c:strCache>
            </c:strRef>
          </c:tx>
          <c:spPr>
            <a:solidFill>
              <a:srgbClr val="A8702A"/>
            </a:solidFill>
            <a:ln w="22225" cap="flat">
              <a:solidFill>
                <a:srgbClr val="A8702A"/>
              </a:solidFill>
              <a:prstDash val="solid"/>
              <a:round/>
            </a:ln>
            <a:effectLst/>
          </c:spPr>
          <c:marker>
            <c:symbol val="none"/>
            <c:size val="6"/>
            <c:spPr>
              <a:solidFill>
                <a:srgbClr val="A8702A"/>
              </a:solidFill>
              <a:ln w="9525" cap="flat">
                <a:solidFill>
                  <a:srgbClr val="A8702A"/>
                </a:solidFill>
                <a:prstDash val="solid"/>
                <a:round/>
              </a:ln>
              <a:effectLst/>
            </c:spPr>
          </c:marker>
          <c:xVal>
            <c:numRef>
              <c:f>Sheet1!$A$2:$A$402</c:f>
              <c:numCache>
                <c:formatCode>General</c:formatCode>
                <c:ptCount val="401"/>
                <c:pt idx="0">
                  <c:v>2019.08</c:v>
                </c:pt>
                <c:pt idx="1">
                  <c:v>2019.099</c:v>
                </c:pt>
                <c:pt idx="2">
                  <c:v>2019.118</c:v>
                </c:pt>
                <c:pt idx="3">
                  <c:v>2019.137</c:v>
                </c:pt>
                <c:pt idx="4">
                  <c:v>2019.157</c:v>
                </c:pt>
                <c:pt idx="5">
                  <c:v>2019.176</c:v>
                </c:pt>
                <c:pt idx="6">
                  <c:v>2019.195</c:v>
                </c:pt>
                <c:pt idx="7">
                  <c:v>2019.214</c:v>
                </c:pt>
                <c:pt idx="8">
                  <c:v>2019.233</c:v>
                </c:pt>
                <c:pt idx="9">
                  <c:v>2019.252</c:v>
                </c:pt>
                <c:pt idx="10">
                  <c:v>2019.272</c:v>
                </c:pt>
                <c:pt idx="11">
                  <c:v>2019.291</c:v>
                </c:pt>
                <c:pt idx="12">
                  <c:v>2019.31</c:v>
                </c:pt>
                <c:pt idx="13">
                  <c:v>2019.329</c:v>
                </c:pt>
                <c:pt idx="14">
                  <c:v>2019.348</c:v>
                </c:pt>
                <c:pt idx="15">
                  <c:v>2019.367</c:v>
                </c:pt>
                <c:pt idx="16">
                  <c:v>2019.387</c:v>
                </c:pt>
                <c:pt idx="17">
                  <c:v>2019.406</c:v>
                </c:pt>
                <c:pt idx="18">
                  <c:v>2019.425</c:v>
                </c:pt>
                <c:pt idx="19">
                  <c:v>2019.444</c:v>
                </c:pt>
                <c:pt idx="20">
                  <c:v>2019.463</c:v>
                </c:pt>
                <c:pt idx="21">
                  <c:v>2019.482</c:v>
                </c:pt>
                <c:pt idx="22">
                  <c:v>2019.502</c:v>
                </c:pt>
                <c:pt idx="23">
                  <c:v>2019.521</c:v>
                </c:pt>
                <c:pt idx="24">
                  <c:v>2019.54</c:v>
                </c:pt>
                <c:pt idx="25">
                  <c:v>2019.559</c:v>
                </c:pt>
                <c:pt idx="26">
                  <c:v>2019.578</c:v>
                </c:pt>
                <c:pt idx="27">
                  <c:v>2019.597</c:v>
                </c:pt>
                <c:pt idx="28">
                  <c:v>2019.617</c:v>
                </c:pt>
                <c:pt idx="29">
                  <c:v>2019.636</c:v>
                </c:pt>
                <c:pt idx="30">
                  <c:v>2019.655</c:v>
                </c:pt>
                <c:pt idx="31">
                  <c:v>2019.674</c:v>
                </c:pt>
                <c:pt idx="32">
                  <c:v>2019.693</c:v>
                </c:pt>
                <c:pt idx="33">
                  <c:v>2019.712</c:v>
                </c:pt>
                <c:pt idx="34">
                  <c:v>2019.732</c:v>
                </c:pt>
                <c:pt idx="35">
                  <c:v>2019.751</c:v>
                </c:pt>
                <c:pt idx="36">
                  <c:v>2019.77</c:v>
                </c:pt>
                <c:pt idx="37">
                  <c:v>2019.789</c:v>
                </c:pt>
                <c:pt idx="38">
                  <c:v>2019.808</c:v>
                </c:pt>
                <c:pt idx="39">
                  <c:v>2019.827</c:v>
                </c:pt>
                <c:pt idx="40">
                  <c:v>2019.847</c:v>
                </c:pt>
                <c:pt idx="41">
                  <c:v>2019.866</c:v>
                </c:pt>
                <c:pt idx="42">
                  <c:v>2019.885</c:v>
                </c:pt>
                <c:pt idx="43">
                  <c:v>2019.904</c:v>
                </c:pt>
                <c:pt idx="44">
                  <c:v>2019.923</c:v>
                </c:pt>
                <c:pt idx="45">
                  <c:v>2019.942</c:v>
                </c:pt>
                <c:pt idx="46">
                  <c:v>2019.962</c:v>
                </c:pt>
                <c:pt idx="47">
                  <c:v>2019.981</c:v>
                </c:pt>
                <c:pt idx="48">
                  <c:v>2020</c:v>
                </c:pt>
                <c:pt idx="49">
                  <c:v>2020.019</c:v>
                </c:pt>
                <c:pt idx="50">
                  <c:v>2020.038</c:v>
                </c:pt>
                <c:pt idx="51">
                  <c:v>2020.057</c:v>
                </c:pt>
                <c:pt idx="52">
                  <c:v>2020.077</c:v>
                </c:pt>
                <c:pt idx="53">
                  <c:v>2020.096</c:v>
                </c:pt>
                <c:pt idx="54">
                  <c:v>2020.115</c:v>
                </c:pt>
                <c:pt idx="55">
                  <c:v>2020.134</c:v>
                </c:pt>
                <c:pt idx="56">
                  <c:v>2020.153</c:v>
                </c:pt>
                <c:pt idx="57">
                  <c:v>2020.172</c:v>
                </c:pt>
                <c:pt idx="58">
                  <c:v>2020.192</c:v>
                </c:pt>
                <c:pt idx="59">
                  <c:v>2020.211</c:v>
                </c:pt>
                <c:pt idx="60">
                  <c:v>2020.23</c:v>
                </c:pt>
                <c:pt idx="61">
                  <c:v>2020.249</c:v>
                </c:pt>
                <c:pt idx="62">
                  <c:v>2020.268</c:v>
                </c:pt>
                <c:pt idx="63">
                  <c:v>2020.287</c:v>
                </c:pt>
                <c:pt idx="64">
                  <c:v>2020.307</c:v>
                </c:pt>
                <c:pt idx="65">
                  <c:v>2020.326</c:v>
                </c:pt>
                <c:pt idx="66">
                  <c:v>2020.345</c:v>
                </c:pt>
                <c:pt idx="67">
                  <c:v>2020.364</c:v>
                </c:pt>
                <c:pt idx="68">
                  <c:v>2020.383</c:v>
                </c:pt>
                <c:pt idx="69">
                  <c:v>2020.402</c:v>
                </c:pt>
                <c:pt idx="70">
                  <c:v>2020.422</c:v>
                </c:pt>
                <c:pt idx="71">
                  <c:v>2020.441</c:v>
                </c:pt>
                <c:pt idx="72">
                  <c:v>2020.46</c:v>
                </c:pt>
                <c:pt idx="73">
                  <c:v>2020.479</c:v>
                </c:pt>
                <c:pt idx="74">
                  <c:v>2020.498</c:v>
                </c:pt>
                <c:pt idx="75">
                  <c:v>2020.517</c:v>
                </c:pt>
                <c:pt idx="76">
                  <c:v>2020.537</c:v>
                </c:pt>
                <c:pt idx="77">
                  <c:v>2020.556</c:v>
                </c:pt>
                <c:pt idx="78">
                  <c:v>2020.575</c:v>
                </c:pt>
                <c:pt idx="79">
                  <c:v>2020.594</c:v>
                </c:pt>
                <c:pt idx="80">
                  <c:v>2020.613</c:v>
                </c:pt>
                <c:pt idx="81">
                  <c:v>2020.632</c:v>
                </c:pt>
                <c:pt idx="82">
                  <c:v>2020.652</c:v>
                </c:pt>
                <c:pt idx="83">
                  <c:v>2020.671</c:v>
                </c:pt>
                <c:pt idx="84">
                  <c:v>2020.69</c:v>
                </c:pt>
                <c:pt idx="85">
                  <c:v>2020.709</c:v>
                </c:pt>
                <c:pt idx="86">
                  <c:v>2020.728</c:v>
                </c:pt>
                <c:pt idx="87">
                  <c:v>2020.747</c:v>
                </c:pt>
                <c:pt idx="88">
                  <c:v>2020.767</c:v>
                </c:pt>
                <c:pt idx="89">
                  <c:v>2020.786</c:v>
                </c:pt>
                <c:pt idx="90">
                  <c:v>2020.805</c:v>
                </c:pt>
                <c:pt idx="91">
                  <c:v>2020.824</c:v>
                </c:pt>
                <c:pt idx="92">
                  <c:v>2020.843</c:v>
                </c:pt>
                <c:pt idx="93">
                  <c:v>2020.862</c:v>
                </c:pt>
                <c:pt idx="94">
                  <c:v>2020.882</c:v>
                </c:pt>
                <c:pt idx="95">
                  <c:v>2020.901</c:v>
                </c:pt>
                <c:pt idx="96">
                  <c:v>2020.92</c:v>
                </c:pt>
                <c:pt idx="97">
                  <c:v>2020.939</c:v>
                </c:pt>
                <c:pt idx="98">
                  <c:v>2020.958</c:v>
                </c:pt>
                <c:pt idx="99">
                  <c:v>2020.977</c:v>
                </c:pt>
                <c:pt idx="100">
                  <c:v>2020.996</c:v>
                </c:pt>
                <c:pt idx="101">
                  <c:v>2021.016</c:v>
                </c:pt>
                <c:pt idx="102">
                  <c:v>2021.035</c:v>
                </c:pt>
                <c:pt idx="103">
                  <c:v>2021.054</c:v>
                </c:pt>
                <c:pt idx="104">
                  <c:v>2021.073</c:v>
                </c:pt>
                <c:pt idx="105">
                  <c:v>2021.092</c:v>
                </c:pt>
                <c:pt idx="106">
                  <c:v>2021.111</c:v>
                </c:pt>
                <c:pt idx="107">
                  <c:v>2021.131</c:v>
                </c:pt>
                <c:pt idx="108">
                  <c:v>2021.15</c:v>
                </c:pt>
                <c:pt idx="109">
                  <c:v>2021.169</c:v>
                </c:pt>
                <c:pt idx="110">
                  <c:v>2021.188</c:v>
                </c:pt>
                <c:pt idx="111">
                  <c:v>2021.207</c:v>
                </c:pt>
                <c:pt idx="112">
                  <c:v>2021.226</c:v>
                </c:pt>
                <c:pt idx="113">
                  <c:v>2021.246</c:v>
                </c:pt>
                <c:pt idx="114">
                  <c:v>2021.265</c:v>
                </c:pt>
                <c:pt idx="115">
                  <c:v>2021.284</c:v>
                </c:pt>
                <c:pt idx="116">
                  <c:v>2021.303</c:v>
                </c:pt>
                <c:pt idx="117">
                  <c:v>2021.322</c:v>
                </c:pt>
                <c:pt idx="118">
                  <c:v>2021.341</c:v>
                </c:pt>
                <c:pt idx="119">
                  <c:v>2021.361</c:v>
                </c:pt>
                <c:pt idx="120">
                  <c:v>2021.38</c:v>
                </c:pt>
                <c:pt idx="121">
                  <c:v>2021.399</c:v>
                </c:pt>
                <c:pt idx="122">
                  <c:v>2021.418</c:v>
                </c:pt>
                <c:pt idx="123">
                  <c:v>2021.437</c:v>
                </c:pt>
                <c:pt idx="124">
                  <c:v>2021.456</c:v>
                </c:pt>
                <c:pt idx="125">
                  <c:v>2021.476</c:v>
                </c:pt>
                <c:pt idx="126">
                  <c:v>2021.495</c:v>
                </c:pt>
                <c:pt idx="127">
                  <c:v>2021.514</c:v>
                </c:pt>
                <c:pt idx="128">
                  <c:v>2021.533</c:v>
                </c:pt>
                <c:pt idx="129">
                  <c:v>2021.552</c:v>
                </c:pt>
                <c:pt idx="130">
                  <c:v>2021.571</c:v>
                </c:pt>
                <c:pt idx="131">
                  <c:v>2021.591</c:v>
                </c:pt>
                <c:pt idx="132">
                  <c:v>2021.61</c:v>
                </c:pt>
                <c:pt idx="133">
                  <c:v>2021.629</c:v>
                </c:pt>
                <c:pt idx="134">
                  <c:v>2021.648</c:v>
                </c:pt>
                <c:pt idx="135">
                  <c:v>2021.667</c:v>
                </c:pt>
                <c:pt idx="136">
                  <c:v>2021.686</c:v>
                </c:pt>
                <c:pt idx="137">
                  <c:v>2021.706</c:v>
                </c:pt>
                <c:pt idx="138">
                  <c:v>2021.725</c:v>
                </c:pt>
                <c:pt idx="139">
                  <c:v>2021.744</c:v>
                </c:pt>
                <c:pt idx="140">
                  <c:v>2021.763</c:v>
                </c:pt>
                <c:pt idx="141">
                  <c:v>2021.782</c:v>
                </c:pt>
                <c:pt idx="142">
                  <c:v>2021.801</c:v>
                </c:pt>
                <c:pt idx="143">
                  <c:v>2021.821</c:v>
                </c:pt>
                <c:pt idx="144">
                  <c:v>2021.84</c:v>
                </c:pt>
                <c:pt idx="145">
                  <c:v>2021.859</c:v>
                </c:pt>
                <c:pt idx="146">
                  <c:v>2021.878</c:v>
                </c:pt>
                <c:pt idx="147">
                  <c:v>2021.897</c:v>
                </c:pt>
                <c:pt idx="148">
                  <c:v>2021.916</c:v>
                </c:pt>
                <c:pt idx="149">
                  <c:v>2021.936</c:v>
                </c:pt>
                <c:pt idx="150">
                  <c:v>2021.955</c:v>
                </c:pt>
                <c:pt idx="151">
                  <c:v>2021.974</c:v>
                </c:pt>
                <c:pt idx="152">
                  <c:v>2021.993</c:v>
                </c:pt>
                <c:pt idx="153">
                  <c:v>2022.012</c:v>
                </c:pt>
                <c:pt idx="154">
                  <c:v>2022.031</c:v>
                </c:pt>
                <c:pt idx="155">
                  <c:v>2022.051</c:v>
                </c:pt>
                <c:pt idx="156">
                  <c:v>2022.07</c:v>
                </c:pt>
                <c:pt idx="157">
                  <c:v>2022.089</c:v>
                </c:pt>
                <c:pt idx="158">
                  <c:v>2022.108</c:v>
                </c:pt>
                <c:pt idx="159">
                  <c:v>2022.127</c:v>
                </c:pt>
                <c:pt idx="160">
                  <c:v>2022.146</c:v>
                </c:pt>
                <c:pt idx="161">
                  <c:v>2022.166</c:v>
                </c:pt>
                <c:pt idx="162">
                  <c:v>2022.185</c:v>
                </c:pt>
                <c:pt idx="163">
                  <c:v>2022.204</c:v>
                </c:pt>
                <c:pt idx="164">
                  <c:v>2022.223</c:v>
                </c:pt>
                <c:pt idx="165">
                  <c:v>2022.242</c:v>
                </c:pt>
                <c:pt idx="166">
                  <c:v>2022.261</c:v>
                </c:pt>
                <c:pt idx="167">
                  <c:v>2022.281</c:v>
                </c:pt>
                <c:pt idx="168">
                  <c:v>2022.3</c:v>
                </c:pt>
                <c:pt idx="169">
                  <c:v>2022.319</c:v>
                </c:pt>
                <c:pt idx="170">
                  <c:v>2022.338</c:v>
                </c:pt>
                <c:pt idx="171">
                  <c:v>2022.357</c:v>
                </c:pt>
                <c:pt idx="172">
                  <c:v>2022.376</c:v>
                </c:pt>
                <c:pt idx="173">
                  <c:v>2022.396</c:v>
                </c:pt>
                <c:pt idx="174">
                  <c:v>2022.415</c:v>
                </c:pt>
                <c:pt idx="175">
                  <c:v>2022.434</c:v>
                </c:pt>
                <c:pt idx="176">
                  <c:v>2022.453</c:v>
                </c:pt>
                <c:pt idx="177">
                  <c:v>2022.472</c:v>
                </c:pt>
                <c:pt idx="178">
                  <c:v>2022.491</c:v>
                </c:pt>
                <c:pt idx="179">
                  <c:v>2022.511</c:v>
                </c:pt>
                <c:pt idx="180">
                  <c:v>2022.53</c:v>
                </c:pt>
                <c:pt idx="181">
                  <c:v>2022.549</c:v>
                </c:pt>
                <c:pt idx="182">
                  <c:v>2022.568</c:v>
                </c:pt>
                <c:pt idx="183">
                  <c:v>2022.587</c:v>
                </c:pt>
                <c:pt idx="184">
                  <c:v>2022.606</c:v>
                </c:pt>
                <c:pt idx="185">
                  <c:v>2022.626</c:v>
                </c:pt>
                <c:pt idx="186">
                  <c:v>2022.645</c:v>
                </c:pt>
                <c:pt idx="187">
                  <c:v>2022.664</c:v>
                </c:pt>
                <c:pt idx="188">
                  <c:v>2022.683</c:v>
                </c:pt>
                <c:pt idx="189">
                  <c:v>2022.702</c:v>
                </c:pt>
                <c:pt idx="190">
                  <c:v>2022.721</c:v>
                </c:pt>
                <c:pt idx="191">
                  <c:v>2022.741</c:v>
                </c:pt>
                <c:pt idx="192">
                  <c:v>2022.76</c:v>
                </c:pt>
                <c:pt idx="193">
                  <c:v>2022.779</c:v>
                </c:pt>
                <c:pt idx="194">
                  <c:v>2022.798</c:v>
                </c:pt>
                <c:pt idx="195">
                  <c:v>2022.817</c:v>
                </c:pt>
                <c:pt idx="196">
                  <c:v>2022.836</c:v>
                </c:pt>
                <c:pt idx="197">
                  <c:v>2022.855</c:v>
                </c:pt>
                <c:pt idx="198">
                  <c:v>2022.875</c:v>
                </c:pt>
                <c:pt idx="199">
                  <c:v>2022.894</c:v>
                </c:pt>
                <c:pt idx="200">
                  <c:v>2022.913</c:v>
                </c:pt>
                <c:pt idx="201">
                  <c:v>2022.932</c:v>
                </c:pt>
                <c:pt idx="202">
                  <c:v>2022.951</c:v>
                </c:pt>
                <c:pt idx="203">
                  <c:v>2022.97</c:v>
                </c:pt>
                <c:pt idx="204">
                  <c:v>2022.99</c:v>
                </c:pt>
                <c:pt idx="205">
                  <c:v>2023.009</c:v>
                </c:pt>
                <c:pt idx="206">
                  <c:v>2023.028</c:v>
                </c:pt>
                <c:pt idx="207">
                  <c:v>2023.047</c:v>
                </c:pt>
                <c:pt idx="208">
                  <c:v>2023.066</c:v>
                </c:pt>
                <c:pt idx="209">
                  <c:v>2023.085</c:v>
                </c:pt>
                <c:pt idx="210">
                  <c:v>2023.105</c:v>
                </c:pt>
                <c:pt idx="211">
                  <c:v>2023.124</c:v>
                </c:pt>
                <c:pt idx="212">
                  <c:v>2023.143</c:v>
                </c:pt>
                <c:pt idx="213">
                  <c:v>2023.162</c:v>
                </c:pt>
                <c:pt idx="214">
                  <c:v>2023.181</c:v>
                </c:pt>
                <c:pt idx="215">
                  <c:v>2023.2</c:v>
                </c:pt>
                <c:pt idx="216">
                  <c:v>2023.22</c:v>
                </c:pt>
                <c:pt idx="217">
                  <c:v>2023.239</c:v>
                </c:pt>
                <c:pt idx="218">
                  <c:v>2023.258</c:v>
                </c:pt>
                <c:pt idx="219">
                  <c:v>2023.277</c:v>
                </c:pt>
                <c:pt idx="220">
                  <c:v>2023.296</c:v>
                </c:pt>
                <c:pt idx="221">
                  <c:v>2023.315</c:v>
                </c:pt>
                <c:pt idx="222">
                  <c:v>2023.335</c:v>
                </c:pt>
                <c:pt idx="223">
                  <c:v>2023.354</c:v>
                </c:pt>
                <c:pt idx="224">
                  <c:v>2023.373</c:v>
                </c:pt>
                <c:pt idx="225">
                  <c:v>2023.392</c:v>
                </c:pt>
                <c:pt idx="226">
                  <c:v>2023.411</c:v>
                </c:pt>
                <c:pt idx="227">
                  <c:v>2023.43</c:v>
                </c:pt>
                <c:pt idx="228">
                  <c:v>2023.45</c:v>
                </c:pt>
                <c:pt idx="229">
                  <c:v>2023.469</c:v>
                </c:pt>
                <c:pt idx="230">
                  <c:v>2023.488</c:v>
                </c:pt>
                <c:pt idx="231">
                  <c:v>2023.507</c:v>
                </c:pt>
                <c:pt idx="232">
                  <c:v>2023.526</c:v>
                </c:pt>
                <c:pt idx="233">
                  <c:v>2023.545</c:v>
                </c:pt>
                <c:pt idx="234">
                  <c:v>2023.565</c:v>
                </c:pt>
                <c:pt idx="235">
                  <c:v>2023.584</c:v>
                </c:pt>
                <c:pt idx="236">
                  <c:v>2023.603</c:v>
                </c:pt>
                <c:pt idx="237">
                  <c:v>2023.622</c:v>
                </c:pt>
                <c:pt idx="238">
                  <c:v>2023.641</c:v>
                </c:pt>
                <c:pt idx="239">
                  <c:v>2023.66</c:v>
                </c:pt>
                <c:pt idx="240">
                  <c:v>2023.68</c:v>
                </c:pt>
                <c:pt idx="241">
                  <c:v>2023.699</c:v>
                </c:pt>
                <c:pt idx="242">
                  <c:v>2023.718</c:v>
                </c:pt>
                <c:pt idx="243">
                  <c:v>2023.737</c:v>
                </c:pt>
                <c:pt idx="244">
                  <c:v>2023.756</c:v>
                </c:pt>
                <c:pt idx="245">
                  <c:v>2023.775</c:v>
                </c:pt>
                <c:pt idx="246">
                  <c:v>2023.795</c:v>
                </c:pt>
                <c:pt idx="247">
                  <c:v>2023.814</c:v>
                </c:pt>
                <c:pt idx="248">
                  <c:v>2023.833</c:v>
                </c:pt>
                <c:pt idx="249">
                  <c:v>2023.852</c:v>
                </c:pt>
                <c:pt idx="250">
                  <c:v>2023.871</c:v>
                </c:pt>
                <c:pt idx="251">
                  <c:v>2023.89</c:v>
                </c:pt>
                <c:pt idx="252">
                  <c:v>2023.91</c:v>
                </c:pt>
                <c:pt idx="253">
                  <c:v>2023.929</c:v>
                </c:pt>
                <c:pt idx="254">
                  <c:v>2023.948</c:v>
                </c:pt>
                <c:pt idx="255">
                  <c:v>2023.967</c:v>
                </c:pt>
                <c:pt idx="256">
                  <c:v>2023.986</c:v>
                </c:pt>
                <c:pt idx="257">
                  <c:v>2024.005</c:v>
                </c:pt>
                <c:pt idx="258">
                  <c:v>2024.025</c:v>
                </c:pt>
                <c:pt idx="259">
                  <c:v>2024.044</c:v>
                </c:pt>
                <c:pt idx="260">
                  <c:v>2024.063</c:v>
                </c:pt>
                <c:pt idx="261">
                  <c:v>2024.082</c:v>
                </c:pt>
                <c:pt idx="262">
                  <c:v>2024.101</c:v>
                </c:pt>
                <c:pt idx="263">
                  <c:v>2024.12</c:v>
                </c:pt>
                <c:pt idx="264">
                  <c:v>2024.14</c:v>
                </c:pt>
                <c:pt idx="265">
                  <c:v>2024.159</c:v>
                </c:pt>
                <c:pt idx="266">
                  <c:v>2024.178</c:v>
                </c:pt>
                <c:pt idx="267">
                  <c:v>2024.197</c:v>
                </c:pt>
                <c:pt idx="268">
                  <c:v>2024.216</c:v>
                </c:pt>
                <c:pt idx="269">
                  <c:v>2024.235</c:v>
                </c:pt>
                <c:pt idx="270">
                  <c:v>2024.255</c:v>
                </c:pt>
                <c:pt idx="271">
                  <c:v>2024.274</c:v>
                </c:pt>
                <c:pt idx="272">
                  <c:v>2024.293</c:v>
                </c:pt>
                <c:pt idx="273">
                  <c:v>2024.312</c:v>
                </c:pt>
                <c:pt idx="274">
                  <c:v>2024.331</c:v>
                </c:pt>
                <c:pt idx="275">
                  <c:v>2024.35</c:v>
                </c:pt>
                <c:pt idx="276">
                  <c:v>2024.37</c:v>
                </c:pt>
                <c:pt idx="277">
                  <c:v>2024.389</c:v>
                </c:pt>
                <c:pt idx="278">
                  <c:v>2024.408</c:v>
                </c:pt>
                <c:pt idx="279">
                  <c:v>2024.427</c:v>
                </c:pt>
                <c:pt idx="280">
                  <c:v>2024.446</c:v>
                </c:pt>
                <c:pt idx="281">
                  <c:v>2024.465</c:v>
                </c:pt>
                <c:pt idx="282">
                  <c:v>2024.485</c:v>
                </c:pt>
                <c:pt idx="283">
                  <c:v>2024.504</c:v>
                </c:pt>
                <c:pt idx="284">
                  <c:v>2024.523</c:v>
                </c:pt>
                <c:pt idx="285">
                  <c:v>2024.542</c:v>
                </c:pt>
                <c:pt idx="286">
                  <c:v>2024.561</c:v>
                </c:pt>
                <c:pt idx="287">
                  <c:v>2024.58</c:v>
                </c:pt>
                <c:pt idx="288">
                  <c:v>2024.6</c:v>
                </c:pt>
                <c:pt idx="289">
                  <c:v>2024.619</c:v>
                </c:pt>
                <c:pt idx="290">
                  <c:v>2024.638</c:v>
                </c:pt>
                <c:pt idx="291">
                  <c:v>2024.657</c:v>
                </c:pt>
                <c:pt idx="292">
                  <c:v>2024.676</c:v>
                </c:pt>
                <c:pt idx="293">
                  <c:v>2024.695</c:v>
                </c:pt>
                <c:pt idx="294">
                  <c:v>2024.714</c:v>
                </c:pt>
                <c:pt idx="295">
                  <c:v>2024.734</c:v>
                </c:pt>
                <c:pt idx="296">
                  <c:v>2024.753</c:v>
                </c:pt>
                <c:pt idx="297">
                  <c:v>2024.772</c:v>
                </c:pt>
                <c:pt idx="298">
                  <c:v>2024.791</c:v>
                </c:pt>
                <c:pt idx="299">
                  <c:v>2024.81</c:v>
                </c:pt>
                <c:pt idx="300">
                  <c:v>2024.829</c:v>
                </c:pt>
                <c:pt idx="301">
                  <c:v>2024.849</c:v>
                </c:pt>
                <c:pt idx="302">
                  <c:v>2024.868</c:v>
                </c:pt>
                <c:pt idx="303">
                  <c:v>2024.887</c:v>
                </c:pt>
                <c:pt idx="304">
                  <c:v>2024.906</c:v>
                </c:pt>
                <c:pt idx="305">
                  <c:v>2024.925</c:v>
                </c:pt>
                <c:pt idx="306">
                  <c:v>2024.944</c:v>
                </c:pt>
                <c:pt idx="307">
                  <c:v>2024.964</c:v>
                </c:pt>
                <c:pt idx="308">
                  <c:v>2024.983</c:v>
                </c:pt>
                <c:pt idx="309">
                  <c:v>2025.002</c:v>
                </c:pt>
                <c:pt idx="310">
                  <c:v>2025.021</c:v>
                </c:pt>
                <c:pt idx="311">
                  <c:v>2025.04</c:v>
                </c:pt>
                <c:pt idx="312">
                  <c:v>2025.059</c:v>
                </c:pt>
                <c:pt idx="313">
                  <c:v>2025.079</c:v>
                </c:pt>
                <c:pt idx="314">
                  <c:v>2025.098</c:v>
                </c:pt>
                <c:pt idx="315">
                  <c:v>2025.117</c:v>
                </c:pt>
                <c:pt idx="316">
                  <c:v>2025.136</c:v>
                </c:pt>
                <c:pt idx="317">
                  <c:v>2025.155</c:v>
                </c:pt>
                <c:pt idx="318">
                  <c:v>2025.174</c:v>
                </c:pt>
                <c:pt idx="319">
                  <c:v>2025.194</c:v>
                </c:pt>
                <c:pt idx="320">
                  <c:v>2025.213</c:v>
                </c:pt>
                <c:pt idx="321">
                  <c:v>2025.232</c:v>
                </c:pt>
                <c:pt idx="322">
                  <c:v>2025.251</c:v>
                </c:pt>
                <c:pt idx="323">
                  <c:v>2025.27</c:v>
                </c:pt>
                <c:pt idx="324">
                  <c:v>2025.289</c:v>
                </c:pt>
                <c:pt idx="325">
                  <c:v>2025.309</c:v>
                </c:pt>
                <c:pt idx="326">
                  <c:v>2025.328</c:v>
                </c:pt>
                <c:pt idx="327">
                  <c:v>2025.347</c:v>
                </c:pt>
                <c:pt idx="328">
                  <c:v>2025.366</c:v>
                </c:pt>
                <c:pt idx="329">
                  <c:v>2025.385</c:v>
                </c:pt>
                <c:pt idx="330">
                  <c:v>2025.404</c:v>
                </c:pt>
                <c:pt idx="331">
                  <c:v>2025.424</c:v>
                </c:pt>
                <c:pt idx="332">
                  <c:v>2025.443</c:v>
                </c:pt>
                <c:pt idx="333">
                  <c:v>2025.462</c:v>
                </c:pt>
                <c:pt idx="334">
                  <c:v>2025.481</c:v>
                </c:pt>
                <c:pt idx="335">
                  <c:v>2025.5</c:v>
                </c:pt>
                <c:pt idx="336">
                  <c:v>2025.519</c:v>
                </c:pt>
                <c:pt idx="337">
                  <c:v>2025.539</c:v>
                </c:pt>
                <c:pt idx="338">
                  <c:v>2025.558</c:v>
                </c:pt>
                <c:pt idx="339">
                  <c:v>2025.577</c:v>
                </c:pt>
                <c:pt idx="340">
                  <c:v>2025.596</c:v>
                </c:pt>
                <c:pt idx="341">
                  <c:v>2025.615</c:v>
                </c:pt>
                <c:pt idx="342">
                  <c:v>2025.634</c:v>
                </c:pt>
                <c:pt idx="343">
                  <c:v>2025.654</c:v>
                </c:pt>
                <c:pt idx="344">
                  <c:v>2025.673</c:v>
                </c:pt>
                <c:pt idx="345">
                  <c:v>2025.692</c:v>
                </c:pt>
                <c:pt idx="346">
                  <c:v>2025.711</c:v>
                </c:pt>
                <c:pt idx="347">
                  <c:v>2025.73</c:v>
                </c:pt>
                <c:pt idx="348">
                  <c:v>2025.749</c:v>
                </c:pt>
                <c:pt idx="349">
                  <c:v>2025.769</c:v>
                </c:pt>
                <c:pt idx="350">
                  <c:v>2025.788</c:v>
                </c:pt>
                <c:pt idx="351">
                  <c:v>2025.807</c:v>
                </c:pt>
                <c:pt idx="352">
                  <c:v>2025.826</c:v>
                </c:pt>
                <c:pt idx="353">
                  <c:v>2025.845</c:v>
                </c:pt>
                <c:pt idx="354">
                  <c:v>2025.864</c:v>
                </c:pt>
                <c:pt idx="355">
                  <c:v>2025.884</c:v>
                </c:pt>
                <c:pt idx="356">
                  <c:v>2025.903</c:v>
                </c:pt>
                <c:pt idx="357">
                  <c:v>2025.922</c:v>
                </c:pt>
                <c:pt idx="358">
                  <c:v>2025.941</c:v>
                </c:pt>
                <c:pt idx="359">
                  <c:v>2025.96</c:v>
                </c:pt>
                <c:pt idx="360">
                  <c:v>2025.979</c:v>
                </c:pt>
                <c:pt idx="361">
                  <c:v>2025.999</c:v>
                </c:pt>
                <c:pt idx="362">
                  <c:v>2026.018</c:v>
                </c:pt>
                <c:pt idx="363">
                  <c:v>2026.037</c:v>
                </c:pt>
                <c:pt idx="364">
                  <c:v>2026.056</c:v>
                </c:pt>
                <c:pt idx="365">
                  <c:v>2026.075</c:v>
                </c:pt>
                <c:pt idx="366">
                  <c:v>2026.094</c:v>
                </c:pt>
                <c:pt idx="367">
                  <c:v>2026.114</c:v>
                </c:pt>
                <c:pt idx="368">
                  <c:v>2026.133</c:v>
                </c:pt>
                <c:pt idx="369">
                  <c:v>2026.152</c:v>
                </c:pt>
                <c:pt idx="370">
                  <c:v>2026.171</c:v>
                </c:pt>
                <c:pt idx="371">
                  <c:v>2026.19</c:v>
                </c:pt>
                <c:pt idx="372">
                  <c:v>2026.209</c:v>
                </c:pt>
                <c:pt idx="373">
                  <c:v>2026.229</c:v>
                </c:pt>
                <c:pt idx="374">
                  <c:v>2026.248</c:v>
                </c:pt>
                <c:pt idx="375">
                  <c:v>2026.267</c:v>
                </c:pt>
                <c:pt idx="376">
                  <c:v>2026.286</c:v>
                </c:pt>
                <c:pt idx="377">
                  <c:v>2026.305</c:v>
                </c:pt>
                <c:pt idx="378">
                  <c:v>2026.324</c:v>
                </c:pt>
                <c:pt idx="379">
                  <c:v>2026.344</c:v>
                </c:pt>
                <c:pt idx="380">
                  <c:v>2026.363</c:v>
                </c:pt>
                <c:pt idx="381">
                  <c:v>2026.382</c:v>
                </c:pt>
                <c:pt idx="382">
                  <c:v>2026.401</c:v>
                </c:pt>
                <c:pt idx="383">
                  <c:v>2026.42</c:v>
                </c:pt>
                <c:pt idx="384">
                  <c:v>2026.439</c:v>
                </c:pt>
                <c:pt idx="385">
                  <c:v>2026.459</c:v>
                </c:pt>
                <c:pt idx="386">
                  <c:v>2026.478</c:v>
                </c:pt>
                <c:pt idx="387">
                  <c:v>2026.497</c:v>
                </c:pt>
                <c:pt idx="388">
                  <c:v>2026.516</c:v>
                </c:pt>
                <c:pt idx="389">
                  <c:v>2026.535</c:v>
                </c:pt>
                <c:pt idx="390">
                  <c:v>2026.554</c:v>
                </c:pt>
                <c:pt idx="391">
                  <c:v>2026.573</c:v>
                </c:pt>
                <c:pt idx="392">
                  <c:v>2026.593</c:v>
                </c:pt>
                <c:pt idx="393">
                  <c:v>2026.612</c:v>
                </c:pt>
                <c:pt idx="394">
                  <c:v>2026.631</c:v>
                </c:pt>
                <c:pt idx="395">
                  <c:v>2026.65</c:v>
                </c:pt>
                <c:pt idx="396">
                  <c:v>2026.669</c:v>
                </c:pt>
                <c:pt idx="397">
                  <c:v>2026.688</c:v>
                </c:pt>
                <c:pt idx="398">
                  <c:v>2026.708</c:v>
                </c:pt>
                <c:pt idx="399">
                  <c:v>2026.727</c:v>
                </c:pt>
                <c:pt idx="400">
                  <c:v>2026.746</c:v>
                </c:pt>
              </c:numCache>
            </c:numRef>
          </c:xVal>
          <c:yVal>
            <c:numRef>
              <c:f>Sheet1!$B$2:$B$402</c:f>
              <c:numCache>
                <c:formatCode>General</c:formatCode>
                <c:ptCount val="401"/>
                <c:pt idx="0">
                  <c:v>100</c:v>
                </c:pt>
                <c:pt idx="1">
                  <c:v>98.3</c:v>
                </c:pt>
                <c:pt idx="2">
                  <c:v>104.6</c:v>
                </c:pt>
                <c:pt idx="3">
                  <c:v>114.4</c:v>
                </c:pt>
                <c:pt idx="4">
                  <c:v>111.5</c:v>
                </c:pt>
                <c:pt idx="5">
                  <c:v>113.1</c:v>
                </c:pt>
                <c:pt idx="6">
                  <c:v>113.5</c:v>
                </c:pt>
                <c:pt idx="7">
                  <c:v>116.5</c:v>
                </c:pt>
                <c:pt idx="8">
                  <c:v>117.7</c:v>
                </c:pt>
                <c:pt idx="9">
                  <c:v>142.4</c:v>
                </c:pt>
                <c:pt idx="10">
                  <c:v>146.5</c:v>
                </c:pt>
                <c:pt idx="11">
                  <c:v>153.2</c:v>
                </c:pt>
                <c:pt idx="12">
                  <c:v>150.7</c:v>
                </c:pt>
                <c:pt idx="13">
                  <c:v>159.2</c:v>
                </c:pt>
                <c:pt idx="14">
                  <c:v>178.6</c:v>
                </c:pt>
                <c:pt idx="15">
                  <c:v>228</c:v>
                </c:pt>
                <c:pt idx="16">
                  <c:v>227.9</c:v>
                </c:pt>
                <c:pt idx="17">
                  <c:v>240.6</c:v>
                </c:pt>
                <c:pt idx="18">
                  <c:v>226.2</c:v>
                </c:pt>
                <c:pt idx="19">
                  <c:v>238</c:v>
                </c:pt>
                <c:pt idx="20">
                  <c:v>275.5</c:v>
                </c:pt>
                <c:pt idx="21">
                  <c:v>323.4</c:v>
                </c:pt>
                <c:pt idx="22">
                  <c:v>324.4</c:v>
                </c:pt>
                <c:pt idx="23">
                  <c:v>328.5</c:v>
                </c:pt>
                <c:pt idx="24">
                  <c:v>308.5</c:v>
                </c:pt>
                <c:pt idx="25">
                  <c:v>286.7</c:v>
                </c:pt>
                <c:pt idx="26">
                  <c:v>300.8</c:v>
                </c:pt>
                <c:pt idx="27">
                  <c:v>346.1</c:v>
                </c:pt>
                <c:pt idx="28">
                  <c:v>298.2</c:v>
                </c:pt>
                <c:pt idx="29">
                  <c:v>293</c:v>
                </c:pt>
                <c:pt idx="30">
                  <c:v>275</c:v>
                </c:pt>
                <c:pt idx="31">
                  <c:v>305.8</c:v>
                </c:pt>
                <c:pt idx="32">
                  <c:v>301.1</c:v>
                </c:pt>
                <c:pt idx="33">
                  <c:v>296.9</c:v>
                </c:pt>
                <c:pt idx="34">
                  <c:v>234.8</c:v>
                </c:pt>
                <c:pt idx="35">
                  <c:v>238.9</c:v>
                </c:pt>
                <c:pt idx="36">
                  <c:v>248.3</c:v>
                </c:pt>
                <c:pt idx="37">
                  <c:v>234.4</c:v>
                </c:pt>
                <c:pt idx="38">
                  <c:v>216.7</c:v>
                </c:pt>
                <c:pt idx="39">
                  <c:v>266.1</c:v>
                </c:pt>
                <c:pt idx="40">
                  <c:v>268</c:v>
                </c:pt>
                <c:pt idx="41">
                  <c:v>251.8</c:v>
                </c:pt>
                <c:pt idx="42">
                  <c:v>221</c:v>
                </c:pt>
                <c:pt idx="43">
                  <c:v>215.8</c:v>
                </c:pt>
                <c:pt idx="44">
                  <c:v>215.4</c:v>
                </c:pt>
                <c:pt idx="45">
                  <c:v>209.5</c:v>
                </c:pt>
                <c:pt idx="46">
                  <c:v>208.3</c:v>
                </c:pt>
                <c:pt idx="47">
                  <c:v>209.4</c:v>
                </c:pt>
                <c:pt idx="48">
                  <c:v>202</c:v>
                </c:pt>
                <c:pt idx="49">
                  <c:v>227.9</c:v>
                </c:pt>
                <c:pt idx="50">
                  <c:v>252.3</c:v>
                </c:pt>
                <c:pt idx="51">
                  <c:v>243.1</c:v>
                </c:pt>
                <c:pt idx="52">
                  <c:v>275</c:v>
                </c:pt>
                <c:pt idx="53">
                  <c:v>281.4</c:v>
                </c:pt>
                <c:pt idx="54">
                  <c:v>295.4</c:v>
                </c:pt>
                <c:pt idx="55">
                  <c:v>277.9</c:v>
                </c:pt>
                <c:pt idx="56">
                  <c:v>254</c:v>
                </c:pt>
                <c:pt idx="57">
                  <c:v>262.6</c:v>
                </c:pt>
                <c:pt idx="58">
                  <c:v>143.8</c:v>
                </c:pt>
                <c:pt idx="59">
                  <c:v>179.1</c:v>
                </c:pt>
                <c:pt idx="60">
                  <c:v>194.2</c:v>
                </c:pt>
                <c:pt idx="61">
                  <c:v>196.5</c:v>
                </c:pt>
                <c:pt idx="62">
                  <c:v>211.2</c:v>
                </c:pt>
                <c:pt idx="63">
                  <c:v>205.8</c:v>
                </c:pt>
                <c:pt idx="64">
                  <c:v>214.9</c:v>
                </c:pt>
                <c:pt idx="65">
                  <c:v>250.4</c:v>
                </c:pt>
                <c:pt idx="66">
                  <c:v>287.8</c:v>
                </c:pt>
                <c:pt idx="67">
                  <c:v>281.5</c:v>
                </c:pt>
                <c:pt idx="68">
                  <c:v>262.6</c:v>
                </c:pt>
                <c:pt idx="69">
                  <c:v>275.5</c:v>
                </c:pt>
                <c:pt idx="70">
                  <c:v>283.4</c:v>
                </c:pt>
                <c:pt idx="71">
                  <c:v>269.6</c:v>
                </c:pt>
                <c:pt idx="72">
                  <c:v>272.2</c:v>
                </c:pt>
                <c:pt idx="73">
                  <c:v>267.9</c:v>
                </c:pt>
                <c:pt idx="74">
                  <c:v>263.9</c:v>
                </c:pt>
                <c:pt idx="75">
                  <c:v>268.3</c:v>
                </c:pt>
                <c:pt idx="76">
                  <c:v>264.1</c:v>
                </c:pt>
                <c:pt idx="77">
                  <c:v>277.1</c:v>
                </c:pt>
                <c:pt idx="78">
                  <c:v>321.3</c:v>
                </c:pt>
                <c:pt idx="79">
                  <c:v>340.7</c:v>
                </c:pt>
                <c:pt idx="80">
                  <c:v>340.8</c:v>
                </c:pt>
                <c:pt idx="81">
                  <c:v>343.5</c:v>
                </c:pt>
                <c:pt idx="82">
                  <c:v>327.5</c:v>
                </c:pt>
                <c:pt idx="83">
                  <c:v>296.3</c:v>
                </c:pt>
                <c:pt idx="84">
                  <c:v>299.7</c:v>
                </c:pt>
                <c:pt idx="85">
                  <c:v>316.6</c:v>
                </c:pt>
                <c:pt idx="86">
                  <c:v>311.2</c:v>
                </c:pt>
                <c:pt idx="87">
                  <c:v>307.1</c:v>
                </c:pt>
                <c:pt idx="88">
                  <c:v>315.7</c:v>
                </c:pt>
                <c:pt idx="89">
                  <c:v>332.4</c:v>
                </c:pt>
                <c:pt idx="90">
                  <c:v>375</c:v>
                </c:pt>
                <c:pt idx="91">
                  <c:v>388.6</c:v>
                </c:pt>
                <c:pt idx="92">
                  <c:v>450.6</c:v>
                </c:pt>
                <c:pt idx="93">
                  <c:v>470.7</c:v>
                </c:pt>
                <c:pt idx="94">
                  <c:v>515.3</c:v>
                </c:pt>
                <c:pt idx="95">
                  <c:v>496</c:v>
                </c:pt>
                <c:pt idx="96">
                  <c:v>562.4</c:v>
                </c:pt>
                <c:pt idx="97">
                  <c:v>528.2</c:v>
                </c:pt>
                <c:pt idx="98">
                  <c:v>659.5</c:v>
                </c:pt>
                <c:pt idx="99">
                  <c:v>686.4</c:v>
                </c:pt>
                <c:pt idx="100">
                  <c:v>838.7</c:v>
                </c:pt>
                <c:pt idx="101">
                  <c:v>1138.6</c:v>
                </c:pt>
                <c:pt idx="102">
                  <c:v>1133.3</c:v>
                </c:pt>
                <c:pt idx="103">
                  <c:v>891.5</c:v>
                </c:pt>
                <c:pt idx="104">
                  <c:v>967.8</c:v>
                </c:pt>
                <c:pt idx="105">
                  <c:v>1067.9</c:v>
                </c:pt>
                <c:pt idx="106">
                  <c:v>1385.5</c:v>
                </c:pt>
                <c:pt idx="107">
                  <c:v>1494.6</c:v>
                </c:pt>
                <c:pt idx="108">
                  <c:v>1362</c:v>
                </c:pt>
                <c:pt idx="109">
                  <c:v>1404.4</c:v>
                </c:pt>
                <c:pt idx="110">
                  <c:v>1671.7</c:v>
                </c:pt>
                <c:pt idx="111">
                  <c:v>1673.3</c:v>
                </c:pt>
                <c:pt idx="112">
                  <c:v>1495.3</c:v>
                </c:pt>
                <c:pt idx="113">
                  <c:v>1709.1</c:v>
                </c:pt>
                <c:pt idx="114">
                  <c:v>1686.7</c:v>
                </c:pt>
                <c:pt idx="115">
                  <c:v>1831.1</c:v>
                </c:pt>
                <c:pt idx="116">
                  <c:v>1497</c:v>
                </c:pt>
                <c:pt idx="117">
                  <c:v>1548.8</c:v>
                </c:pt>
                <c:pt idx="118">
                  <c:v>1631</c:v>
                </c:pt>
                <c:pt idx="119">
                  <c:v>1437.8</c:v>
                </c:pt>
                <c:pt idx="120">
                  <c:v>1179.4</c:v>
                </c:pt>
                <c:pt idx="121">
                  <c:v>1111.6</c:v>
                </c:pt>
                <c:pt idx="122">
                  <c:v>1133.9</c:v>
                </c:pt>
                <c:pt idx="123">
                  <c:v>1061.4</c:v>
                </c:pt>
                <c:pt idx="124">
                  <c:v>1100.5</c:v>
                </c:pt>
                <c:pt idx="125">
                  <c:v>1002.4</c:v>
                </c:pt>
                <c:pt idx="126">
                  <c:v>970.9</c:v>
                </c:pt>
                <c:pt idx="127">
                  <c:v>950.8</c:v>
                </c:pt>
                <c:pt idx="128">
                  <c:v>919.1</c:v>
                </c:pt>
                <c:pt idx="129">
                  <c:v>934.5</c:v>
                </c:pt>
                <c:pt idx="130">
                  <c:v>1157.1</c:v>
                </c:pt>
                <c:pt idx="131">
                  <c:v>1182</c:v>
                </c:pt>
                <c:pt idx="132">
                  <c:v>1284.9</c:v>
                </c:pt>
                <c:pt idx="133">
                  <c:v>1351.1</c:v>
                </c:pt>
                <c:pt idx="134">
                  <c:v>1357.6</c:v>
                </c:pt>
                <c:pt idx="135">
                  <c:v>1426.6</c:v>
                </c:pt>
                <c:pt idx="136">
                  <c:v>1341.6</c:v>
                </c:pt>
                <c:pt idx="137">
                  <c:v>1381.9</c:v>
                </c:pt>
                <c:pt idx="138">
                  <c:v>1298.4</c:v>
                </c:pt>
                <c:pt idx="139">
                  <c:v>1266.4</c:v>
                </c:pt>
                <c:pt idx="140">
                  <c:v>1556.1</c:v>
                </c:pt>
                <c:pt idx="141">
                  <c:v>1657.7</c:v>
                </c:pt>
                <c:pt idx="142">
                  <c:v>1799.1</c:v>
                </c:pt>
                <c:pt idx="143">
                  <c:v>1753.2</c:v>
                </c:pt>
                <c:pt idx="144">
                  <c:v>1777.2</c:v>
                </c:pt>
                <c:pt idx="145">
                  <c:v>1878.4</c:v>
                </c:pt>
                <c:pt idx="146">
                  <c:v>1646.8</c:v>
                </c:pt>
                <c:pt idx="147">
                  <c:v>1656.4</c:v>
                </c:pt>
                <c:pt idx="148">
                  <c:v>1633.3</c:v>
                </c:pt>
                <c:pt idx="149">
                  <c:v>1378.7</c:v>
                </c:pt>
                <c:pt idx="150">
                  <c:v>1378.5</c:v>
                </c:pt>
                <c:pt idx="151">
                  <c:v>1468.7</c:v>
                </c:pt>
                <c:pt idx="152">
                  <c:v>1364.4</c:v>
                </c:pt>
                <c:pt idx="153">
                  <c:v>1248.2</c:v>
                </c:pt>
                <c:pt idx="154">
                  <c:v>1231.8</c:v>
                </c:pt>
                <c:pt idx="155">
                  <c:v>1176.5</c:v>
                </c:pt>
                <c:pt idx="156">
                  <c:v>1074</c:v>
                </c:pt>
                <c:pt idx="157">
                  <c:v>1074.5</c:v>
                </c:pt>
                <c:pt idx="158">
                  <c:v>1259.9</c:v>
                </c:pt>
                <c:pt idx="159">
                  <c:v>1172.4</c:v>
                </c:pt>
                <c:pt idx="160">
                  <c:v>1108.6</c:v>
                </c:pt>
                <c:pt idx="161">
                  <c:v>1227.7</c:v>
                </c:pt>
                <c:pt idx="162">
                  <c:v>1140.5</c:v>
                </c:pt>
                <c:pt idx="163">
                  <c:v>1184.3</c:v>
                </c:pt>
                <c:pt idx="164">
                  <c:v>1271.4</c:v>
                </c:pt>
                <c:pt idx="165">
                  <c:v>1317</c:v>
                </c:pt>
                <c:pt idx="166">
                  <c:v>1258.1</c:v>
                </c:pt>
                <c:pt idx="167">
                  <c:v>1154.9</c:v>
                </c:pt>
                <c:pt idx="168">
                  <c:v>1172.1</c:v>
                </c:pt>
                <c:pt idx="169">
                  <c:v>1150.3</c:v>
                </c:pt>
                <c:pt idx="170">
                  <c:v>1057.8</c:v>
                </c:pt>
                <c:pt idx="171">
                  <c:v>840.1</c:v>
                </c:pt>
                <c:pt idx="172">
                  <c:v>876.7</c:v>
                </c:pt>
                <c:pt idx="173">
                  <c:v>846.4</c:v>
                </c:pt>
                <c:pt idx="174">
                  <c:v>881.1</c:v>
                </c:pt>
                <c:pt idx="175">
                  <c:v>870.8</c:v>
                </c:pt>
                <c:pt idx="176">
                  <c:v>589.4</c:v>
                </c:pt>
                <c:pt idx="177">
                  <c:v>609.8</c:v>
                </c:pt>
                <c:pt idx="178">
                  <c:v>572.2</c:v>
                </c:pt>
                <c:pt idx="179">
                  <c:v>625.8</c:v>
                </c:pt>
                <c:pt idx="180">
                  <c:v>594.9</c:v>
                </c:pt>
                <c:pt idx="181">
                  <c:v>669.9</c:v>
                </c:pt>
                <c:pt idx="182">
                  <c:v>689.6</c:v>
                </c:pt>
                <c:pt idx="183">
                  <c:v>654.5</c:v>
                </c:pt>
                <c:pt idx="184">
                  <c:v>692.9</c:v>
                </c:pt>
                <c:pt idx="185">
                  <c:v>671.3</c:v>
                </c:pt>
                <c:pt idx="186">
                  <c:v>624.7</c:v>
                </c:pt>
                <c:pt idx="187">
                  <c:v>582.1</c:v>
                </c:pt>
                <c:pt idx="188">
                  <c:v>559</c:v>
                </c:pt>
                <c:pt idx="189">
                  <c:v>569.8</c:v>
                </c:pt>
                <c:pt idx="190">
                  <c:v>561.4</c:v>
                </c:pt>
                <c:pt idx="191">
                  <c:v>566.1</c:v>
                </c:pt>
                <c:pt idx="192">
                  <c:v>577.1</c:v>
                </c:pt>
                <c:pt idx="193">
                  <c:v>560.6</c:v>
                </c:pt>
                <c:pt idx="194">
                  <c:v>551</c:v>
                </c:pt>
                <c:pt idx="195">
                  <c:v>586.7</c:v>
                </c:pt>
                <c:pt idx="196">
                  <c:v>584.5</c:v>
                </c:pt>
                <c:pt idx="197">
                  <c:v>508.6</c:v>
                </c:pt>
                <c:pt idx="198">
                  <c:v>482.6</c:v>
                </c:pt>
                <c:pt idx="199">
                  <c:v>480.2</c:v>
                </c:pt>
                <c:pt idx="200">
                  <c:v>490.7</c:v>
                </c:pt>
                <c:pt idx="201">
                  <c:v>498.4</c:v>
                </c:pt>
                <c:pt idx="202">
                  <c:v>502.2</c:v>
                </c:pt>
                <c:pt idx="203">
                  <c:v>486.7</c:v>
                </c:pt>
                <c:pt idx="204">
                  <c:v>481.3</c:v>
                </c:pt>
                <c:pt idx="205">
                  <c:v>486.9</c:v>
                </c:pt>
                <c:pt idx="206">
                  <c:v>545.7</c:v>
                </c:pt>
                <c:pt idx="207">
                  <c:v>609.8</c:v>
                </c:pt>
                <c:pt idx="208">
                  <c:v>666.1</c:v>
                </c:pt>
                <c:pt idx="209">
                  <c:v>678.8</c:v>
                </c:pt>
                <c:pt idx="210">
                  <c:v>631</c:v>
                </c:pt>
                <c:pt idx="211">
                  <c:v>683.2</c:v>
                </c:pt>
                <c:pt idx="212">
                  <c:v>692.6</c:v>
                </c:pt>
                <c:pt idx="213">
                  <c:v>678.9</c:v>
                </c:pt>
                <c:pt idx="214">
                  <c:v>588.9</c:v>
                </c:pt>
                <c:pt idx="215">
                  <c:v>724.5</c:v>
                </c:pt>
                <c:pt idx="216">
                  <c:v>819.4</c:v>
                </c:pt>
                <c:pt idx="217">
                  <c:v>810.7</c:v>
                </c:pt>
                <c:pt idx="218">
                  <c:v>811</c:v>
                </c:pt>
                <c:pt idx="219">
                  <c:v>879.1</c:v>
                </c:pt>
                <c:pt idx="220">
                  <c:v>816.9</c:v>
                </c:pt>
                <c:pt idx="221">
                  <c:v>852.4</c:v>
                </c:pt>
                <c:pt idx="222">
                  <c:v>834.3</c:v>
                </c:pt>
                <c:pt idx="223">
                  <c:v>780.9</c:v>
                </c:pt>
                <c:pt idx="224">
                  <c:v>776</c:v>
                </c:pt>
                <c:pt idx="225">
                  <c:v>765.7</c:v>
                </c:pt>
                <c:pt idx="226">
                  <c:v>775.6</c:v>
                </c:pt>
                <c:pt idx="227">
                  <c:v>766.6</c:v>
                </c:pt>
                <c:pt idx="228">
                  <c:v>739.7</c:v>
                </c:pt>
                <c:pt idx="229">
                  <c:v>865.1</c:v>
                </c:pt>
                <c:pt idx="230">
                  <c:v>880.5</c:v>
                </c:pt>
                <c:pt idx="231">
                  <c:v>865</c:v>
                </c:pt>
                <c:pt idx="232">
                  <c:v>910.3</c:v>
                </c:pt>
                <c:pt idx="233">
                  <c:v>861.6</c:v>
                </c:pt>
                <c:pt idx="234">
                  <c:v>844.8</c:v>
                </c:pt>
                <c:pt idx="235">
                  <c:v>843.9</c:v>
                </c:pt>
                <c:pt idx="236">
                  <c:v>851.1</c:v>
                </c:pt>
                <c:pt idx="237">
                  <c:v>771.1</c:v>
                </c:pt>
                <c:pt idx="238">
                  <c:v>756.6</c:v>
                </c:pt>
                <c:pt idx="239">
                  <c:v>749.9</c:v>
                </c:pt>
                <c:pt idx="240">
                  <c:v>758.9</c:v>
                </c:pt>
                <c:pt idx="241">
                  <c:v>767.5</c:v>
                </c:pt>
                <c:pt idx="242">
                  <c:v>768.3</c:v>
                </c:pt>
                <c:pt idx="243">
                  <c:v>781.5</c:v>
                </c:pt>
                <c:pt idx="244">
                  <c:v>792.9</c:v>
                </c:pt>
                <c:pt idx="245">
                  <c:v>773.8</c:v>
                </c:pt>
                <c:pt idx="246">
                  <c:v>830.6</c:v>
                </c:pt>
                <c:pt idx="247">
                  <c:v>987.8</c:v>
                </c:pt>
                <c:pt idx="248">
                  <c:v>1010.4</c:v>
                </c:pt>
                <c:pt idx="249">
                  <c:v>1061.2</c:v>
                </c:pt>
                <c:pt idx="250">
                  <c:v>1045.6</c:v>
                </c:pt>
                <c:pt idx="251">
                  <c:v>1078.4</c:v>
                </c:pt>
                <c:pt idx="252">
                  <c:v>1090.7</c:v>
                </c:pt>
                <c:pt idx="253">
                  <c:v>1252</c:v>
                </c:pt>
                <c:pt idx="254">
                  <c:v>1244.3</c:v>
                </c:pt>
                <c:pt idx="255">
                  <c:v>1268.7</c:v>
                </c:pt>
                <c:pt idx="256">
                  <c:v>1232.8</c:v>
                </c:pt>
                <c:pt idx="257">
                  <c:v>1277.7</c:v>
                </c:pt>
                <c:pt idx="258">
                  <c:v>1341</c:v>
                </c:pt>
                <c:pt idx="259">
                  <c:v>1193.3</c:v>
                </c:pt>
                <c:pt idx="260">
                  <c:v>1154.9</c:v>
                </c:pt>
                <c:pt idx="261">
                  <c:v>1245.8</c:v>
                </c:pt>
                <c:pt idx="262">
                  <c:v>1310.1</c:v>
                </c:pt>
                <c:pt idx="263">
                  <c:v>1502.1</c:v>
                </c:pt>
                <c:pt idx="264">
                  <c:v>1483.7</c:v>
                </c:pt>
                <c:pt idx="265">
                  <c:v>1769.9</c:v>
                </c:pt>
                <c:pt idx="266">
                  <c:v>1935.5</c:v>
                </c:pt>
                <c:pt idx="267">
                  <c:v>2064.8</c:v>
                </c:pt>
                <c:pt idx="268">
                  <c:v>1894</c:v>
                </c:pt>
                <c:pt idx="269">
                  <c:v>2046</c:v>
                </c:pt>
                <c:pt idx="270">
                  <c:v>1981.3</c:v>
                </c:pt>
                <c:pt idx="271">
                  <c:v>2026.2</c:v>
                </c:pt>
                <c:pt idx="272">
                  <c:v>1836.8</c:v>
                </c:pt>
                <c:pt idx="273">
                  <c:v>1864.8</c:v>
                </c:pt>
                <c:pt idx="274">
                  <c:v>1709.9</c:v>
                </c:pt>
                <c:pt idx="275">
                  <c:v>1823.4</c:v>
                </c:pt>
                <c:pt idx="276">
                  <c:v>1886.5</c:v>
                </c:pt>
                <c:pt idx="277">
                  <c:v>1964.5</c:v>
                </c:pt>
                <c:pt idx="278">
                  <c:v>1977.1</c:v>
                </c:pt>
                <c:pt idx="279">
                  <c:v>2046.3</c:v>
                </c:pt>
                <c:pt idx="280">
                  <c:v>1930.6</c:v>
                </c:pt>
                <c:pt idx="281">
                  <c:v>1874.9</c:v>
                </c:pt>
                <c:pt idx="282">
                  <c:v>1781.6</c:v>
                </c:pt>
                <c:pt idx="283">
                  <c:v>1647.8</c:v>
                </c:pt>
                <c:pt idx="284">
                  <c:v>1658.4</c:v>
                </c:pt>
                <c:pt idx="285">
                  <c:v>1850.1</c:v>
                </c:pt>
                <c:pt idx="286">
                  <c:v>1902.3</c:v>
                </c:pt>
                <c:pt idx="287">
                  <c:v>1890.2</c:v>
                </c:pt>
                <c:pt idx="288">
                  <c:v>1784.7</c:v>
                </c:pt>
                <c:pt idx="289">
                  <c:v>1664.6</c:v>
                </c:pt>
                <c:pt idx="290">
                  <c:v>1746.3</c:v>
                </c:pt>
                <c:pt idx="291">
                  <c:v>1717.5</c:v>
                </c:pt>
                <c:pt idx="292">
                  <c:v>1624.2</c:v>
                </c:pt>
                <c:pt idx="293">
                  <c:v>1681</c:v>
                </c:pt>
                <c:pt idx="294">
                  <c:v>1820.2</c:v>
                </c:pt>
                <c:pt idx="295">
                  <c:v>1885</c:v>
                </c:pt>
                <c:pt idx="296">
                  <c:v>1757.2</c:v>
                </c:pt>
                <c:pt idx="297">
                  <c:v>1743.1</c:v>
                </c:pt>
                <c:pt idx="298">
                  <c:v>1949.2</c:v>
                </c:pt>
                <c:pt idx="299">
                  <c:v>1971.2</c:v>
                </c:pt>
                <c:pt idx="300">
                  <c:v>2030.6</c:v>
                </c:pt>
                <c:pt idx="301">
                  <c:v>2195.2</c:v>
                </c:pt>
                <c:pt idx="302">
                  <c:v>2523.3</c:v>
                </c:pt>
                <c:pt idx="303">
                  <c:v>2848.8</c:v>
                </c:pt>
                <c:pt idx="304">
                  <c:v>2766.3</c:v>
                </c:pt>
                <c:pt idx="305">
                  <c:v>2793.5</c:v>
                </c:pt>
                <c:pt idx="306">
                  <c:v>2893.3</c:v>
                </c:pt>
                <c:pt idx="307">
                  <c:v>2819.5</c:v>
                </c:pt>
                <c:pt idx="308">
                  <c:v>2770.4</c:v>
                </c:pt>
                <c:pt idx="309">
                  <c:v>2802</c:v>
                </c:pt>
                <c:pt idx="310">
                  <c:v>2674.7</c:v>
                </c:pt>
                <c:pt idx="311">
                  <c:v>2885</c:v>
                </c:pt>
                <c:pt idx="312">
                  <c:v>3006.5</c:v>
                </c:pt>
                <c:pt idx="313">
                  <c:v>3029</c:v>
                </c:pt>
                <c:pt idx="314">
                  <c:v>2793.5</c:v>
                </c:pt>
                <c:pt idx="315">
                  <c:v>2794.4</c:v>
                </c:pt>
                <c:pt idx="316">
                  <c:v>2843.8</c:v>
                </c:pt>
                <c:pt idx="317">
                  <c:v>2449.7</c:v>
                </c:pt>
                <c:pt idx="318">
                  <c:v>2601.7</c:v>
                </c:pt>
                <c:pt idx="319">
                  <c:v>2344.5</c:v>
                </c:pt>
                <c:pt idx="320">
                  <c:v>2434.1</c:v>
                </c:pt>
                <c:pt idx="321">
                  <c:v>2521.2</c:v>
                </c:pt>
                <c:pt idx="322">
                  <c:v>2403.3</c:v>
                </c:pt>
                <c:pt idx="323">
                  <c:v>2302.8</c:v>
                </c:pt>
                <c:pt idx="324">
                  <c:v>2455.2</c:v>
                </c:pt>
                <c:pt idx="325">
                  <c:v>2716.9</c:v>
                </c:pt>
                <c:pt idx="326">
                  <c:v>2790.6</c:v>
                </c:pt>
                <c:pt idx="327">
                  <c:v>2985.8</c:v>
                </c:pt>
                <c:pt idx="328">
                  <c:v>3000.3</c:v>
                </c:pt>
                <c:pt idx="329">
                  <c:v>3229.6</c:v>
                </c:pt>
                <c:pt idx="330">
                  <c:v>3055.2</c:v>
                </c:pt>
                <c:pt idx="331">
                  <c:v>2937.6</c:v>
                </c:pt>
                <c:pt idx="332">
                  <c:v>3063.5</c:v>
                </c:pt>
                <c:pt idx="333">
                  <c:v>3027.5</c:v>
                </c:pt>
                <c:pt idx="334">
                  <c:v>3093.3</c:v>
                </c:pt>
                <c:pt idx="335">
                  <c:v>3171</c:v>
                </c:pt>
                <c:pt idx="336">
                  <c:v>3354.4</c:v>
                </c:pt>
                <c:pt idx="337">
                  <c:v>3449.9</c:v>
                </c:pt>
                <c:pt idx="338">
                  <c:v>3423.2</c:v>
                </c:pt>
                <c:pt idx="339">
                  <c:v>3347.7</c:v>
                </c:pt>
                <c:pt idx="340">
                  <c:v>3398</c:v>
                </c:pt>
                <c:pt idx="341">
                  <c:v>3423</c:v>
                </c:pt>
                <c:pt idx="342">
                  <c:v>3251.2</c:v>
                </c:pt>
                <c:pt idx="343">
                  <c:v>3254.8</c:v>
                </c:pt>
                <c:pt idx="344">
                  <c:v>3202.1</c:v>
                </c:pt>
                <c:pt idx="345">
                  <c:v>3340.5</c:v>
                </c:pt>
                <c:pt idx="346">
                  <c:v>3387.6</c:v>
                </c:pt>
                <c:pt idx="347">
                  <c:v>3153.7</c:v>
                </c:pt>
                <c:pt idx="348">
                  <c:v>3490.1</c:v>
                </c:pt>
                <c:pt idx="349">
                  <c:v>3519.7</c:v>
                </c:pt>
                <c:pt idx="350">
                  <c:v>3128.8</c:v>
                </c:pt>
                <c:pt idx="351">
                  <c:v>3183.2</c:v>
                </c:pt>
                <c:pt idx="352">
                  <c:v>3132.2</c:v>
                </c:pt>
                <c:pt idx="353">
                  <c:v>2929.7</c:v>
                </c:pt>
                <c:pt idx="354">
                  <c:v>2883.3</c:v>
                </c:pt>
                <c:pt idx="355">
                  <c:v>2505.4</c:v>
                </c:pt>
                <c:pt idx="356">
                  <c:v>2640</c:v>
                </c:pt>
                <c:pt idx="357">
                  <c:v>2664.8</c:v>
                </c:pt>
                <c:pt idx="358">
                  <c:v>2675.4</c:v>
                </c:pt>
                <c:pt idx="359">
                  <c:v>2471.6</c:v>
                </c:pt>
                <c:pt idx="360">
                  <c:v>2522.8</c:v>
                </c:pt>
                <c:pt idx="361">
                  <c:v>2566.1</c:v>
                </c:pt>
                <c:pt idx="362">
                  <c:v>2632.5</c:v>
                </c:pt>
                <c:pt idx="363">
                  <c:v>2763.4</c:v>
                </c:pt>
                <c:pt idx="364">
                  <c:v>2587.3</c:v>
                </c:pt>
                <c:pt idx="365">
                  <c:v>2445.5</c:v>
                </c:pt>
                <c:pt idx="366">
                  <c:v>1813.4</c:v>
                </c:pt>
                <c:pt idx="367">
                  <c:v>1915.1</c:v>
                </c:pt>
                <c:pt idx="368">
                  <c:v>1936.4</c:v>
                </c:pt>
                <c:pt idx="369">
                  <c:v>1950.8</c:v>
                </c:pt>
                <c:pt idx="370">
                  <c:v>2048.7</c:v>
                </c:pt>
                <c:pt idx="371">
                  <c:v>2038.7</c:v>
                </c:pt>
                <c:pt idx="372">
                  <c:v>2021.9</c:v>
                </c:pt>
                <c:pt idx="373">
                  <c:v>1989.5</c:v>
                </c:pt>
                <c:pt idx="374">
                  <c:v>1934.4</c:v>
                </c:pt>
                <c:pt idx="375">
                  <c:v>2075.5</c:v>
                </c:pt>
                <c:pt idx="376">
                  <c:v>2173.4</c:v>
                </c:pt>
                <c:pt idx="377">
                  <c:v>2263.6</c:v>
                </c:pt>
                <c:pt idx="378">
                  <c:v>2206.7</c:v>
                </c:pt>
                <c:pt idx="379">
                  <c:v>2313.9</c:v>
                </c:pt>
                <c:pt idx="380">
                  <c:v>2344</c:v>
                </c:pt>
                <c:pt idx="381">
                  <c:v>2242.4</c:v>
                </c:pt>
                <c:pt idx="382">
                  <c:v>2126.7</c:v>
                </c:pt>
                <c:pt idx="383">
                  <c:v>1845.2</c:v>
                </c:pt>
                <c:pt idx="384">
                  <c:v>1838.2</c:v>
                </c:pt>
                <c:pt idx="385">
                  <c:v>1819</c:v>
                </c:pt>
                <c:pt idx="386">
                  <c:v>1727.2</c:v>
                </c:pt>
                <c:pt idx="387">
                  <c:v>1778.2</c:v>
                </c:pt>
                <c:pt idx="388">
                  <c:v>1827.6</c:v>
                </c:pt>
                <c:pt idx="389">
                  <c:v>1844.8</c:v>
                </c:pt>
                <c:pt idx="390">
                  <c:v>1881.1</c:v>
                </c:pt>
                <c:pt idx="391">
                  <c:v>1871.9</c:v>
                </c:pt>
                <c:pt idx="392">
                  <c:v>1858.5</c:v>
                </c:pt>
                <c:pt idx="393">
                  <c:v>1833.6</c:v>
                </c:pt>
                <c:pt idx="394">
                  <c:v>2112.1</c:v>
                </c:pt>
                <c:pt idx="395">
                  <c:v>2321.1</c:v>
                </c:pt>
                <c:pt idx="396">
                  <c:v>2350.4</c:v>
                </c:pt>
                <c:pt idx="397">
                  <c:v>2214.4</c:v>
                </c:pt>
                <c:pt idx="398">
                  <c:v>2209.6</c:v>
                </c:pt>
                <c:pt idx="399">
                  <c:v>2440.3</c:v>
                </c:pt>
                <c:pt idx="400">
                  <c:v>2454</c:v>
                </c:pt>
              </c:numCache>
            </c:numRef>
          </c:yVal>
          <c:smooth val="0"/>
        </c:ser>
        <c:ser>
          <c:idx val="1"/>
          <c:order val="1"/>
          <c:tx>
            <c:strRef>
              <c:f>Sheet1!$C$1</c:f>
              <c:strCache>
                <c:ptCount val="1"/>
                <c:pt idx="0">
                  <c:v>Ethereum</c:v>
                </c:pt>
              </c:strCache>
            </c:strRef>
          </c:tx>
          <c:spPr>
            <a:solidFill>
              <a:srgbClr val="2E7D86"/>
            </a:solidFill>
            <a:ln w="22225" cap="flat">
              <a:solidFill>
                <a:srgbClr val="2E7D86"/>
              </a:solidFill>
              <a:prstDash val="solid"/>
              <a:round/>
            </a:ln>
            <a:effectLst/>
          </c:spPr>
          <c:marker>
            <c:symbol val="none"/>
            <c:size val="6"/>
            <c:spPr>
              <a:solidFill>
                <a:srgbClr val="2E7D86"/>
              </a:solidFill>
              <a:ln w="9525" cap="flat">
                <a:solidFill>
                  <a:srgbClr val="2E7D86"/>
                </a:solidFill>
                <a:prstDash val="solid"/>
                <a:round/>
              </a:ln>
              <a:effectLst/>
            </c:spPr>
          </c:marker>
          <c:xVal>
            <c:numRef>
              <c:f>Sheet1!$A$2:$A$402</c:f>
              <c:numCache>
                <c:formatCode>General</c:formatCode>
                <c:ptCount val="401"/>
                <c:pt idx="0">
                  <c:v>2019.08</c:v>
                </c:pt>
                <c:pt idx="1">
                  <c:v>2019.099</c:v>
                </c:pt>
                <c:pt idx="2">
                  <c:v>2019.118</c:v>
                </c:pt>
                <c:pt idx="3">
                  <c:v>2019.137</c:v>
                </c:pt>
                <c:pt idx="4">
                  <c:v>2019.157</c:v>
                </c:pt>
                <c:pt idx="5">
                  <c:v>2019.176</c:v>
                </c:pt>
                <c:pt idx="6">
                  <c:v>2019.195</c:v>
                </c:pt>
                <c:pt idx="7">
                  <c:v>2019.214</c:v>
                </c:pt>
                <c:pt idx="8">
                  <c:v>2019.233</c:v>
                </c:pt>
                <c:pt idx="9">
                  <c:v>2019.252</c:v>
                </c:pt>
                <c:pt idx="10">
                  <c:v>2019.272</c:v>
                </c:pt>
                <c:pt idx="11">
                  <c:v>2019.291</c:v>
                </c:pt>
                <c:pt idx="12">
                  <c:v>2019.31</c:v>
                </c:pt>
                <c:pt idx="13">
                  <c:v>2019.329</c:v>
                </c:pt>
                <c:pt idx="14">
                  <c:v>2019.348</c:v>
                </c:pt>
                <c:pt idx="15">
                  <c:v>2019.367</c:v>
                </c:pt>
                <c:pt idx="16">
                  <c:v>2019.387</c:v>
                </c:pt>
                <c:pt idx="17">
                  <c:v>2019.406</c:v>
                </c:pt>
                <c:pt idx="18">
                  <c:v>2019.425</c:v>
                </c:pt>
                <c:pt idx="19">
                  <c:v>2019.444</c:v>
                </c:pt>
                <c:pt idx="20">
                  <c:v>2019.463</c:v>
                </c:pt>
                <c:pt idx="21">
                  <c:v>2019.482</c:v>
                </c:pt>
                <c:pt idx="22">
                  <c:v>2019.502</c:v>
                </c:pt>
                <c:pt idx="23">
                  <c:v>2019.521</c:v>
                </c:pt>
                <c:pt idx="24">
                  <c:v>2019.54</c:v>
                </c:pt>
                <c:pt idx="25">
                  <c:v>2019.559</c:v>
                </c:pt>
                <c:pt idx="26">
                  <c:v>2019.578</c:v>
                </c:pt>
                <c:pt idx="27">
                  <c:v>2019.597</c:v>
                </c:pt>
                <c:pt idx="28">
                  <c:v>2019.617</c:v>
                </c:pt>
                <c:pt idx="29">
                  <c:v>2019.636</c:v>
                </c:pt>
                <c:pt idx="30">
                  <c:v>2019.655</c:v>
                </c:pt>
                <c:pt idx="31">
                  <c:v>2019.674</c:v>
                </c:pt>
                <c:pt idx="32">
                  <c:v>2019.693</c:v>
                </c:pt>
                <c:pt idx="33">
                  <c:v>2019.712</c:v>
                </c:pt>
                <c:pt idx="34">
                  <c:v>2019.732</c:v>
                </c:pt>
                <c:pt idx="35">
                  <c:v>2019.751</c:v>
                </c:pt>
                <c:pt idx="36">
                  <c:v>2019.77</c:v>
                </c:pt>
                <c:pt idx="37">
                  <c:v>2019.789</c:v>
                </c:pt>
                <c:pt idx="38">
                  <c:v>2019.808</c:v>
                </c:pt>
                <c:pt idx="39">
                  <c:v>2019.827</c:v>
                </c:pt>
                <c:pt idx="40">
                  <c:v>2019.847</c:v>
                </c:pt>
                <c:pt idx="41">
                  <c:v>2019.866</c:v>
                </c:pt>
                <c:pt idx="42">
                  <c:v>2019.885</c:v>
                </c:pt>
                <c:pt idx="43">
                  <c:v>2019.904</c:v>
                </c:pt>
                <c:pt idx="44">
                  <c:v>2019.923</c:v>
                </c:pt>
                <c:pt idx="45">
                  <c:v>2019.942</c:v>
                </c:pt>
                <c:pt idx="46">
                  <c:v>2019.962</c:v>
                </c:pt>
                <c:pt idx="47">
                  <c:v>2019.981</c:v>
                </c:pt>
                <c:pt idx="48">
                  <c:v>2020</c:v>
                </c:pt>
                <c:pt idx="49">
                  <c:v>2020.019</c:v>
                </c:pt>
                <c:pt idx="50">
                  <c:v>2020.038</c:v>
                </c:pt>
                <c:pt idx="51">
                  <c:v>2020.057</c:v>
                </c:pt>
                <c:pt idx="52">
                  <c:v>2020.077</c:v>
                </c:pt>
                <c:pt idx="53">
                  <c:v>2020.096</c:v>
                </c:pt>
                <c:pt idx="54">
                  <c:v>2020.115</c:v>
                </c:pt>
                <c:pt idx="55">
                  <c:v>2020.134</c:v>
                </c:pt>
                <c:pt idx="56">
                  <c:v>2020.153</c:v>
                </c:pt>
                <c:pt idx="57">
                  <c:v>2020.172</c:v>
                </c:pt>
                <c:pt idx="58">
                  <c:v>2020.192</c:v>
                </c:pt>
                <c:pt idx="59">
                  <c:v>2020.211</c:v>
                </c:pt>
                <c:pt idx="60">
                  <c:v>2020.23</c:v>
                </c:pt>
                <c:pt idx="61">
                  <c:v>2020.249</c:v>
                </c:pt>
                <c:pt idx="62">
                  <c:v>2020.268</c:v>
                </c:pt>
                <c:pt idx="63">
                  <c:v>2020.287</c:v>
                </c:pt>
                <c:pt idx="64">
                  <c:v>2020.307</c:v>
                </c:pt>
                <c:pt idx="65">
                  <c:v>2020.326</c:v>
                </c:pt>
                <c:pt idx="66">
                  <c:v>2020.345</c:v>
                </c:pt>
                <c:pt idx="67">
                  <c:v>2020.364</c:v>
                </c:pt>
                <c:pt idx="68">
                  <c:v>2020.383</c:v>
                </c:pt>
                <c:pt idx="69">
                  <c:v>2020.402</c:v>
                </c:pt>
                <c:pt idx="70">
                  <c:v>2020.422</c:v>
                </c:pt>
                <c:pt idx="71">
                  <c:v>2020.441</c:v>
                </c:pt>
                <c:pt idx="72">
                  <c:v>2020.46</c:v>
                </c:pt>
                <c:pt idx="73">
                  <c:v>2020.479</c:v>
                </c:pt>
                <c:pt idx="74">
                  <c:v>2020.498</c:v>
                </c:pt>
                <c:pt idx="75">
                  <c:v>2020.517</c:v>
                </c:pt>
                <c:pt idx="76">
                  <c:v>2020.537</c:v>
                </c:pt>
                <c:pt idx="77">
                  <c:v>2020.556</c:v>
                </c:pt>
                <c:pt idx="78">
                  <c:v>2020.575</c:v>
                </c:pt>
                <c:pt idx="79">
                  <c:v>2020.594</c:v>
                </c:pt>
                <c:pt idx="80">
                  <c:v>2020.613</c:v>
                </c:pt>
                <c:pt idx="81">
                  <c:v>2020.632</c:v>
                </c:pt>
                <c:pt idx="82">
                  <c:v>2020.652</c:v>
                </c:pt>
                <c:pt idx="83">
                  <c:v>2020.671</c:v>
                </c:pt>
                <c:pt idx="84">
                  <c:v>2020.69</c:v>
                </c:pt>
                <c:pt idx="85">
                  <c:v>2020.709</c:v>
                </c:pt>
                <c:pt idx="86">
                  <c:v>2020.728</c:v>
                </c:pt>
                <c:pt idx="87">
                  <c:v>2020.747</c:v>
                </c:pt>
                <c:pt idx="88">
                  <c:v>2020.767</c:v>
                </c:pt>
                <c:pt idx="89">
                  <c:v>2020.786</c:v>
                </c:pt>
                <c:pt idx="90">
                  <c:v>2020.805</c:v>
                </c:pt>
                <c:pt idx="91">
                  <c:v>2020.824</c:v>
                </c:pt>
                <c:pt idx="92">
                  <c:v>2020.843</c:v>
                </c:pt>
                <c:pt idx="93">
                  <c:v>2020.862</c:v>
                </c:pt>
                <c:pt idx="94">
                  <c:v>2020.882</c:v>
                </c:pt>
                <c:pt idx="95">
                  <c:v>2020.901</c:v>
                </c:pt>
                <c:pt idx="96">
                  <c:v>2020.92</c:v>
                </c:pt>
                <c:pt idx="97">
                  <c:v>2020.939</c:v>
                </c:pt>
                <c:pt idx="98">
                  <c:v>2020.958</c:v>
                </c:pt>
                <c:pt idx="99">
                  <c:v>2020.977</c:v>
                </c:pt>
                <c:pt idx="100">
                  <c:v>2020.996</c:v>
                </c:pt>
                <c:pt idx="101">
                  <c:v>2021.016</c:v>
                </c:pt>
                <c:pt idx="102">
                  <c:v>2021.035</c:v>
                </c:pt>
                <c:pt idx="103">
                  <c:v>2021.054</c:v>
                </c:pt>
                <c:pt idx="104">
                  <c:v>2021.073</c:v>
                </c:pt>
                <c:pt idx="105">
                  <c:v>2021.092</c:v>
                </c:pt>
                <c:pt idx="106">
                  <c:v>2021.111</c:v>
                </c:pt>
                <c:pt idx="107">
                  <c:v>2021.131</c:v>
                </c:pt>
                <c:pt idx="108">
                  <c:v>2021.15</c:v>
                </c:pt>
                <c:pt idx="109">
                  <c:v>2021.169</c:v>
                </c:pt>
                <c:pt idx="110">
                  <c:v>2021.188</c:v>
                </c:pt>
                <c:pt idx="111">
                  <c:v>2021.207</c:v>
                </c:pt>
                <c:pt idx="112">
                  <c:v>2021.226</c:v>
                </c:pt>
                <c:pt idx="113">
                  <c:v>2021.246</c:v>
                </c:pt>
                <c:pt idx="114">
                  <c:v>2021.265</c:v>
                </c:pt>
                <c:pt idx="115">
                  <c:v>2021.284</c:v>
                </c:pt>
                <c:pt idx="116">
                  <c:v>2021.303</c:v>
                </c:pt>
                <c:pt idx="117">
                  <c:v>2021.322</c:v>
                </c:pt>
                <c:pt idx="118">
                  <c:v>2021.341</c:v>
                </c:pt>
                <c:pt idx="119">
                  <c:v>2021.361</c:v>
                </c:pt>
                <c:pt idx="120">
                  <c:v>2021.38</c:v>
                </c:pt>
                <c:pt idx="121">
                  <c:v>2021.399</c:v>
                </c:pt>
                <c:pt idx="122">
                  <c:v>2021.418</c:v>
                </c:pt>
                <c:pt idx="123">
                  <c:v>2021.437</c:v>
                </c:pt>
                <c:pt idx="124">
                  <c:v>2021.456</c:v>
                </c:pt>
                <c:pt idx="125">
                  <c:v>2021.476</c:v>
                </c:pt>
                <c:pt idx="126">
                  <c:v>2021.495</c:v>
                </c:pt>
                <c:pt idx="127">
                  <c:v>2021.514</c:v>
                </c:pt>
                <c:pt idx="128">
                  <c:v>2021.533</c:v>
                </c:pt>
                <c:pt idx="129">
                  <c:v>2021.552</c:v>
                </c:pt>
                <c:pt idx="130">
                  <c:v>2021.571</c:v>
                </c:pt>
                <c:pt idx="131">
                  <c:v>2021.591</c:v>
                </c:pt>
                <c:pt idx="132">
                  <c:v>2021.61</c:v>
                </c:pt>
                <c:pt idx="133">
                  <c:v>2021.629</c:v>
                </c:pt>
                <c:pt idx="134">
                  <c:v>2021.648</c:v>
                </c:pt>
                <c:pt idx="135">
                  <c:v>2021.667</c:v>
                </c:pt>
                <c:pt idx="136">
                  <c:v>2021.686</c:v>
                </c:pt>
                <c:pt idx="137">
                  <c:v>2021.706</c:v>
                </c:pt>
                <c:pt idx="138">
                  <c:v>2021.725</c:v>
                </c:pt>
                <c:pt idx="139">
                  <c:v>2021.744</c:v>
                </c:pt>
                <c:pt idx="140">
                  <c:v>2021.763</c:v>
                </c:pt>
                <c:pt idx="141">
                  <c:v>2021.782</c:v>
                </c:pt>
                <c:pt idx="142">
                  <c:v>2021.801</c:v>
                </c:pt>
                <c:pt idx="143">
                  <c:v>2021.821</c:v>
                </c:pt>
                <c:pt idx="144">
                  <c:v>2021.84</c:v>
                </c:pt>
                <c:pt idx="145">
                  <c:v>2021.859</c:v>
                </c:pt>
                <c:pt idx="146">
                  <c:v>2021.878</c:v>
                </c:pt>
                <c:pt idx="147">
                  <c:v>2021.897</c:v>
                </c:pt>
                <c:pt idx="148">
                  <c:v>2021.916</c:v>
                </c:pt>
                <c:pt idx="149">
                  <c:v>2021.936</c:v>
                </c:pt>
                <c:pt idx="150">
                  <c:v>2021.955</c:v>
                </c:pt>
                <c:pt idx="151">
                  <c:v>2021.974</c:v>
                </c:pt>
                <c:pt idx="152">
                  <c:v>2021.993</c:v>
                </c:pt>
                <c:pt idx="153">
                  <c:v>2022.012</c:v>
                </c:pt>
                <c:pt idx="154">
                  <c:v>2022.031</c:v>
                </c:pt>
                <c:pt idx="155">
                  <c:v>2022.051</c:v>
                </c:pt>
                <c:pt idx="156">
                  <c:v>2022.07</c:v>
                </c:pt>
                <c:pt idx="157">
                  <c:v>2022.089</c:v>
                </c:pt>
                <c:pt idx="158">
                  <c:v>2022.108</c:v>
                </c:pt>
                <c:pt idx="159">
                  <c:v>2022.127</c:v>
                </c:pt>
                <c:pt idx="160">
                  <c:v>2022.146</c:v>
                </c:pt>
                <c:pt idx="161">
                  <c:v>2022.166</c:v>
                </c:pt>
                <c:pt idx="162">
                  <c:v>2022.185</c:v>
                </c:pt>
                <c:pt idx="163">
                  <c:v>2022.204</c:v>
                </c:pt>
                <c:pt idx="164">
                  <c:v>2022.223</c:v>
                </c:pt>
                <c:pt idx="165">
                  <c:v>2022.242</c:v>
                </c:pt>
                <c:pt idx="166">
                  <c:v>2022.261</c:v>
                </c:pt>
                <c:pt idx="167">
                  <c:v>2022.281</c:v>
                </c:pt>
                <c:pt idx="168">
                  <c:v>2022.3</c:v>
                </c:pt>
                <c:pt idx="169">
                  <c:v>2022.319</c:v>
                </c:pt>
                <c:pt idx="170">
                  <c:v>2022.338</c:v>
                </c:pt>
                <c:pt idx="171">
                  <c:v>2022.357</c:v>
                </c:pt>
                <c:pt idx="172">
                  <c:v>2022.376</c:v>
                </c:pt>
                <c:pt idx="173">
                  <c:v>2022.396</c:v>
                </c:pt>
                <c:pt idx="174">
                  <c:v>2022.415</c:v>
                </c:pt>
                <c:pt idx="175">
                  <c:v>2022.434</c:v>
                </c:pt>
                <c:pt idx="176">
                  <c:v>2022.453</c:v>
                </c:pt>
                <c:pt idx="177">
                  <c:v>2022.472</c:v>
                </c:pt>
                <c:pt idx="178">
                  <c:v>2022.491</c:v>
                </c:pt>
                <c:pt idx="179">
                  <c:v>2022.511</c:v>
                </c:pt>
                <c:pt idx="180">
                  <c:v>2022.53</c:v>
                </c:pt>
                <c:pt idx="181">
                  <c:v>2022.549</c:v>
                </c:pt>
                <c:pt idx="182">
                  <c:v>2022.568</c:v>
                </c:pt>
                <c:pt idx="183">
                  <c:v>2022.587</c:v>
                </c:pt>
                <c:pt idx="184">
                  <c:v>2022.606</c:v>
                </c:pt>
                <c:pt idx="185">
                  <c:v>2022.626</c:v>
                </c:pt>
                <c:pt idx="186">
                  <c:v>2022.645</c:v>
                </c:pt>
                <c:pt idx="187">
                  <c:v>2022.664</c:v>
                </c:pt>
                <c:pt idx="188">
                  <c:v>2022.683</c:v>
                </c:pt>
                <c:pt idx="189">
                  <c:v>2022.702</c:v>
                </c:pt>
                <c:pt idx="190">
                  <c:v>2022.721</c:v>
                </c:pt>
                <c:pt idx="191">
                  <c:v>2022.741</c:v>
                </c:pt>
                <c:pt idx="192">
                  <c:v>2022.76</c:v>
                </c:pt>
                <c:pt idx="193">
                  <c:v>2022.779</c:v>
                </c:pt>
                <c:pt idx="194">
                  <c:v>2022.798</c:v>
                </c:pt>
                <c:pt idx="195">
                  <c:v>2022.817</c:v>
                </c:pt>
                <c:pt idx="196">
                  <c:v>2022.836</c:v>
                </c:pt>
                <c:pt idx="197">
                  <c:v>2022.855</c:v>
                </c:pt>
                <c:pt idx="198">
                  <c:v>2022.875</c:v>
                </c:pt>
                <c:pt idx="199">
                  <c:v>2022.894</c:v>
                </c:pt>
                <c:pt idx="200">
                  <c:v>2022.913</c:v>
                </c:pt>
                <c:pt idx="201">
                  <c:v>2022.932</c:v>
                </c:pt>
                <c:pt idx="202">
                  <c:v>2022.951</c:v>
                </c:pt>
                <c:pt idx="203">
                  <c:v>2022.97</c:v>
                </c:pt>
                <c:pt idx="204">
                  <c:v>2022.99</c:v>
                </c:pt>
                <c:pt idx="205">
                  <c:v>2023.009</c:v>
                </c:pt>
                <c:pt idx="206">
                  <c:v>2023.028</c:v>
                </c:pt>
                <c:pt idx="207">
                  <c:v>2023.047</c:v>
                </c:pt>
                <c:pt idx="208">
                  <c:v>2023.066</c:v>
                </c:pt>
                <c:pt idx="209">
                  <c:v>2023.085</c:v>
                </c:pt>
                <c:pt idx="210">
                  <c:v>2023.105</c:v>
                </c:pt>
                <c:pt idx="211">
                  <c:v>2023.124</c:v>
                </c:pt>
                <c:pt idx="212">
                  <c:v>2023.143</c:v>
                </c:pt>
                <c:pt idx="213">
                  <c:v>2023.162</c:v>
                </c:pt>
                <c:pt idx="214">
                  <c:v>2023.181</c:v>
                </c:pt>
                <c:pt idx="215">
                  <c:v>2023.2</c:v>
                </c:pt>
                <c:pt idx="216">
                  <c:v>2023.22</c:v>
                </c:pt>
                <c:pt idx="217">
                  <c:v>2023.239</c:v>
                </c:pt>
                <c:pt idx="218">
                  <c:v>2023.258</c:v>
                </c:pt>
                <c:pt idx="219">
                  <c:v>2023.277</c:v>
                </c:pt>
                <c:pt idx="220">
                  <c:v>2023.296</c:v>
                </c:pt>
                <c:pt idx="221">
                  <c:v>2023.315</c:v>
                </c:pt>
                <c:pt idx="222">
                  <c:v>2023.335</c:v>
                </c:pt>
                <c:pt idx="223">
                  <c:v>2023.354</c:v>
                </c:pt>
                <c:pt idx="224">
                  <c:v>2023.373</c:v>
                </c:pt>
                <c:pt idx="225">
                  <c:v>2023.392</c:v>
                </c:pt>
                <c:pt idx="226">
                  <c:v>2023.411</c:v>
                </c:pt>
                <c:pt idx="227">
                  <c:v>2023.43</c:v>
                </c:pt>
                <c:pt idx="228">
                  <c:v>2023.45</c:v>
                </c:pt>
                <c:pt idx="229">
                  <c:v>2023.469</c:v>
                </c:pt>
                <c:pt idx="230">
                  <c:v>2023.488</c:v>
                </c:pt>
                <c:pt idx="231">
                  <c:v>2023.507</c:v>
                </c:pt>
                <c:pt idx="232">
                  <c:v>2023.526</c:v>
                </c:pt>
                <c:pt idx="233">
                  <c:v>2023.545</c:v>
                </c:pt>
                <c:pt idx="234">
                  <c:v>2023.565</c:v>
                </c:pt>
                <c:pt idx="235">
                  <c:v>2023.584</c:v>
                </c:pt>
                <c:pt idx="236">
                  <c:v>2023.603</c:v>
                </c:pt>
                <c:pt idx="237">
                  <c:v>2023.622</c:v>
                </c:pt>
                <c:pt idx="238">
                  <c:v>2023.641</c:v>
                </c:pt>
                <c:pt idx="239">
                  <c:v>2023.66</c:v>
                </c:pt>
                <c:pt idx="240">
                  <c:v>2023.68</c:v>
                </c:pt>
                <c:pt idx="241">
                  <c:v>2023.699</c:v>
                </c:pt>
                <c:pt idx="242">
                  <c:v>2023.718</c:v>
                </c:pt>
                <c:pt idx="243">
                  <c:v>2023.737</c:v>
                </c:pt>
                <c:pt idx="244">
                  <c:v>2023.756</c:v>
                </c:pt>
                <c:pt idx="245">
                  <c:v>2023.775</c:v>
                </c:pt>
                <c:pt idx="246">
                  <c:v>2023.795</c:v>
                </c:pt>
                <c:pt idx="247">
                  <c:v>2023.814</c:v>
                </c:pt>
                <c:pt idx="248">
                  <c:v>2023.833</c:v>
                </c:pt>
                <c:pt idx="249">
                  <c:v>2023.852</c:v>
                </c:pt>
                <c:pt idx="250">
                  <c:v>2023.871</c:v>
                </c:pt>
                <c:pt idx="251">
                  <c:v>2023.89</c:v>
                </c:pt>
                <c:pt idx="252">
                  <c:v>2023.91</c:v>
                </c:pt>
                <c:pt idx="253">
                  <c:v>2023.929</c:v>
                </c:pt>
                <c:pt idx="254">
                  <c:v>2023.948</c:v>
                </c:pt>
                <c:pt idx="255">
                  <c:v>2023.967</c:v>
                </c:pt>
                <c:pt idx="256">
                  <c:v>2023.986</c:v>
                </c:pt>
                <c:pt idx="257">
                  <c:v>2024.005</c:v>
                </c:pt>
                <c:pt idx="258">
                  <c:v>2024.025</c:v>
                </c:pt>
                <c:pt idx="259">
                  <c:v>2024.044</c:v>
                </c:pt>
                <c:pt idx="260">
                  <c:v>2024.063</c:v>
                </c:pt>
                <c:pt idx="261">
                  <c:v>2024.082</c:v>
                </c:pt>
                <c:pt idx="262">
                  <c:v>2024.101</c:v>
                </c:pt>
                <c:pt idx="263">
                  <c:v>2024.12</c:v>
                </c:pt>
                <c:pt idx="264">
                  <c:v>2024.14</c:v>
                </c:pt>
                <c:pt idx="265">
                  <c:v>2024.159</c:v>
                </c:pt>
                <c:pt idx="266">
                  <c:v>2024.178</c:v>
                </c:pt>
                <c:pt idx="267">
                  <c:v>2024.197</c:v>
                </c:pt>
                <c:pt idx="268">
                  <c:v>2024.216</c:v>
                </c:pt>
                <c:pt idx="269">
                  <c:v>2024.235</c:v>
                </c:pt>
                <c:pt idx="270">
                  <c:v>2024.255</c:v>
                </c:pt>
                <c:pt idx="271">
                  <c:v>2024.274</c:v>
                </c:pt>
                <c:pt idx="272">
                  <c:v>2024.293</c:v>
                </c:pt>
                <c:pt idx="273">
                  <c:v>2024.312</c:v>
                </c:pt>
                <c:pt idx="274">
                  <c:v>2024.331</c:v>
                </c:pt>
                <c:pt idx="275">
                  <c:v>2024.35</c:v>
                </c:pt>
                <c:pt idx="276">
                  <c:v>2024.37</c:v>
                </c:pt>
                <c:pt idx="277">
                  <c:v>2024.389</c:v>
                </c:pt>
                <c:pt idx="278">
                  <c:v>2024.408</c:v>
                </c:pt>
                <c:pt idx="279">
                  <c:v>2024.427</c:v>
                </c:pt>
                <c:pt idx="280">
                  <c:v>2024.446</c:v>
                </c:pt>
                <c:pt idx="281">
                  <c:v>2024.465</c:v>
                </c:pt>
                <c:pt idx="282">
                  <c:v>2024.485</c:v>
                </c:pt>
                <c:pt idx="283">
                  <c:v>2024.504</c:v>
                </c:pt>
                <c:pt idx="284">
                  <c:v>2024.523</c:v>
                </c:pt>
                <c:pt idx="285">
                  <c:v>2024.542</c:v>
                </c:pt>
                <c:pt idx="286">
                  <c:v>2024.561</c:v>
                </c:pt>
                <c:pt idx="287">
                  <c:v>2024.58</c:v>
                </c:pt>
                <c:pt idx="288">
                  <c:v>2024.6</c:v>
                </c:pt>
                <c:pt idx="289">
                  <c:v>2024.619</c:v>
                </c:pt>
                <c:pt idx="290">
                  <c:v>2024.638</c:v>
                </c:pt>
                <c:pt idx="291">
                  <c:v>2024.657</c:v>
                </c:pt>
                <c:pt idx="292">
                  <c:v>2024.676</c:v>
                </c:pt>
                <c:pt idx="293">
                  <c:v>2024.695</c:v>
                </c:pt>
                <c:pt idx="294">
                  <c:v>2024.714</c:v>
                </c:pt>
                <c:pt idx="295">
                  <c:v>2024.734</c:v>
                </c:pt>
                <c:pt idx="296">
                  <c:v>2024.753</c:v>
                </c:pt>
                <c:pt idx="297">
                  <c:v>2024.772</c:v>
                </c:pt>
                <c:pt idx="298">
                  <c:v>2024.791</c:v>
                </c:pt>
                <c:pt idx="299">
                  <c:v>2024.81</c:v>
                </c:pt>
                <c:pt idx="300">
                  <c:v>2024.829</c:v>
                </c:pt>
                <c:pt idx="301">
                  <c:v>2024.849</c:v>
                </c:pt>
                <c:pt idx="302">
                  <c:v>2024.868</c:v>
                </c:pt>
                <c:pt idx="303">
                  <c:v>2024.887</c:v>
                </c:pt>
                <c:pt idx="304">
                  <c:v>2024.906</c:v>
                </c:pt>
                <c:pt idx="305">
                  <c:v>2024.925</c:v>
                </c:pt>
                <c:pt idx="306">
                  <c:v>2024.944</c:v>
                </c:pt>
                <c:pt idx="307">
                  <c:v>2024.964</c:v>
                </c:pt>
                <c:pt idx="308">
                  <c:v>2024.983</c:v>
                </c:pt>
                <c:pt idx="309">
                  <c:v>2025.002</c:v>
                </c:pt>
                <c:pt idx="310">
                  <c:v>2025.021</c:v>
                </c:pt>
                <c:pt idx="311">
                  <c:v>2025.04</c:v>
                </c:pt>
                <c:pt idx="312">
                  <c:v>2025.059</c:v>
                </c:pt>
                <c:pt idx="313">
                  <c:v>2025.079</c:v>
                </c:pt>
                <c:pt idx="314">
                  <c:v>2025.098</c:v>
                </c:pt>
                <c:pt idx="315">
                  <c:v>2025.117</c:v>
                </c:pt>
                <c:pt idx="316">
                  <c:v>2025.136</c:v>
                </c:pt>
                <c:pt idx="317">
                  <c:v>2025.155</c:v>
                </c:pt>
                <c:pt idx="318">
                  <c:v>2025.174</c:v>
                </c:pt>
                <c:pt idx="319">
                  <c:v>2025.194</c:v>
                </c:pt>
                <c:pt idx="320">
                  <c:v>2025.213</c:v>
                </c:pt>
                <c:pt idx="321">
                  <c:v>2025.232</c:v>
                </c:pt>
                <c:pt idx="322">
                  <c:v>2025.251</c:v>
                </c:pt>
                <c:pt idx="323">
                  <c:v>2025.27</c:v>
                </c:pt>
                <c:pt idx="324">
                  <c:v>2025.289</c:v>
                </c:pt>
                <c:pt idx="325">
                  <c:v>2025.309</c:v>
                </c:pt>
                <c:pt idx="326">
                  <c:v>2025.328</c:v>
                </c:pt>
                <c:pt idx="327">
                  <c:v>2025.347</c:v>
                </c:pt>
                <c:pt idx="328">
                  <c:v>2025.366</c:v>
                </c:pt>
                <c:pt idx="329">
                  <c:v>2025.385</c:v>
                </c:pt>
                <c:pt idx="330">
                  <c:v>2025.404</c:v>
                </c:pt>
                <c:pt idx="331">
                  <c:v>2025.424</c:v>
                </c:pt>
                <c:pt idx="332">
                  <c:v>2025.443</c:v>
                </c:pt>
                <c:pt idx="333">
                  <c:v>2025.462</c:v>
                </c:pt>
                <c:pt idx="334">
                  <c:v>2025.481</c:v>
                </c:pt>
                <c:pt idx="335">
                  <c:v>2025.5</c:v>
                </c:pt>
                <c:pt idx="336">
                  <c:v>2025.519</c:v>
                </c:pt>
                <c:pt idx="337">
                  <c:v>2025.539</c:v>
                </c:pt>
                <c:pt idx="338">
                  <c:v>2025.558</c:v>
                </c:pt>
                <c:pt idx="339">
                  <c:v>2025.577</c:v>
                </c:pt>
                <c:pt idx="340">
                  <c:v>2025.596</c:v>
                </c:pt>
                <c:pt idx="341">
                  <c:v>2025.615</c:v>
                </c:pt>
                <c:pt idx="342">
                  <c:v>2025.634</c:v>
                </c:pt>
                <c:pt idx="343">
                  <c:v>2025.654</c:v>
                </c:pt>
                <c:pt idx="344">
                  <c:v>2025.673</c:v>
                </c:pt>
                <c:pt idx="345">
                  <c:v>2025.692</c:v>
                </c:pt>
                <c:pt idx="346">
                  <c:v>2025.711</c:v>
                </c:pt>
                <c:pt idx="347">
                  <c:v>2025.73</c:v>
                </c:pt>
                <c:pt idx="348">
                  <c:v>2025.749</c:v>
                </c:pt>
                <c:pt idx="349">
                  <c:v>2025.769</c:v>
                </c:pt>
                <c:pt idx="350">
                  <c:v>2025.788</c:v>
                </c:pt>
                <c:pt idx="351">
                  <c:v>2025.807</c:v>
                </c:pt>
                <c:pt idx="352">
                  <c:v>2025.826</c:v>
                </c:pt>
                <c:pt idx="353">
                  <c:v>2025.845</c:v>
                </c:pt>
                <c:pt idx="354">
                  <c:v>2025.864</c:v>
                </c:pt>
                <c:pt idx="355">
                  <c:v>2025.884</c:v>
                </c:pt>
                <c:pt idx="356">
                  <c:v>2025.903</c:v>
                </c:pt>
                <c:pt idx="357">
                  <c:v>2025.922</c:v>
                </c:pt>
                <c:pt idx="358">
                  <c:v>2025.941</c:v>
                </c:pt>
                <c:pt idx="359">
                  <c:v>2025.96</c:v>
                </c:pt>
                <c:pt idx="360">
                  <c:v>2025.979</c:v>
                </c:pt>
                <c:pt idx="361">
                  <c:v>2025.999</c:v>
                </c:pt>
                <c:pt idx="362">
                  <c:v>2026.018</c:v>
                </c:pt>
                <c:pt idx="363">
                  <c:v>2026.037</c:v>
                </c:pt>
                <c:pt idx="364">
                  <c:v>2026.056</c:v>
                </c:pt>
                <c:pt idx="365">
                  <c:v>2026.075</c:v>
                </c:pt>
                <c:pt idx="366">
                  <c:v>2026.094</c:v>
                </c:pt>
                <c:pt idx="367">
                  <c:v>2026.114</c:v>
                </c:pt>
                <c:pt idx="368">
                  <c:v>2026.133</c:v>
                </c:pt>
                <c:pt idx="369">
                  <c:v>2026.152</c:v>
                </c:pt>
                <c:pt idx="370">
                  <c:v>2026.171</c:v>
                </c:pt>
                <c:pt idx="371">
                  <c:v>2026.19</c:v>
                </c:pt>
                <c:pt idx="372">
                  <c:v>2026.209</c:v>
                </c:pt>
                <c:pt idx="373">
                  <c:v>2026.229</c:v>
                </c:pt>
                <c:pt idx="374">
                  <c:v>2026.248</c:v>
                </c:pt>
                <c:pt idx="375">
                  <c:v>2026.267</c:v>
                </c:pt>
                <c:pt idx="376">
                  <c:v>2026.286</c:v>
                </c:pt>
                <c:pt idx="377">
                  <c:v>2026.305</c:v>
                </c:pt>
                <c:pt idx="378">
                  <c:v>2026.324</c:v>
                </c:pt>
                <c:pt idx="379">
                  <c:v>2026.344</c:v>
                </c:pt>
                <c:pt idx="380">
                  <c:v>2026.363</c:v>
                </c:pt>
                <c:pt idx="381">
                  <c:v>2026.382</c:v>
                </c:pt>
                <c:pt idx="382">
                  <c:v>2026.401</c:v>
                </c:pt>
                <c:pt idx="383">
                  <c:v>2026.42</c:v>
                </c:pt>
                <c:pt idx="384">
                  <c:v>2026.439</c:v>
                </c:pt>
                <c:pt idx="385">
                  <c:v>2026.459</c:v>
                </c:pt>
                <c:pt idx="386">
                  <c:v>2026.478</c:v>
                </c:pt>
                <c:pt idx="387">
                  <c:v>2026.497</c:v>
                </c:pt>
                <c:pt idx="388">
                  <c:v>2026.516</c:v>
                </c:pt>
                <c:pt idx="389">
                  <c:v>2026.535</c:v>
                </c:pt>
                <c:pt idx="390">
                  <c:v>2026.554</c:v>
                </c:pt>
                <c:pt idx="391">
                  <c:v>2026.573</c:v>
                </c:pt>
                <c:pt idx="392">
                  <c:v>2026.593</c:v>
                </c:pt>
                <c:pt idx="393">
                  <c:v>2026.612</c:v>
                </c:pt>
                <c:pt idx="394">
                  <c:v>2026.631</c:v>
                </c:pt>
                <c:pt idx="395">
                  <c:v>2026.65</c:v>
                </c:pt>
                <c:pt idx="396">
                  <c:v>2026.669</c:v>
                </c:pt>
                <c:pt idx="397">
                  <c:v>2026.688</c:v>
                </c:pt>
                <c:pt idx="398">
                  <c:v>2026.708</c:v>
                </c:pt>
                <c:pt idx="399">
                  <c:v>2026.727</c:v>
                </c:pt>
                <c:pt idx="400">
                  <c:v>2026.746</c:v>
                </c:pt>
              </c:numCache>
            </c:numRef>
          </c:xVal>
          <c:yVal>
            <c:numRef>
              <c:f>Sheet1!$C$2:$C$402</c:f>
              <c:numCache>
                <c:formatCode>General</c:formatCode>
                <c:ptCount val="401"/>
                <c:pt idx="0">
                  <c:v>100</c:v>
                </c:pt>
                <c:pt idx="1">
                  <c:v>97.6</c:v>
                </c:pt>
                <c:pt idx="2">
                  <c:v>113.4</c:v>
                </c:pt>
                <c:pt idx="3">
                  <c:v>136.5</c:v>
                </c:pt>
                <c:pt idx="4">
                  <c:v>127.7</c:v>
                </c:pt>
                <c:pt idx="5">
                  <c:v>128.9</c:v>
                </c:pt>
                <c:pt idx="6">
                  <c:v>124.9</c:v>
                </c:pt>
                <c:pt idx="7">
                  <c:v>127.6</c:v>
                </c:pt>
                <c:pt idx="8">
                  <c:v>130.2</c:v>
                </c:pt>
                <c:pt idx="9">
                  <c:v>147.6</c:v>
                </c:pt>
                <c:pt idx="10">
                  <c:v>154.6</c:v>
                </c:pt>
                <c:pt idx="11">
                  <c:v>162.4</c:v>
                </c:pt>
                <c:pt idx="12">
                  <c:v>144.3</c:v>
                </c:pt>
                <c:pt idx="13">
                  <c:v>151.4</c:v>
                </c:pt>
                <c:pt idx="14">
                  <c:v>159.1</c:v>
                </c:pt>
                <c:pt idx="15">
                  <c:v>246.6</c:v>
                </c:pt>
                <c:pt idx="16">
                  <c:v>229.7</c:v>
                </c:pt>
                <c:pt idx="17">
                  <c:v>239</c:v>
                </c:pt>
                <c:pt idx="18">
                  <c:v>233</c:v>
                </c:pt>
                <c:pt idx="19">
                  <c:v>239.3</c:v>
                </c:pt>
                <c:pt idx="20">
                  <c:v>253.8</c:v>
                </c:pt>
                <c:pt idx="21">
                  <c:v>274.9</c:v>
                </c:pt>
                <c:pt idx="22">
                  <c:v>265.8</c:v>
                </c:pt>
                <c:pt idx="23">
                  <c:v>251</c:v>
                </c:pt>
                <c:pt idx="24">
                  <c:v>211.6</c:v>
                </c:pt>
                <c:pt idx="25">
                  <c:v>205.1</c:v>
                </c:pt>
                <c:pt idx="26">
                  <c:v>203.4</c:v>
                </c:pt>
                <c:pt idx="27">
                  <c:v>206.4</c:v>
                </c:pt>
                <c:pt idx="28">
                  <c:v>176.1</c:v>
                </c:pt>
                <c:pt idx="29">
                  <c:v>178.7</c:v>
                </c:pt>
                <c:pt idx="30">
                  <c:v>158.3</c:v>
                </c:pt>
                <c:pt idx="31">
                  <c:v>162.7</c:v>
                </c:pt>
                <c:pt idx="32">
                  <c:v>169.1</c:v>
                </c:pt>
                <c:pt idx="33">
                  <c:v>206.7</c:v>
                </c:pt>
                <c:pt idx="34">
                  <c:v>155.7</c:v>
                </c:pt>
                <c:pt idx="35">
                  <c:v>163.6</c:v>
                </c:pt>
                <c:pt idx="36">
                  <c:v>179</c:v>
                </c:pt>
                <c:pt idx="37">
                  <c:v>166.3</c:v>
                </c:pt>
                <c:pt idx="38">
                  <c:v>151.5</c:v>
                </c:pt>
                <c:pt idx="39">
                  <c:v>171.8</c:v>
                </c:pt>
                <c:pt idx="40">
                  <c:v>175.6</c:v>
                </c:pt>
                <c:pt idx="41">
                  <c:v>173.7</c:v>
                </c:pt>
                <c:pt idx="42">
                  <c:v>150.8</c:v>
                </c:pt>
                <c:pt idx="43">
                  <c:v>141.7</c:v>
                </c:pt>
                <c:pt idx="44">
                  <c:v>139.4</c:v>
                </c:pt>
                <c:pt idx="45">
                  <c:v>136</c:v>
                </c:pt>
                <c:pt idx="46">
                  <c:v>120.8</c:v>
                </c:pt>
                <c:pt idx="47">
                  <c:v>118</c:v>
                </c:pt>
                <c:pt idx="48">
                  <c:v>119</c:v>
                </c:pt>
                <c:pt idx="49">
                  <c:v>129.8</c:v>
                </c:pt>
                <c:pt idx="50">
                  <c:v>153.5</c:v>
                </c:pt>
                <c:pt idx="51">
                  <c:v>152.2</c:v>
                </c:pt>
                <c:pt idx="52">
                  <c:v>172.5</c:v>
                </c:pt>
                <c:pt idx="53">
                  <c:v>198.3</c:v>
                </c:pt>
                <c:pt idx="54">
                  <c:v>250.4</c:v>
                </c:pt>
                <c:pt idx="55">
                  <c:v>240.9</c:v>
                </c:pt>
                <c:pt idx="56">
                  <c:v>211.8</c:v>
                </c:pt>
                <c:pt idx="57">
                  <c:v>214.1</c:v>
                </c:pt>
                <c:pt idx="58">
                  <c:v>104.9</c:v>
                </c:pt>
                <c:pt idx="59">
                  <c:v>127.6</c:v>
                </c:pt>
                <c:pt idx="60">
                  <c:v>129.2</c:v>
                </c:pt>
                <c:pt idx="61">
                  <c:v>132.7</c:v>
                </c:pt>
                <c:pt idx="62">
                  <c:v>159.5</c:v>
                </c:pt>
                <c:pt idx="63">
                  <c:v>160.8</c:v>
                </c:pt>
                <c:pt idx="64">
                  <c:v>172.8</c:v>
                </c:pt>
                <c:pt idx="65">
                  <c:v>193.9</c:v>
                </c:pt>
                <c:pt idx="66">
                  <c:v>198.3</c:v>
                </c:pt>
                <c:pt idx="67">
                  <c:v>189.6</c:v>
                </c:pt>
                <c:pt idx="68">
                  <c:v>186.7</c:v>
                </c:pt>
                <c:pt idx="69">
                  <c:v>205.3</c:v>
                </c:pt>
                <c:pt idx="70">
                  <c:v>228.3</c:v>
                </c:pt>
                <c:pt idx="71">
                  <c:v>216.4</c:v>
                </c:pt>
                <c:pt idx="72">
                  <c:v>216.8</c:v>
                </c:pt>
                <c:pt idx="73">
                  <c:v>217.6</c:v>
                </c:pt>
                <c:pt idx="74">
                  <c:v>214.3</c:v>
                </c:pt>
                <c:pt idx="75">
                  <c:v>227</c:v>
                </c:pt>
                <c:pt idx="76">
                  <c:v>218.2</c:v>
                </c:pt>
                <c:pt idx="77">
                  <c:v>256.6</c:v>
                </c:pt>
                <c:pt idx="78">
                  <c:v>312.5</c:v>
                </c:pt>
                <c:pt idx="79">
                  <c:v>368.9</c:v>
                </c:pt>
                <c:pt idx="80">
                  <c:v>400.5</c:v>
                </c:pt>
                <c:pt idx="81">
                  <c:v>389</c:v>
                </c:pt>
                <c:pt idx="82">
                  <c:v>357.4</c:v>
                </c:pt>
                <c:pt idx="83">
                  <c:v>360.2</c:v>
                </c:pt>
                <c:pt idx="84">
                  <c:v>343.8</c:v>
                </c:pt>
                <c:pt idx="85">
                  <c:v>363.4</c:v>
                </c:pt>
                <c:pt idx="86">
                  <c:v>326.3</c:v>
                </c:pt>
                <c:pt idx="87">
                  <c:v>329.9</c:v>
                </c:pt>
                <c:pt idx="88">
                  <c:v>327.6</c:v>
                </c:pt>
                <c:pt idx="89">
                  <c:v>352.5</c:v>
                </c:pt>
                <c:pt idx="90">
                  <c:v>386.5</c:v>
                </c:pt>
                <c:pt idx="91">
                  <c:v>361.2</c:v>
                </c:pt>
                <c:pt idx="92">
                  <c:v>386.8</c:v>
                </c:pt>
                <c:pt idx="93">
                  <c:v>430.6</c:v>
                </c:pt>
                <c:pt idx="94">
                  <c:v>440.5</c:v>
                </c:pt>
                <c:pt idx="95">
                  <c:v>484.6</c:v>
                </c:pt>
                <c:pt idx="96">
                  <c:v>576</c:v>
                </c:pt>
                <c:pt idx="97">
                  <c:v>522.8</c:v>
                </c:pt>
                <c:pt idx="98">
                  <c:v>600.5</c:v>
                </c:pt>
                <c:pt idx="99">
                  <c:v>571.3</c:v>
                </c:pt>
                <c:pt idx="100">
                  <c:v>689.1</c:v>
                </c:pt>
                <c:pt idx="101">
                  <c:v>1144.8</c:v>
                </c:pt>
                <c:pt idx="102">
                  <c:v>1138.1</c:v>
                </c:pt>
                <c:pt idx="103">
                  <c:v>1047.6</c:v>
                </c:pt>
                <c:pt idx="104">
                  <c:v>1244.6</c:v>
                </c:pt>
                <c:pt idx="105">
                  <c:v>1489.6</c:v>
                </c:pt>
                <c:pt idx="106">
                  <c:v>1666.2</c:v>
                </c:pt>
                <c:pt idx="107">
                  <c:v>1809.7</c:v>
                </c:pt>
                <c:pt idx="108">
                  <c:v>1378.4</c:v>
                </c:pt>
                <c:pt idx="109">
                  <c:v>1440.2</c:v>
                </c:pt>
                <c:pt idx="110">
                  <c:v>1705.8</c:v>
                </c:pt>
                <c:pt idx="111">
                  <c:v>1665.3</c:v>
                </c:pt>
                <c:pt idx="112">
                  <c:v>1490.1</c:v>
                </c:pt>
                <c:pt idx="113">
                  <c:v>1846.9</c:v>
                </c:pt>
                <c:pt idx="114">
                  <c:v>1950.8</c:v>
                </c:pt>
                <c:pt idx="115">
                  <c:v>2353</c:v>
                </c:pt>
                <c:pt idx="116">
                  <c:v>2245</c:v>
                </c:pt>
                <c:pt idx="117">
                  <c:v>2575.1</c:v>
                </c:pt>
                <c:pt idx="118">
                  <c:v>3260.6</c:v>
                </c:pt>
                <c:pt idx="119">
                  <c:v>3470.1</c:v>
                </c:pt>
                <c:pt idx="120">
                  <c:v>2600.7</c:v>
                </c:pt>
                <c:pt idx="121">
                  <c:v>2556</c:v>
                </c:pt>
                <c:pt idx="122">
                  <c:v>2666.8</c:v>
                </c:pt>
                <c:pt idx="123">
                  <c:v>2308.5</c:v>
                </c:pt>
                <c:pt idx="124">
                  <c:v>2215.6</c:v>
                </c:pt>
                <c:pt idx="125">
                  <c:v>1857.3</c:v>
                </c:pt>
                <c:pt idx="126">
                  <c:v>1974.2</c:v>
                </c:pt>
                <c:pt idx="127">
                  <c:v>1980.2</c:v>
                </c:pt>
                <c:pt idx="128">
                  <c:v>1785.1</c:v>
                </c:pt>
                <c:pt idx="129">
                  <c:v>1891.6</c:v>
                </c:pt>
                <c:pt idx="130">
                  <c:v>2223.9</c:v>
                </c:pt>
                <c:pt idx="131">
                  <c:v>2640.9</c:v>
                </c:pt>
                <c:pt idx="132">
                  <c:v>2842.7</c:v>
                </c:pt>
                <c:pt idx="133">
                  <c:v>2972.8</c:v>
                </c:pt>
                <c:pt idx="134">
                  <c:v>2895.8</c:v>
                </c:pt>
                <c:pt idx="135">
                  <c:v>3541</c:v>
                </c:pt>
                <c:pt idx="136">
                  <c:v>3201.3</c:v>
                </c:pt>
                <c:pt idx="137">
                  <c:v>3335.8</c:v>
                </c:pt>
                <c:pt idx="138">
                  <c:v>2947.4</c:v>
                </c:pt>
                <c:pt idx="139">
                  <c:v>2803.7</c:v>
                </c:pt>
                <c:pt idx="140">
                  <c:v>3351.3</c:v>
                </c:pt>
                <c:pt idx="141">
                  <c:v>3536.3</c:v>
                </c:pt>
                <c:pt idx="142">
                  <c:v>3786.9</c:v>
                </c:pt>
                <c:pt idx="143">
                  <c:v>4004.6</c:v>
                </c:pt>
                <c:pt idx="144">
                  <c:v>4238.1</c:v>
                </c:pt>
                <c:pt idx="145">
                  <c:v>4418.4</c:v>
                </c:pt>
                <c:pt idx="146">
                  <c:v>3736.8</c:v>
                </c:pt>
                <c:pt idx="147">
                  <c:v>3992.8</c:v>
                </c:pt>
                <c:pt idx="148">
                  <c:v>4213.8</c:v>
                </c:pt>
                <c:pt idx="149">
                  <c:v>3848.1</c:v>
                </c:pt>
                <c:pt idx="150">
                  <c:v>3701.1</c:v>
                </c:pt>
                <c:pt idx="151">
                  <c:v>3837.1</c:v>
                </c:pt>
                <c:pt idx="152">
                  <c:v>3468.9</c:v>
                </c:pt>
                <c:pt idx="153">
                  <c:v>3193</c:v>
                </c:pt>
                <c:pt idx="154">
                  <c:v>3034.1</c:v>
                </c:pt>
                <c:pt idx="155">
                  <c:v>2803.2</c:v>
                </c:pt>
                <c:pt idx="156">
                  <c:v>2263.2</c:v>
                </c:pt>
                <c:pt idx="157">
                  <c:v>2502.5</c:v>
                </c:pt>
                <c:pt idx="158">
                  <c:v>2874.5</c:v>
                </c:pt>
                <c:pt idx="159">
                  <c:v>2691.4</c:v>
                </c:pt>
                <c:pt idx="160">
                  <c:v>2426.7</c:v>
                </c:pt>
                <c:pt idx="161">
                  <c:v>2647.5</c:v>
                </c:pt>
                <c:pt idx="162">
                  <c:v>2436</c:v>
                </c:pt>
                <c:pt idx="163">
                  <c:v>2629.2</c:v>
                </c:pt>
                <c:pt idx="164">
                  <c:v>2903.1</c:v>
                </c:pt>
                <c:pt idx="165">
                  <c:v>3065.2</c:v>
                </c:pt>
                <c:pt idx="166">
                  <c:v>3020</c:v>
                </c:pt>
                <c:pt idx="167">
                  <c:v>2820.7</c:v>
                </c:pt>
                <c:pt idx="168">
                  <c:v>2790.4</c:v>
                </c:pt>
                <c:pt idx="169">
                  <c:v>2743.2</c:v>
                </c:pt>
                <c:pt idx="170">
                  <c:v>2567.9</c:v>
                </c:pt>
                <c:pt idx="171">
                  <c:v>1832.3</c:v>
                </c:pt>
                <c:pt idx="172">
                  <c:v>1885.2</c:v>
                </c:pt>
                <c:pt idx="173">
                  <c:v>1684.9</c:v>
                </c:pt>
                <c:pt idx="174">
                  <c:v>1713.2</c:v>
                </c:pt>
                <c:pt idx="175">
                  <c:v>1671.8</c:v>
                </c:pt>
                <c:pt idx="176">
                  <c:v>997.3</c:v>
                </c:pt>
                <c:pt idx="177">
                  <c:v>1068</c:v>
                </c:pt>
                <c:pt idx="178">
                  <c:v>996.9</c:v>
                </c:pt>
                <c:pt idx="179">
                  <c:v>1156</c:v>
                </c:pt>
                <c:pt idx="180">
                  <c:v>1112.9</c:v>
                </c:pt>
                <c:pt idx="181">
                  <c:v>1472.8</c:v>
                </c:pt>
                <c:pt idx="182">
                  <c:v>1611.7</c:v>
                </c:pt>
                <c:pt idx="183">
                  <c:v>1502.1</c:v>
                </c:pt>
                <c:pt idx="184">
                  <c:v>1757.2</c:v>
                </c:pt>
                <c:pt idx="185">
                  <c:v>1725.2</c:v>
                </c:pt>
                <c:pt idx="186">
                  <c:v>1584.6</c:v>
                </c:pt>
                <c:pt idx="187">
                  <c:v>1481.6</c:v>
                </c:pt>
                <c:pt idx="188">
                  <c:v>1527.5</c:v>
                </c:pt>
                <c:pt idx="189">
                  <c:v>1374.6</c:v>
                </c:pt>
                <c:pt idx="190">
                  <c:v>1240.1</c:v>
                </c:pt>
                <c:pt idx="191">
                  <c:v>1247.6</c:v>
                </c:pt>
                <c:pt idx="192">
                  <c:v>1262.6</c:v>
                </c:pt>
                <c:pt idx="193">
                  <c:v>1203.2</c:v>
                </c:pt>
                <c:pt idx="194">
                  <c:v>1198.6</c:v>
                </c:pt>
                <c:pt idx="195">
                  <c:v>1414.5</c:v>
                </c:pt>
                <c:pt idx="196">
                  <c:v>1430.5</c:v>
                </c:pt>
                <c:pt idx="197">
                  <c:v>1213.8</c:v>
                </c:pt>
                <c:pt idx="198">
                  <c:v>1121.6</c:v>
                </c:pt>
                <c:pt idx="199">
                  <c:v>1124.6</c:v>
                </c:pt>
                <c:pt idx="200">
                  <c:v>1192.1</c:v>
                </c:pt>
                <c:pt idx="201">
                  <c:v>1196.6</c:v>
                </c:pt>
                <c:pt idx="202">
                  <c:v>1182.8</c:v>
                </c:pt>
                <c:pt idx="203">
                  <c:v>1137.8</c:v>
                </c:pt>
                <c:pt idx="204">
                  <c:v>1122.3</c:v>
                </c:pt>
                <c:pt idx="205">
                  <c:v>1168</c:v>
                </c:pt>
                <c:pt idx="206">
                  <c:v>1324.4</c:v>
                </c:pt>
                <c:pt idx="207">
                  <c:v>1450.2</c:v>
                </c:pt>
                <c:pt idx="208">
                  <c:v>1497.4</c:v>
                </c:pt>
                <c:pt idx="209">
                  <c:v>1534.9</c:v>
                </c:pt>
                <c:pt idx="210">
                  <c:v>1444.4</c:v>
                </c:pt>
                <c:pt idx="211">
                  <c:v>1531.9</c:v>
                </c:pt>
                <c:pt idx="212">
                  <c:v>1542.2</c:v>
                </c:pt>
                <c:pt idx="213">
                  <c:v>1538.7</c:v>
                </c:pt>
                <c:pt idx="214">
                  <c:v>1343.8</c:v>
                </c:pt>
                <c:pt idx="215">
                  <c:v>1566.6</c:v>
                </c:pt>
                <c:pt idx="216">
                  <c:v>1696.6</c:v>
                </c:pt>
                <c:pt idx="217">
                  <c:v>1674.5</c:v>
                </c:pt>
                <c:pt idx="218">
                  <c:v>1749.4</c:v>
                </c:pt>
                <c:pt idx="219">
                  <c:v>1879.9</c:v>
                </c:pt>
                <c:pt idx="220">
                  <c:v>1814.9</c:v>
                </c:pt>
                <c:pt idx="221">
                  <c:v>1782.9</c:v>
                </c:pt>
                <c:pt idx="222">
                  <c:v>1753.9</c:v>
                </c:pt>
                <c:pt idx="223">
                  <c:v>1678</c:v>
                </c:pt>
                <c:pt idx="224">
                  <c:v>1682.9</c:v>
                </c:pt>
                <c:pt idx="225">
                  <c:v>1686.8</c:v>
                </c:pt>
                <c:pt idx="226">
                  <c:v>1739.4</c:v>
                </c:pt>
                <c:pt idx="227">
                  <c:v>1724.5</c:v>
                </c:pt>
                <c:pt idx="228">
                  <c:v>1555.7</c:v>
                </c:pt>
                <c:pt idx="229">
                  <c:v>1749.4</c:v>
                </c:pt>
                <c:pt idx="230">
                  <c:v>1730.1</c:v>
                </c:pt>
                <c:pt idx="231">
                  <c:v>1726.7</c:v>
                </c:pt>
                <c:pt idx="232">
                  <c:v>1874.2</c:v>
                </c:pt>
                <c:pt idx="233">
                  <c:v>1766.3</c:v>
                </c:pt>
                <c:pt idx="234">
                  <c:v>1737.7</c:v>
                </c:pt>
                <c:pt idx="235">
                  <c:v>1714.1</c:v>
                </c:pt>
                <c:pt idx="236">
                  <c:v>1728.7</c:v>
                </c:pt>
                <c:pt idx="237">
                  <c:v>1573.8</c:v>
                </c:pt>
                <c:pt idx="238">
                  <c:v>1550.5</c:v>
                </c:pt>
                <c:pt idx="239">
                  <c:v>1537.1</c:v>
                </c:pt>
                <c:pt idx="240">
                  <c:v>1538.9</c:v>
                </c:pt>
                <c:pt idx="241">
                  <c:v>1519.7</c:v>
                </c:pt>
                <c:pt idx="242">
                  <c:v>1479.8</c:v>
                </c:pt>
                <c:pt idx="243">
                  <c:v>1543.9</c:v>
                </c:pt>
                <c:pt idx="244">
                  <c:v>1505.2</c:v>
                </c:pt>
                <c:pt idx="245">
                  <c:v>1438.1</c:v>
                </c:pt>
                <c:pt idx="246">
                  <c:v>1464.1</c:v>
                </c:pt>
                <c:pt idx="247">
                  <c:v>1685.1</c:v>
                </c:pt>
                <c:pt idx="248">
                  <c:v>1681.9</c:v>
                </c:pt>
                <c:pt idx="249">
                  <c:v>1980.7</c:v>
                </c:pt>
                <c:pt idx="250">
                  <c:v>1831.6</c:v>
                </c:pt>
                <c:pt idx="251">
                  <c:v>1926.2</c:v>
                </c:pt>
                <c:pt idx="252">
                  <c:v>1917.2</c:v>
                </c:pt>
                <c:pt idx="253">
                  <c:v>2202.1</c:v>
                </c:pt>
                <c:pt idx="254">
                  <c:v>2163.8</c:v>
                </c:pt>
                <c:pt idx="255">
                  <c:v>2091.8</c:v>
                </c:pt>
                <c:pt idx="256">
                  <c:v>2192.7</c:v>
                </c:pt>
                <c:pt idx="257">
                  <c:v>2119.4</c:v>
                </c:pt>
                <c:pt idx="258">
                  <c:v>2446.8</c:v>
                </c:pt>
                <c:pt idx="259">
                  <c:v>2304.3</c:v>
                </c:pt>
                <c:pt idx="260">
                  <c:v>2071.4</c:v>
                </c:pt>
                <c:pt idx="261">
                  <c:v>2151.9</c:v>
                </c:pt>
                <c:pt idx="262">
                  <c:v>2260.3</c:v>
                </c:pt>
                <c:pt idx="263">
                  <c:v>2638.1</c:v>
                </c:pt>
                <c:pt idx="264">
                  <c:v>2775.1</c:v>
                </c:pt>
                <c:pt idx="265">
                  <c:v>3121.5</c:v>
                </c:pt>
                <c:pt idx="266">
                  <c:v>3618.8</c:v>
                </c:pt>
                <c:pt idx="267">
                  <c:v>3627</c:v>
                </c:pt>
                <c:pt idx="268">
                  <c:v>3262.6</c:v>
                </c:pt>
                <c:pt idx="269">
                  <c:v>3326.4</c:v>
                </c:pt>
                <c:pt idx="270">
                  <c:v>3110.4</c:v>
                </c:pt>
                <c:pt idx="271">
                  <c:v>3274.1</c:v>
                </c:pt>
                <c:pt idx="272">
                  <c:v>2863.8</c:v>
                </c:pt>
                <c:pt idx="273">
                  <c:v>2948.3</c:v>
                </c:pt>
                <c:pt idx="274">
                  <c:v>2791.1</c:v>
                </c:pt>
                <c:pt idx="275">
                  <c:v>2835.8</c:v>
                </c:pt>
                <c:pt idx="276">
                  <c:v>2750.9</c:v>
                </c:pt>
                <c:pt idx="277">
                  <c:v>3527.8</c:v>
                </c:pt>
                <c:pt idx="278">
                  <c:v>3499.7</c:v>
                </c:pt>
                <c:pt idx="279">
                  <c:v>3560.2</c:v>
                </c:pt>
                <c:pt idx="280">
                  <c:v>3240.5</c:v>
                </c:pt>
                <c:pt idx="281">
                  <c:v>3279.5</c:v>
                </c:pt>
                <c:pt idx="282">
                  <c:v>3217.6</c:v>
                </c:pt>
                <c:pt idx="283">
                  <c:v>2853.1</c:v>
                </c:pt>
                <c:pt idx="284">
                  <c:v>2895.9</c:v>
                </c:pt>
                <c:pt idx="285">
                  <c:v>3200.3</c:v>
                </c:pt>
                <c:pt idx="286">
                  <c:v>2965.1</c:v>
                </c:pt>
                <c:pt idx="287">
                  <c:v>2990.4</c:v>
                </c:pt>
                <c:pt idx="288">
                  <c:v>2506.4</c:v>
                </c:pt>
                <c:pt idx="289">
                  <c:v>2400.6</c:v>
                </c:pt>
                <c:pt idx="290">
                  <c:v>2450</c:v>
                </c:pt>
                <c:pt idx="291">
                  <c:v>2362</c:v>
                </c:pt>
                <c:pt idx="292">
                  <c:v>2211.6</c:v>
                </c:pt>
                <c:pt idx="293">
                  <c:v>2206</c:v>
                </c:pt>
                <c:pt idx="294">
                  <c:v>2302.2</c:v>
                </c:pt>
                <c:pt idx="295">
                  <c:v>2458.6</c:v>
                </c:pt>
                <c:pt idx="296">
                  <c:v>2194.8</c:v>
                </c:pt>
                <c:pt idx="297">
                  <c:v>2226.6</c:v>
                </c:pt>
                <c:pt idx="298">
                  <c:v>2432.5</c:v>
                </c:pt>
                <c:pt idx="299">
                  <c:v>2367.3</c:v>
                </c:pt>
                <c:pt idx="300">
                  <c:v>2349.9</c:v>
                </c:pt>
                <c:pt idx="301">
                  <c:v>2704.6</c:v>
                </c:pt>
                <c:pt idx="302">
                  <c:v>2857.2</c:v>
                </c:pt>
                <c:pt idx="303">
                  <c:v>3139.4</c:v>
                </c:pt>
                <c:pt idx="304">
                  <c:v>3343.7</c:v>
                </c:pt>
                <c:pt idx="305">
                  <c:v>3559.7</c:v>
                </c:pt>
                <c:pt idx="306">
                  <c:v>3627</c:v>
                </c:pt>
                <c:pt idx="307">
                  <c:v>3192.5</c:v>
                </c:pt>
                <c:pt idx="308">
                  <c:v>3111.5</c:v>
                </c:pt>
                <c:pt idx="309">
                  <c:v>3223.8</c:v>
                </c:pt>
                <c:pt idx="310">
                  <c:v>3007.1</c:v>
                </c:pt>
                <c:pt idx="311">
                  <c:v>3090.1</c:v>
                </c:pt>
                <c:pt idx="312">
                  <c:v>3114.8</c:v>
                </c:pt>
                <c:pt idx="313">
                  <c:v>3033.6</c:v>
                </c:pt>
                <c:pt idx="314">
                  <c:v>2511.1</c:v>
                </c:pt>
                <c:pt idx="315">
                  <c:v>2499.4</c:v>
                </c:pt>
                <c:pt idx="316">
                  <c:v>2559.6</c:v>
                </c:pt>
                <c:pt idx="317">
                  <c:v>2153.4</c:v>
                </c:pt>
                <c:pt idx="318">
                  <c:v>2057.2</c:v>
                </c:pt>
                <c:pt idx="319">
                  <c:v>1740.1</c:v>
                </c:pt>
                <c:pt idx="320">
                  <c:v>1851.4</c:v>
                </c:pt>
                <c:pt idx="321">
                  <c:v>1870.3</c:v>
                </c:pt>
                <c:pt idx="322">
                  <c:v>1695.9</c:v>
                </c:pt>
                <c:pt idx="323">
                  <c:v>1422.1</c:v>
                </c:pt>
                <c:pt idx="324">
                  <c:v>1478.2</c:v>
                </c:pt>
                <c:pt idx="325">
                  <c:v>1653.1</c:v>
                </c:pt>
                <c:pt idx="326">
                  <c:v>1717.9</c:v>
                </c:pt>
                <c:pt idx="327">
                  <c:v>2061</c:v>
                </c:pt>
                <c:pt idx="328">
                  <c:v>2378.9</c:v>
                </c:pt>
                <c:pt idx="329">
                  <c:v>2488.4</c:v>
                </c:pt>
                <c:pt idx="330">
                  <c:v>2459</c:v>
                </c:pt>
                <c:pt idx="331">
                  <c:v>2256.9</c:v>
                </c:pt>
                <c:pt idx="332">
                  <c:v>2476.9</c:v>
                </c:pt>
                <c:pt idx="333">
                  <c:v>2355.3</c:v>
                </c:pt>
                <c:pt idx="334">
                  <c:v>2256.8</c:v>
                </c:pt>
                <c:pt idx="335">
                  <c:v>2420.1</c:v>
                </c:pt>
                <c:pt idx="336">
                  <c:v>2760</c:v>
                </c:pt>
                <c:pt idx="337">
                  <c:v>3247.5</c:v>
                </c:pt>
                <c:pt idx="338">
                  <c:v>3463.5</c:v>
                </c:pt>
                <c:pt idx="339">
                  <c:v>3452.9</c:v>
                </c:pt>
                <c:pt idx="340">
                  <c:v>3656.2</c:v>
                </c:pt>
                <c:pt idx="341">
                  <c:v>4248.2</c:v>
                </c:pt>
                <c:pt idx="342">
                  <c:v>3944.7</c:v>
                </c:pt>
                <c:pt idx="343">
                  <c:v>4209.9</c:v>
                </c:pt>
                <c:pt idx="344">
                  <c:v>4015.2</c:v>
                </c:pt>
                <c:pt idx="345">
                  <c:v>4167</c:v>
                </c:pt>
                <c:pt idx="346">
                  <c:v>4287.2</c:v>
                </c:pt>
                <c:pt idx="347">
                  <c:v>3613.2</c:v>
                </c:pt>
                <c:pt idx="348">
                  <c:v>4191.9</c:v>
                </c:pt>
                <c:pt idx="349">
                  <c:v>4081</c:v>
                </c:pt>
                <c:pt idx="350">
                  <c:v>3637.9</c:v>
                </c:pt>
                <c:pt idx="351">
                  <c:v>3601.7</c:v>
                </c:pt>
                <c:pt idx="352">
                  <c:v>3553.5</c:v>
                </c:pt>
                <c:pt idx="353">
                  <c:v>3093.8</c:v>
                </c:pt>
                <c:pt idx="354">
                  <c:v>3019.5</c:v>
                </c:pt>
                <c:pt idx="355">
                  <c:v>2645</c:v>
                </c:pt>
                <c:pt idx="356">
                  <c:v>2815.7</c:v>
                </c:pt>
                <c:pt idx="357">
                  <c:v>2927.6</c:v>
                </c:pt>
                <c:pt idx="358">
                  <c:v>3023.6</c:v>
                </c:pt>
                <c:pt idx="359">
                  <c:v>2640.6</c:v>
                </c:pt>
                <c:pt idx="360">
                  <c:v>2712.1</c:v>
                </c:pt>
                <c:pt idx="361">
                  <c:v>2802.5</c:v>
                </c:pt>
                <c:pt idx="362">
                  <c:v>2899.6</c:v>
                </c:pt>
                <c:pt idx="363">
                  <c:v>3098.3</c:v>
                </c:pt>
                <c:pt idx="364">
                  <c:v>2755.1</c:v>
                </c:pt>
                <c:pt idx="365">
                  <c:v>2632.4</c:v>
                </c:pt>
                <c:pt idx="366">
                  <c:v>1701.5</c:v>
                </c:pt>
                <c:pt idx="367">
                  <c:v>1818.5</c:v>
                </c:pt>
                <c:pt idx="368">
                  <c:v>1819.7</c:v>
                </c:pt>
                <c:pt idx="369">
                  <c:v>1893.1</c:v>
                </c:pt>
                <c:pt idx="370">
                  <c:v>1935</c:v>
                </c:pt>
                <c:pt idx="371">
                  <c:v>1936.4</c:v>
                </c:pt>
                <c:pt idx="372">
                  <c:v>1996.5</c:v>
                </c:pt>
                <c:pt idx="373">
                  <c:v>1923.7</c:v>
                </c:pt>
                <c:pt idx="374">
                  <c:v>1921.2</c:v>
                </c:pt>
                <c:pt idx="375">
                  <c:v>2044.8</c:v>
                </c:pt>
                <c:pt idx="376">
                  <c:v>2193.7</c:v>
                </c:pt>
                <c:pt idx="377">
                  <c:v>2177.7</c:v>
                </c:pt>
                <c:pt idx="378">
                  <c:v>2107.4</c:v>
                </c:pt>
                <c:pt idx="379">
                  <c:v>2140</c:v>
                </c:pt>
                <c:pt idx="380">
                  <c:v>2130.5</c:v>
                </c:pt>
                <c:pt idx="381">
                  <c:v>1990.8</c:v>
                </c:pt>
                <c:pt idx="382">
                  <c:v>1875.1</c:v>
                </c:pt>
                <c:pt idx="383">
                  <c:v>1652.9</c:v>
                </c:pt>
                <c:pt idx="384">
                  <c:v>1562</c:v>
                </c:pt>
                <c:pt idx="385">
                  <c:v>1596.8</c:v>
                </c:pt>
                <c:pt idx="386">
                  <c:v>1461.6</c:v>
                </c:pt>
                <c:pt idx="387">
                  <c:v>1586.2</c:v>
                </c:pt>
                <c:pt idx="388">
                  <c:v>1629.4</c:v>
                </c:pt>
                <c:pt idx="389">
                  <c:v>1740.3</c:v>
                </c:pt>
                <c:pt idx="390">
                  <c:v>1753.3</c:v>
                </c:pt>
                <c:pt idx="391">
                  <c:v>1790.9</c:v>
                </c:pt>
                <c:pt idx="392">
                  <c:v>1776.6</c:v>
                </c:pt>
                <c:pt idx="393">
                  <c:v>1759.7</c:v>
                </c:pt>
                <c:pt idx="394">
                  <c:v>2173</c:v>
                </c:pt>
                <c:pt idx="395">
                  <c:v>2344.8</c:v>
                </c:pt>
                <c:pt idx="396">
                  <c:v>2342.6</c:v>
                </c:pt>
                <c:pt idx="397">
                  <c:v>2276.4</c:v>
                </c:pt>
                <c:pt idx="398">
                  <c:v>2285.7</c:v>
                </c:pt>
                <c:pt idx="399">
                  <c:v>2510.1</c:v>
                </c:pt>
                <c:pt idx="400">
                  <c:v>2527.1</c:v>
                </c:pt>
              </c:numCache>
            </c:numRef>
          </c:yVal>
          <c:smooth val="0"/>
        </c:ser>
        <c:ser>
          <c:idx val="2"/>
          <c:order val="2"/>
          <c:tx>
            <c:strRef>
              <c:f>Sheet1!$D$1</c:f>
              <c:strCache>
                <c:ptCount val="1"/>
                <c:pt idx="0">
                  <c:v>Binance Coin</c:v>
                </c:pt>
              </c:strCache>
            </c:strRef>
          </c:tx>
          <c:spPr>
            <a:solidFill>
              <a:srgbClr val="24505A"/>
            </a:solidFill>
            <a:ln w="22225" cap="flat">
              <a:solidFill>
                <a:srgbClr val="24505A"/>
              </a:solidFill>
              <a:prstDash val="solid"/>
              <a:round/>
            </a:ln>
            <a:effectLst/>
          </c:spPr>
          <c:marker>
            <c:symbol val="none"/>
            <c:size val="6"/>
            <c:spPr>
              <a:solidFill>
                <a:srgbClr val="24505A"/>
              </a:solidFill>
              <a:ln w="9525" cap="flat">
                <a:solidFill>
                  <a:srgbClr val="24505A"/>
                </a:solidFill>
                <a:prstDash val="solid"/>
                <a:round/>
              </a:ln>
              <a:effectLst/>
            </c:spPr>
          </c:marker>
          <c:xVal>
            <c:numRef>
              <c:f>Sheet1!$A$2:$A$402</c:f>
              <c:numCache>
                <c:formatCode>General</c:formatCode>
                <c:ptCount val="401"/>
                <c:pt idx="0">
                  <c:v>2019.08</c:v>
                </c:pt>
                <c:pt idx="1">
                  <c:v>2019.099</c:v>
                </c:pt>
                <c:pt idx="2">
                  <c:v>2019.118</c:v>
                </c:pt>
                <c:pt idx="3">
                  <c:v>2019.137</c:v>
                </c:pt>
                <c:pt idx="4">
                  <c:v>2019.157</c:v>
                </c:pt>
                <c:pt idx="5">
                  <c:v>2019.176</c:v>
                </c:pt>
                <c:pt idx="6">
                  <c:v>2019.195</c:v>
                </c:pt>
                <c:pt idx="7">
                  <c:v>2019.214</c:v>
                </c:pt>
                <c:pt idx="8">
                  <c:v>2019.233</c:v>
                </c:pt>
                <c:pt idx="9">
                  <c:v>2019.252</c:v>
                </c:pt>
                <c:pt idx="10">
                  <c:v>2019.272</c:v>
                </c:pt>
                <c:pt idx="11">
                  <c:v>2019.291</c:v>
                </c:pt>
                <c:pt idx="12">
                  <c:v>2019.31</c:v>
                </c:pt>
                <c:pt idx="13">
                  <c:v>2019.329</c:v>
                </c:pt>
                <c:pt idx="14">
                  <c:v>2019.348</c:v>
                </c:pt>
                <c:pt idx="15">
                  <c:v>2019.367</c:v>
                </c:pt>
                <c:pt idx="16">
                  <c:v>2019.387</c:v>
                </c:pt>
                <c:pt idx="17">
                  <c:v>2019.406</c:v>
                </c:pt>
                <c:pt idx="18">
                  <c:v>2019.425</c:v>
                </c:pt>
                <c:pt idx="19">
                  <c:v>2019.444</c:v>
                </c:pt>
                <c:pt idx="20">
                  <c:v>2019.463</c:v>
                </c:pt>
                <c:pt idx="21">
                  <c:v>2019.482</c:v>
                </c:pt>
                <c:pt idx="22">
                  <c:v>2019.502</c:v>
                </c:pt>
                <c:pt idx="23">
                  <c:v>2019.521</c:v>
                </c:pt>
                <c:pt idx="24">
                  <c:v>2019.54</c:v>
                </c:pt>
                <c:pt idx="25">
                  <c:v>2019.559</c:v>
                </c:pt>
                <c:pt idx="26">
                  <c:v>2019.578</c:v>
                </c:pt>
                <c:pt idx="27">
                  <c:v>2019.597</c:v>
                </c:pt>
                <c:pt idx="28">
                  <c:v>2019.617</c:v>
                </c:pt>
                <c:pt idx="29">
                  <c:v>2019.636</c:v>
                </c:pt>
                <c:pt idx="30">
                  <c:v>2019.655</c:v>
                </c:pt>
                <c:pt idx="31">
                  <c:v>2019.674</c:v>
                </c:pt>
                <c:pt idx="32">
                  <c:v>2019.693</c:v>
                </c:pt>
                <c:pt idx="33">
                  <c:v>2019.712</c:v>
                </c:pt>
                <c:pt idx="34">
                  <c:v>2019.732</c:v>
                </c:pt>
                <c:pt idx="35">
                  <c:v>2019.751</c:v>
                </c:pt>
                <c:pt idx="36">
                  <c:v>2019.77</c:v>
                </c:pt>
                <c:pt idx="37">
                  <c:v>2019.789</c:v>
                </c:pt>
                <c:pt idx="38">
                  <c:v>2019.808</c:v>
                </c:pt>
                <c:pt idx="39">
                  <c:v>2019.827</c:v>
                </c:pt>
                <c:pt idx="40">
                  <c:v>2019.847</c:v>
                </c:pt>
                <c:pt idx="41">
                  <c:v>2019.866</c:v>
                </c:pt>
                <c:pt idx="42">
                  <c:v>2019.885</c:v>
                </c:pt>
                <c:pt idx="43">
                  <c:v>2019.904</c:v>
                </c:pt>
                <c:pt idx="44">
                  <c:v>2019.923</c:v>
                </c:pt>
                <c:pt idx="45">
                  <c:v>2019.942</c:v>
                </c:pt>
                <c:pt idx="46">
                  <c:v>2019.962</c:v>
                </c:pt>
                <c:pt idx="47">
                  <c:v>2019.981</c:v>
                </c:pt>
                <c:pt idx="48">
                  <c:v>2020</c:v>
                </c:pt>
                <c:pt idx="49">
                  <c:v>2020.019</c:v>
                </c:pt>
                <c:pt idx="50">
                  <c:v>2020.038</c:v>
                </c:pt>
                <c:pt idx="51">
                  <c:v>2020.057</c:v>
                </c:pt>
                <c:pt idx="52">
                  <c:v>2020.077</c:v>
                </c:pt>
                <c:pt idx="53">
                  <c:v>2020.096</c:v>
                </c:pt>
                <c:pt idx="54">
                  <c:v>2020.115</c:v>
                </c:pt>
                <c:pt idx="55">
                  <c:v>2020.134</c:v>
                </c:pt>
                <c:pt idx="56">
                  <c:v>2020.153</c:v>
                </c:pt>
                <c:pt idx="57">
                  <c:v>2020.172</c:v>
                </c:pt>
                <c:pt idx="58">
                  <c:v>2020.192</c:v>
                </c:pt>
                <c:pt idx="59">
                  <c:v>2020.211</c:v>
                </c:pt>
                <c:pt idx="60">
                  <c:v>2020.23</c:v>
                </c:pt>
                <c:pt idx="61">
                  <c:v>2020.249</c:v>
                </c:pt>
                <c:pt idx="62">
                  <c:v>2020.268</c:v>
                </c:pt>
                <c:pt idx="63">
                  <c:v>2020.287</c:v>
                </c:pt>
                <c:pt idx="64">
                  <c:v>2020.307</c:v>
                </c:pt>
                <c:pt idx="65">
                  <c:v>2020.326</c:v>
                </c:pt>
                <c:pt idx="66">
                  <c:v>2020.345</c:v>
                </c:pt>
                <c:pt idx="67">
                  <c:v>2020.364</c:v>
                </c:pt>
                <c:pt idx="68">
                  <c:v>2020.383</c:v>
                </c:pt>
                <c:pt idx="69">
                  <c:v>2020.402</c:v>
                </c:pt>
                <c:pt idx="70">
                  <c:v>2020.422</c:v>
                </c:pt>
                <c:pt idx="71">
                  <c:v>2020.441</c:v>
                </c:pt>
                <c:pt idx="72">
                  <c:v>2020.46</c:v>
                </c:pt>
                <c:pt idx="73">
                  <c:v>2020.479</c:v>
                </c:pt>
                <c:pt idx="74">
                  <c:v>2020.498</c:v>
                </c:pt>
                <c:pt idx="75">
                  <c:v>2020.517</c:v>
                </c:pt>
                <c:pt idx="76">
                  <c:v>2020.537</c:v>
                </c:pt>
                <c:pt idx="77">
                  <c:v>2020.556</c:v>
                </c:pt>
                <c:pt idx="78">
                  <c:v>2020.575</c:v>
                </c:pt>
                <c:pt idx="79">
                  <c:v>2020.594</c:v>
                </c:pt>
                <c:pt idx="80">
                  <c:v>2020.613</c:v>
                </c:pt>
                <c:pt idx="81">
                  <c:v>2020.632</c:v>
                </c:pt>
                <c:pt idx="82">
                  <c:v>2020.652</c:v>
                </c:pt>
                <c:pt idx="83">
                  <c:v>2020.671</c:v>
                </c:pt>
                <c:pt idx="84">
                  <c:v>2020.69</c:v>
                </c:pt>
                <c:pt idx="85">
                  <c:v>2020.709</c:v>
                </c:pt>
                <c:pt idx="86">
                  <c:v>2020.728</c:v>
                </c:pt>
                <c:pt idx="87">
                  <c:v>2020.747</c:v>
                </c:pt>
                <c:pt idx="88">
                  <c:v>2020.767</c:v>
                </c:pt>
                <c:pt idx="89">
                  <c:v>2020.786</c:v>
                </c:pt>
                <c:pt idx="90">
                  <c:v>2020.805</c:v>
                </c:pt>
                <c:pt idx="91">
                  <c:v>2020.824</c:v>
                </c:pt>
                <c:pt idx="92">
                  <c:v>2020.843</c:v>
                </c:pt>
                <c:pt idx="93">
                  <c:v>2020.862</c:v>
                </c:pt>
                <c:pt idx="94">
                  <c:v>2020.882</c:v>
                </c:pt>
                <c:pt idx="95">
                  <c:v>2020.901</c:v>
                </c:pt>
                <c:pt idx="96">
                  <c:v>2020.92</c:v>
                </c:pt>
                <c:pt idx="97">
                  <c:v>2020.939</c:v>
                </c:pt>
                <c:pt idx="98">
                  <c:v>2020.958</c:v>
                </c:pt>
                <c:pt idx="99">
                  <c:v>2020.977</c:v>
                </c:pt>
                <c:pt idx="100">
                  <c:v>2020.996</c:v>
                </c:pt>
                <c:pt idx="101">
                  <c:v>2021.016</c:v>
                </c:pt>
                <c:pt idx="102">
                  <c:v>2021.035</c:v>
                </c:pt>
                <c:pt idx="103">
                  <c:v>2021.054</c:v>
                </c:pt>
                <c:pt idx="104">
                  <c:v>2021.073</c:v>
                </c:pt>
                <c:pt idx="105">
                  <c:v>2021.092</c:v>
                </c:pt>
                <c:pt idx="106">
                  <c:v>2021.111</c:v>
                </c:pt>
                <c:pt idx="107">
                  <c:v>2021.131</c:v>
                </c:pt>
                <c:pt idx="108">
                  <c:v>2021.15</c:v>
                </c:pt>
                <c:pt idx="109">
                  <c:v>2021.169</c:v>
                </c:pt>
                <c:pt idx="110">
                  <c:v>2021.188</c:v>
                </c:pt>
                <c:pt idx="111">
                  <c:v>2021.207</c:v>
                </c:pt>
                <c:pt idx="112">
                  <c:v>2021.226</c:v>
                </c:pt>
                <c:pt idx="113">
                  <c:v>2021.246</c:v>
                </c:pt>
                <c:pt idx="114">
                  <c:v>2021.265</c:v>
                </c:pt>
                <c:pt idx="115">
                  <c:v>2021.284</c:v>
                </c:pt>
                <c:pt idx="116">
                  <c:v>2021.303</c:v>
                </c:pt>
                <c:pt idx="117">
                  <c:v>2021.322</c:v>
                </c:pt>
                <c:pt idx="118">
                  <c:v>2021.341</c:v>
                </c:pt>
                <c:pt idx="119">
                  <c:v>2021.361</c:v>
                </c:pt>
                <c:pt idx="120">
                  <c:v>2021.38</c:v>
                </c:pt>
                <c:pt idx="121">
                  <c:v>2021.399</c:v>
                </c:pt>
                <c:pt idx="122">
                  <c:v>2021.418</c:v>
                </c:pt>
                <c:pt idx="123">
                  <c:v>2021.437</c:v>
                </c:pt>
                <c:pt idx="124">
                  <c:v>2021.456</c:v>
                </c:pt>
                <c:pt idx="125">
                  <c:v>2021.476</c:v>
                </c:pt>
                <c:pt idx="126">
                  <c:v>2021.495</c:v>
                </c:pt>
                <c:pt idx="127">
                  <c:v>2021.514</c:v>
                </c:pt>
                <c:pt idx="128">
                  <c:v>2021.533</c:v>
                </c:pt>
                <c:pt idx="129">
                  <c:v>2021.552</c:v>
                </c:pt>
                <c:pt idx="130">
                  <c:v>2021.571</c:v>
                </c:pt>
                <c:pt idx="131">
                  <c:v>2021.591</c:v>
                </c:pt>
                <c:pt idx="132">
                  <c:v>2021.61</c:v>
                </c:pt>
                <c:pt idx="133">
                  <c:v>2021.629</c:v>
                </c:pt>
                <c:pt idx="134">
                  <c:v>2021.648</c:v>
                </c:pt>
                <c:pt idx="135">
                  <c:v>2021.667</c:v>
                </c:pt>
                <c:pt idx="136">
                  <c:v>2021.686</c:v>
                </c:pt>
                <c:pt idx="137">
                  <c:v>2021.706</c:v>
                </c:pt>
                <c:pt idx="138">
                  <c:v>2021.725</c:v>
                </c:pt>
                <c:pt idx="139">
                  <c:v>2021.744</c:v>
                </c:pt>
                <c:pt idx="140">
                  <c:v>2021.763</c:v>
                </c:pt>
                <c:pt idx="141">
                  <c:v>2021.782</c:v>
                </c:pt>
                <c:pt idx="142">
                  <c:v>2021.801</c:v>
                </c:pt>
                <c:pt idx="143">
                  <c:v>2021.821</c:v>
                </c:pt>
                <c:pt idx="144">
                  <c:v>2021.84</c:v>
                </c:pt>
                <c:pt idx="145">
                  <c:v>2021.859</c:v>
                </c:pt>
                <c:pt idx="146">
                  <c:v>2021.878</c:v>
                </c:pt>
                <c:pt idx="147">
                  <c:v>2021.897</c:v>
                </c:pt>
                <c:pt idx="148">
                  <c:v>2021.916</c:v>
                </c:pt>
                <c:pt idx="149">
                  <c:v>2021.936</c:v>
                </c:pt>
                <c:pt idx="150">
                  <c:v>2021.955</c:v>
                </c:pt>
                <c:pt idx="151">
                  <c:v>2021.974</c:v>
                </c:pt>
                <c:pt idx="152">
                  <c:v>2021.993</c:v>
                </c:pt>
                <c:pt idx="153">
                  <c:v>2022.012</c:v>
                </c:pt>
                <c:pt idx="154">
                  <c:v>2022.031</c:v>
                </c:pt>
                <c:pt idx="155">
                  <c:v>2022.051</c:v>
                </c:pt>
                <c:pt idx="156">
                  <c:v>2022.07</c:v>
                </c:pt>
                <c:pt idx="157">
                  <c:v>2022.089</c:v>
                </c:pt>
                <c:pt idx="158">
                  <c:v>2022.108</c:v>
                </c:pt>
                <c:pt idx="159">
                  <c:v>2022.127</c:v>
                </c:pt>
                <c:pt idx="160">
                  <c:v>2022.146</c:v>
                </c:pt>
                <c:pt idx="161">
                  <c:v>2022.166</c:v>
                </c:pt>
                <c:pt idx="162">
                  <c:v>2022.185</c:v>
                </c:pt>
                <c:pt idx="163">
                  <c:v>2022.204</c:v>
                </c:pt>
                <c:pt idx="164">
                  <c:v>2022.223</c:v>
                </c:pt>
                <c:pt idx="165">
                  <c:v>2022.242</c:v>
                </c:pt>
                <c:pt idx="166">
                  <c:v>2022.261</c:v>
                </c:pt>
                <c:pt idx="167">
                  <c:v>2022.281</c:v>
                </c:pt>
                <c:pt idx="168">
                  <c:v>2022.3</c:v>
                </c:pt>
                <c:pt idx="169">
                  <c:v>2022.319</c:v>
                </c:pt>
                <c:pt idx="170">
                  <c:v>2022.338</c:v>
                </c:pt>
                <c:pt idx="171">
                  <c:v>2022.357</c:v>
                </c:pt>
                <c:pt idx="172">
                  <c:v>2022.376</c:v>
                </c:pt>
                <c:pt idx="173">
                  <c:v>2022.396</c:v>
                </c:pt>
                <c:pt idx="174">
                  <c:v>2022.415</c:v>
                </c:pt>
                <c:pt idx="175">
                  <c:v>2022.434</c:v>
                </c:pt>
                <c:pt idx="176">
                  <c:v>2022.453</c:v>
                </c:pt>
                <c:pt idx="177">
                  <c:v>2022.472</c:v>
                </c:pt>
                <c:pt idx="178">
                  <c:v>2022.491</c:v>
                </c:pt>
                <c:pt idx="179">
                  <c:v>2022.511</c:v>
                </c:pt>
                <c:pt idx="180">
                  <c:v>2022.53</c:v>
                </c:pt>
                <c:pt idx="181">
                  <c:v>2022.549</c:v>
                </c:pt>
                <c:pt idx="182">
                  <c:v>2022.568</c:v>
                </c:pt>
                <c:pt idx="183">
                  <c:v>2022.587</c:v>
                </c:pt>
                <c:pt idx="184">
                  <c:v>2022.606</c:v>
                </c:pt>
                <c:pt idx="185">
                  <c:v>2022.626</c:v>
                </c:pt>
                <c:pt idx="186">
                  <c:v>2022.645</c:v>
                </c:pt>
                <c:pt idx="187">
                  <c:v>2022.664</c:v>
                </c:pt>
                <c:pt idx="188">
                  <c:v>2022.683</c:v>
                </c:pt>
                <c:pt idx="189">
                  <c:v>2022.702</c:v>
                </c:pt>
                <c:pt idx="190">
                  <c:v>2022.721</c:v>
                </c:pt>
                <c:pt idx="191">
                  <c:v>2022.741</c:v>
                </c:pt>
                <c:pt idx="192">
                  <c:v>2022.76</c:v>
                </c:pt>
                <c:pt idx="193">
                  <c:v>2022.779</c:v>
                </c:pt>
                <c:pt idx="194">
                  <c:v>2022.798</c:v>
                </c:pt>
                <c:pt idx="195">
                  <c:v>2022.817</c:v>
                </c:pt>
                <c:pt idx="196">
                  <c:v>2022.836</c:v>
                </c:pt>
                <c:pt idx="197">
                  <c:v>2022.855</c:v>
                </c:pt>
                <c:pt idx="198">
                  <c:v>2022.875</c:v>
                </c:pt>
                <c:pt idx="199">
                  <c:v>2022.894</c:v>
                </c:pt>
                <c:pt idx="200">
                  <c:v>2022.913</c:v>
                </c:pt>
                <c:pt idx="201">
                  <c:v>2022.932</c:v>
                </c:pt>
                <c:pt idx="202">
                  <c:v>2022.951</c:v>
                </c:pt>
                <c:pt idx="203">
                  <c:v>2022.97</c:v>
                </c:pt>
                <c:pt idx="204">
                  <c:v>2022.99</c:v>
                </c:pt>
                <c:pt idx="205">
                  <c:v>2023.009</c:v>
                </c:pt>
                <c:pt idx="206">
                  <c:v>2023.028</c:v>
                </c:pt>
                <c:pt idx="207">
                  <c:v>2023.047</c:v>
                </c:pt>
                <c:pt idx="208">
                  <c:v>2023.066</c:v>
                </c:pt>
                <c:pt idx="209">
                  <c:v>2023.085</c:v>
                </c:pt>
                <c:pt idx="210">
                  <c:v>2023.105</c:v>
                </c:pt>
                <c:pt idx="211">
                  <c:v>2023.124</c:v>
                </c:pt>
                <c:pt idx="212">
                  <c:v>2023.143</c:v>
                </c:pt>
                <c:pt idx="213">
                  <c:v>2023.162</c:v>
                </c:pt>
                <c:pt idx="214">
                  <c:v>2023.181</c:v>
                </c:pt>
                <c:pt idx="215">
                  <c:v>2023.2</c:v>
                </c:pt>
                <c:pt idx="216">
                  <c:v>2023.22</c:v>
                </c:pt>
                <c:pt idx="217">
                  <c:v>2023.239</c:v>
                </c:pt>
                <c:pt idx="218">
                  <c:v>2023.258</c:v>
                </c:pt>
                <c:pt idx="219">
                  <c:v>2023.277</c:v>
                </c:pt>
                <c:pt idx="220">
                  <c:v>2023.296</c:v>
                </c:pt>
                <c:pt idx="221">
                  <c:v>2023.315</c:v>
                </c:pt>
                <c:pt idx="222">
                  <c:v>2023.335</c:v>
                </c:pt>
                <c:pt idx="223">
                  <c:v>2023.354</c:v>
                </c:pt>
                <c:pt idx="224">
                  <c:v>2023.373</c:v>
                </c:pt>
                <c:pt idx="225">
                  <c:v>2023.392</c:v>
                </c:pt>
                <c:pt idx="226">
                  <c:v>2023.411</c:v>
                </c:pt>
                <c:pt idx="227">
                  <c:v>2023.43</c:v>
                </c:pt>
                <c:pt idx="228">
                  <c:v>2023.45</c:v>
                </c:pt>
                <c:pt idx="229">
                  <c:v>2023.469</c:v>
                </c:pt>
                <c:pt idx="230">
                  <c:v>2023.488</c:v>
                </c:pt>
                <c:pt idx="231">
                  <c:v>2023.507</c:v>
                </c:pt>
                <c:pt idx="232">
                  <c:v>2023.526</c:v>
                </c:pt>
                <c:pt idx="233">
                  <c:v>2023.545</c:v>
                </c:pt>
                <c:pt idx="234">
                  <c:v>2023.565</c:v>
                </c:pt>
                <c:pt idx="235">
                  <c:v>2023.584</c:v>
                </c:pt>
                <c:pt idx="236">
                  <c:v>2023.603</c:v>
                </c:pt>
                <c:pt idx="237">
                  <c:v>2023.622</c:v>
                </c:pt>
                <c:pt idx="238">
                  <c:v>2023.641</c:v>
                </c:pt>
                <c:pt idx="239">
                  <c:v>2023.66</c:v>
                </c:pt>
                <c:pt idx="240">
                  <c:v>2023.68</c:v>
                </c:pt>
                <c:pt idx="241">
                  <c:v>2023.699</c:v>
                </c:pt>
                <c:pt idx="242">
                  <c:v>2023.718</c:v>
                </c:pt>
                <c:pt idx="243">
                  <c:v>2023.737</c:v>
                </c:pt>
                <c:pt idx="244">
                  <c:v>2023.756</c:v>
                </c:pt>
                <c:pt idx="245">
                  <c:v>2023.775</c:v>
                </c:pt>
                <c:pt idx="246">
                  <c:v>2023.795</c:v>
                </c:pt>
                <c:pt idx="247">
                  <c:v>2023.814</c:v>
                </c:pt>
                <c:pt idx="248">
                  <c:v>2023.833</c:v>
                </c:pt>
                <c:pt idx="249">
                  <c:v>2023.852</c:v>
                </c:pt>
                <c:pt idx="250">
                  <c:v>2023.871</c:v>
                </c:pt>
                <c:pt idx="251">
                  <c:v>2023.89</c:v>
                </c:pt>
                <c:pt idx="252">
                  <c:v>2023.91</c:v>
                </c:pt>
                <c:pt idx="253">
                  <c:v>2023.929</c:v>
                </c:pt>
                <c:pt idx="254">
                  <c:v>2023.948</c:v>
                </c:pt>
                <c:pt idx="255">
                  <c:v>2023.967</c:v>
                </c:pt>
                <c:pt idx="256">
                  <c:v>2023.986</c:v>
                </c:pt>
                <c:pt idx="257">
                  <c:v>2024.005</c:v>
                </c:pt>
                <c:pt idx="258">
                  <c:v>2024.025</c:v>
                </c:pt>
                <c:pt idx="259">
                  <c:v>2024.044</c:v>
                </c:pt>
                <c:pt idx="260">
                  <c:v>2024.063</c:v>
                </c:pt>
                <c:pt idx="261">
                  <c:v>2024.082</c:v>
                </c:pt>
                <c:pt idx="262">
                  <c:v>2024.101</c:v>
                </c:pt>
                <c:pt idx="263">
                  <c:v>2024.12</c:v>
                </c:pt>
                <c:pt idx="264">
                  <c:v>2024.14</c:v>
                </c:pt>
                <c:pt idx="265">
                  <c:v>2024.159</c:v>
                </c:pt>
                <c:pt idx="266">
                  <c:v>2024.178</c:v>
                </c:pt>
                <c:pt idx="267">
                  <c:v>2024.197</c:v>
                </c:pt>
                <c:pt idx="268">
                  <c:v>2024.216</c:v>
                </c:pt>
                <c:pt idx="269">
                  <c:v>2024.235</c:v>
                </c:pt>
                <c:pt idx="270">
                  <c:v>2024.255</c:v>
                </c:pt>
                <c:pt idx="271">
                  <c:v>2024.274</c:v>
                </c:pt>
                <c:pt idx="272">
                  <c:v>2024.293</c:v>
                </c:pt>
                <c:pt idx="273">
                  <c:v>2024.312</c:v>
                </c:pt>
                <c:pt idx="274">
                  <c:v>2024.331</c:v>
                </c:pt>
                <c:pt idx="275">
                  <c:v>2024.35</c:v>
                </c:pt>
                <c:pt idx="276">
                  <c:v>2024.37</c:v>
                </c:pt>
                <c:pt idx="277">
                  <c:v>2024.389</c:v>
                </c:pt>
                <c:pt idx="278">
                  <c:v>2024.408</c:v>
                </c:pt>
                <c:pt idx="279">
                  <c:v>2024.427</c:v>
                </c:pt>
                <c:pt idx="280">
                  <c:v>2024.446</c:v>
                </c:pt>
                <c:pt idx="281">
                  <c:v>2024.465</c:v>
                </c:pt>
                <c:pt idx="282">
                  <c:v>2024.485</c:v>
                </c:pt>
                <c:pt idx="283">
                  <c:v>2024.504</c:v>
                </c:pt>
                <c:pt idx="284">
                  <c:v>2024.523</c:v>
                </c:pt>
                <c:pt idx="285">
                  <c:v>2024.542</c:v>
                </c:pt>
                <c:pt idx="286">
                  <c:v>2024.561</c:v>
                </c:pt>
                <c:pt idx="287">
                  <c:v>2024.58</c:v>
                </c:pt>
                <c:pt idx="288">
                  <c:v>2024.6</c:v>
                </c:pt>
                <c:pt idx="289">
                  <c:v>2024.619</c:v>
                </c:pt>
                <c:pt idx="290">
                  <c:v>2024.638</c:v>
                </c:pt>
                <c:pt idx="291">
                  <c:v>2024.657</c:v>
                </c:pt>
                <c:pt idx="292">
                  <c:v>2024.676</c:v>
                </c:pt>
                <c:pt idx="293">
                  <c:v>2024.695</c:v>
                </c:pt>
                <c:pt idx="294">
                  <c:v>2024.714</c:v>
                </c:pt>
                <c:pt idx="295">
                  <c:v>2024.734</c:v>
                </c:pt>
                <c:pt idx="296">
                  <c:v>2024.753</c:v>
                </c:pt>
                <c:pt idx="297">
                  <c:v>2024.772</c:v>
                </c:pt>
                <c:pt idx="298">
                  <c:v>2024.791</c:v>
                </c:pt>
                <c:pt idx="299">
                  <c:v>2024.81</c:v>
                </c:pt>
                <c:pt idx="300">
                  <c:v>2024.829</c:v>
                </c:pt>
                <c:pt idx="301">
                  <c:v>2024.849</c:v>
                </c:pt>
                <c:pt idx="302">
                  <c:v>2024.868</c:v>
                </c:pt>
                <c:pt idx="303">
                  <c:v>2024.887</c:v>
                </c:pt>
                <c:pt idx="304">
                  <c:v>2024.906</c:v>
                </c:pt>
                <c:pt idx="305">
                  <c:v>2024.925</c:v>
                </c:pt>
                <c:pt idx="306">
                  <c:v>2024.944</c:v>
                </c:pt>
                <c:pt idx="307">
                  <c:v>2024.964</c:v>
                </c:pt>
                <c:pt idx="308">
                  <c:v>2024.983</c:v>
                </c:pt>
                <c:pt idx="309">
                  <c:v>2025.002</c:v>
                </c:pt>
                <c:pt idx="310">
                  <c:v>2025.021</c:v>
                </c:pt>
                <c:pt idx="311">
                  <c:v>2025.04</c:v>
                </c:pt>
                <c:pt idx="312">
                  <c:v>2025.059</c:v>
                </c:pt>
                <c:pt idx="313">
                  <c:v>2025.079</c:v>
                </c:pt>
                <c:pt idx="314">
                  <c:v>2025.098</c:v>
                </c:pt>
                <c:pt idx="315">
                  <c:v>2025.117</c:v>
                </c:pt>
                <c:pt idx="316">
                  <c:v>2025.136</c:v>
                </c:pt>
                <c:pt idx="317">
                  <c:v>2025.155</c:v>
                </c:pt>
                <c:pt idx="318">
                  <c:v>2025.174</c:v>
                </c:pt>
                <c:pt idx="319">
                  <c:v>2025.194</c:v>
                </c:pt>
                <c:pt idx="320">
                  <c:v>2025.213</c:v>
                </c:pt>
                <c:pt idx="321">
                  <c:v>2025.232</c:v>
                </c:pt>
                <c:pt idx="322">
                  <c:v>2025.251</c:v>
                </c:pt>
                <c:pt idx="323">
                  <c:v>2025.27</c:v>
                </c:pt>
                <c:pt idx="324">
                  <c:v>2025.289</c:v>
                </c:pt>
                <c:pt idx="325">
                  <c:v>2025.309</c:v>
                </c:pt>
                <c:pt idx="326">
                  <c:v>2025.328</c:v>
                </c:pt>
                <c:pt idx="327">
                  <c:v>2025.347</c:v>
                </c:pt>
                <c:pt idx="328">
                  <c:v>2025.366</c:v>
                </c:pt>
                <c:pt idx="329">
                  <c:v>2025.385</c:v>
                </c:pt>
                <c:pt idx="330">
                  <c:v>2025.404</c:v>
                </c:pt>
                <c:pt idx="331">
                  <c:v>2025.424</c:v>
                </c:pt>
                <c:pt idx="332">
                  <c:v>2025.443</c:v>
                </c:pt>
                <c:pt idx="333">
                  <c:v>2025.462</c:v>
                </c:pt>
                <c:pt idx="334">
                  <c:v>2025.481</c:v>
                </c:pt>
                <c:pt idx="335">
                  <c:v>2025.5</c:v>
                </c:pt>
                <c:pt idx="336">
                  <c:v>2025.519</c:v>
                </c:pt>
                <c:pt idx="337">
                  <c:v>2025.539</c:v>
                </c:pt>
                <c:pt idx="338">
                  <c:v>2025.558</c:v>
                </c:pt>
                <c:pt idx="339">
                  <c:v>2025.577</c:v>
                </c:pt>
                <c:pt idx="340">
                  <c:v>2025.596</c:v>
                </c:pt>
                <c:pt idx="341">
                  <c:v>2025.615</c:v>
                </c:pt>
                <c:pt idx="342">
                  <c:v>2025.634</c:v>
                </c:pt>
                <c:pt idx="343">
                  <c:v>2025.654</c:v>
                </c:pt>
                <c:pt idx="344">
                  <c:v>2025.673</c:v>
                </c:pt>
                <c:pt idx="345">
                  <c:v>2025.692</c:v>
                </c:pt>
                <c:pt idx="346">
                  <c:v>2025.711</c:v>
                </c:pt>
                <c:pt idx="347">
                  <c:v>2025.73</c:v>
                </c:pt>
                <c:pt idx="348">
                  <c:v>2025.749</c:v>
                </c:pt>
                <c:pt idx="349">
                  <c:v>2025.769</c:v>
                </c:pt>
                <c:pt idx="350">
                  <c:v>2025.788</c:v>
                </c:pt>
                <c:pt idx="351">
                  <c:v>2025.807</c:v>
                </c:pt>
                <c:pt idx="352">
                  <c:v>2025.826</c:v>
                </c:pt>
                <c:pt idx="353">
                  <c:v>2025.845</c:v>
                </c:pt>
                <c:pt idx="354">
                  <c:v>2025.864</c:v>
                </c:pt>
                <c:pt idx="355">
                  <c:v>2025.884</c:v>
                </c:pt>
                <c:pt idx="356">
                  <c:v>2025.903</c:v>
                </c:pt>
                <c:pt idx="357">
                  <c:v>2025.922</c:v>
                </c:pt>
                <c:pt idx="358">
                  <c:v>2025.941</c:v>
                </c:pt>
                <c:pt idx="359">
                  <c:v>2025.96</c:v>
                </c:pt>
                <c:pt idx="360">
                  <c:v>2025.979</c:v>
                </c:pt>
                <c:pt idx="361">
                  <c:v>2025.999</c:v>
                </c:pt>
                <c:pt idx="362">
                  <c:v>2026.018</c:v>
                </c:pt>
                <c:pt idx="363">
                  <c:v>2026.037</c:v>
                </c:pt>
                <c:pt idx="364">
                  <c:v>2026.056</c:v>
                </c:pt>
                <c:pt idx="365">
                  <c:v>2026.075</c:v>
                </c:pt>
                <c:pt idx="366">
                  <c:v>2026.094</c:v>
                </c:pt>
                <c:pt idx="367">
                  <c:v>2026.114</c:v>
                </c:pt>
                <c:pt idx="368">
                  <c:v>2026.133</c:v>
                </c:pt>
                <c:pt idx="369">
                  <c:v>2026.152</c:v>
                </c:pt>
                <c:pt idx="370">
                  <c:v>2026.171</c:v>
                </c:pt>
                <c:pt idx="371">
                  <c:v>2026.19</c:v>
                </c:pt>
                <c:pt idx="372">
                  <c:v>2026.209</c:v>
                </c:pt>
                <c:pt idx="373">
                  <c:v>2026.229</c:v>
                </c:pt>
                <c:pt idx="374">
                  <c:v>2026.248</c:v>
                </c:pt>
                <c:pt idx="375">
                  <c:v>2026.267</c:v>
                </c:pt>
                <c:pt idx="376">
                  <c:v>2026.286</c:v>
                </c:pt>
                <c:pt idx="377">
                  <c:v>2026.305</c:v>
                </c:pt>
                <c:pt idx="378">
                  <c:v>2026.324</c:v>
                </c:pt>
                <c:pt idx="379">
                  <c:v>2026.344</c:v>
                </c:pt>
                <c:pt idx="380">
                  <c:v>2026.363</c:v>
                </c:pt>
                <c:pt idx="381">
                  <c:v>2026.382</c:v>
                </c:pt>
                <c:pt idx="382">
                  <c:v>2026.401</c:v>
                </c:pt>
                <c:pt idx="383">
                  <c:v>2026.42</c:v>
                </c:pt>
                <c:pt idx="384">
                  <c:v>2026.439</c:v>
                </c:pt>
                <c:pt idx="385">
                  <c:v>2026.459</c:v>
                </c:pt>
                <c:pt idx="386">
                  <c:v>2026.478</c:v>
                </c:pt>
                <c:pt idx="387">
                  <c:v>2026.497</c:v>
                </c:pt>
                <c:pt idx="388">
                  <c:v>2026.516</c:v>
                </c:pt>
                <c:pt idx="389">
                  <c:v>2026.535</c:v>
                </c:pt>
                <c:pt idx="390">
                  <c:v>2026.554</c:v>
                </c:pt>
                <c:pt idx="391">
                  <c:v>2026.573</c:v>
                </c:pt>
                <c:pt idx="392">
                  <c:v>2026.593</c:v>
                </c:pt>
                <c:pt idx="393">
                  <c:v>2026.612</c:v>
                </c:pt>
                <c:pt idx="394">
                  <c:v>2026.631</c:v>
                </c:pt>
                <c:pt idx="395">
                  <c:v>2026.65</c:v>
                </c:pt>
                <c:pt idx="396">
                  <c:v>2026.669</c:v>
                </c:pt>
                <c:pt idx="397">
                  <c:v>2026.688</c:v>
                </c:pt>
                <c:pt idx="398">
                  <c:v>2026.708</c:v>
                </c:pt>
                <c:pt idx="399">
                  <c:v>2026.727</c:v>
                </c:pt>
                <c:pt idx="400">
                  <c:v>2026.746</c:v>
                </c:pt>
              </c:numCache>
            </c:numRef>
          </c:xVal>
          <c:yVal>
            <c:numRef>
              <c:f>Sheet1!$D$2:$D$402</c:f>
              <c:numCache>
                <c:formatCode>General</c:formatCode>
                <c:ptCount val="401"/>
                <c:pt idx="0">
                  <c:v>100</c:v>
                </c:pt>
                <c:pt idx="1">
                  <c:v>123.3</c:v>
                </c:pt>
                <c:pt idx="2">
                  <c:v>140.1</c:v>
                </c:pt>
                <c:pt idx="3">
                  <c:v>167.4</c:v>
                </c:pt>
                <c:pt idx="4">
                  <c:v>165.4</c:v>
                </c:pt>
                <c:pt idx="5">
                  <c:v>241.6</c:v>
                </c:pt>
                <c:pt idx="6">
                  <c:v>240.1</c:v>
                </c:pt>
                <c:pt idx="7">
                  <c:v>231.6</c:v>
                </c:pt>
                <c:pt idx="8">
                  <c:v>268.1</c:v>
                </c:pt>
                <c:pt idx="9">
                  <c:v>305.4</c:v>
                </c:pt>
                <c:pt idx="10">
                  <c:v>282.4</c:v>
                </c:pt>
                <c:pt idx="11">
                  <c:v>351.6</c:v>
                </c:pt>
                <c:pt idx="12">
                  <c:v>354.8</c:v>
                </c:pt>
                <c:pt idx="13">
                  <c:v>376.4</c:v>
                </c:pt>
                <c:pt idx="14">
                  <c:v>300.4</c:v>
                </c:pt>
                <c:pt idx="15">
                  <c:v>420</c:v>
                </c:pt>
                <c:pt idx="16">
                  <c:v>502.8</c:v>
                </c:pt>
                <c:pt idx="17">
                  <c:v>515.1</c:v>
                </c:pt>
                <c:pt idx="18">
                  <c:v>502.2</c:v>
                </c:pt>
                <c:pt idx="19">
                  <c:v>560.6</c:v>
                </c:pt>
                <c:pt idx="20">
                  <c:v>585.9</c:v>
                </c:pt>
                <c:pt idx="21">
                  <c:v>539.6</c:v>
                </c:pt>
                <c:pt idx="22">
                  <c:v>524.7</c:v>
                </c:pt>
                <c:pt idx="23">
                  <c:v>472.9</c:v>
                </c:pt>
                <c:pt idx="24">
                  <c:v>461.4</c:v>
                </c:pt>
                <c:pt idx="25">
                  <c:v>462.7</c:v>
                </c:pt>
                <c:pt idx="26">
                  <c:v>459</c:v>
                </c:pt>
                <c:pt idx="27">
                  <c:v>491.9</c:v>
                </c:pt>
                <c:pt idx="28">
                  <c:v>447.4</c:v>
                </c:pt>
                <c:pt idx="29">
                  <c:v>432.2</c:v>
                </c:pt>
                <c:pt idx="30">
                  <c:v>349.2</c:v>
                </c:pt>
                <c:pt idx="31">
                  <c:v>363.1</c:v>
                </c:pt>
                <c:pt idx="32">
                  <c:v>333.8</c:v>
                </c:pt>
                <c:pt idx="33">
                  <c:v>344.8</c:v>
                </c:pt>
                <c:pt idx="34">
                  <c:v>246.6</c:v>
                </c:pt>
                <c:pt idx="35">
                  <c:v>250.9</c:v>
                </c:pt>
                <c:pt idx="36">
                  <c:v>280.3</c:v>
                </c:pt>
                <c:pt idx="37">
                  <c:v>296.3</c:v>
                </c:pt>
                <c:pt idx="38">
                  <c:v>269.5</c:v>
                </c:pt>
                <c:pt idx="39">
                  <c:v>319.1</c:v>
                </c:pt>
                <c:pt idx="40">
                  <c:v>329.4</c:v>
                </c:pt>
                <c:pt idx="41">
                  <c:v>339.2</c:v>
                </c:pt>
                <c:pt idx="42">
                  <c:v>268.7</c:v>
                </c:pt>
                <c:pt idx="43">
                  <c:v>250.2</c:v>
                </c:pt>
                <c:pt idx="44">
                  <c:v>251.5</c:v>
                </c:pt>
                <c:pt idx="45">
                  <c:v>236.4</c:v>
                </c:pt>
                <c:pt idx="46">
                  <c:v>214.5</c:v>
                </c:pt>
                <c:pt idx="47">
                  <c:v>210.7</c:v>
                </c:pt>
                <c:pt idx="48">
                  <c:v>207.8</c:v>
                </c:pt>
                <c:pt idx="49">
                  <c:v>231.3</c:v>
                </c:pt>
                <c:pt idx="50">
                  <c:v>272.4</c:v>
                </c:pt>
                <c:pt idx="51">
                  <c:v>271.5</c:v>
                </c:pt>
                <c:pt idx="52">
                  <c:v>296.6</c:v>
                </c:pt>
                <c:pt idx="53">
                  <c:v>328.6</c:v>
                </c:pt>
                <c:pt idx="54">
                  <c:v>405.8</c:v>
                </c:pt>
                <c:pt idx="55">
                  <c:v>354.6</c:v>
                </c:pt>
                <c:pt idx="56">
                  <c:v>305.1</c:v>
                </c:pt>
                <c:pt idx="57">
                  <c:v>331.9</c:v>
                </c:pt>
                <c:pt idx="58">
                  <c:v>153.2</c:v>
                </c:pt>
                <c:pt idx="59">
                  <c:v>195.9</c:v>
                </c:pt>
                <c:pt idx="60">
                  <c:v>210.9</c:v>
                </c:pt>
                <c:pt idx="61">
                  <c:v>208.5</c:v>
                </c:pt>
                <c:pt idx="62">
                  <c:v>240.3</c:v>
                </c:pt>
                <c:pt idx="63">
                  <c:v>250.5</c:v>
                </c:pt>
                <c:pt idx="64">
                  <c:v>255.3</c:v>
                </c:pt>
                <c:pt idx="65">
                  <c:v>271.7</c:v>
                </c:pt>
                <c:pt idx="66">
                  <c:v>271.4</c:v>
                </c:pt>
                <c:pt idx="67">
                  <c:v>261</c:v>
                </c:pt>
                <c:pt idx="68">
                  <c:v>257.2</c:v>
                </c:pt>
                <c:pt idx="69">
                  <c:v>272.1</c:v>
                </c:pt>
                <c:pt idx="70">
                  <c:v>280.2</c:v>
                </c:pt>
                <c:pt idx="71">
                  <c:v>260.2</c:v>
                </c:pt>
                <c:pt idx="72">
                  <c:v>258.6</c:v>
                </c:pt>
                <c:pt idx="73">
                  <c:v>254</c:v>
                </c:pt>
                <c:pt idx="74">
                  <c:v>247.9</c:v>
                </c:pt>
                <c:pt idx="75">
                  <c:v>269.4</c:v>
                </c:pt>
                <c:pt idx="76">
                  <c:v>273.5</c:v>
                </c:pt>
                <c:pt idx="77">
                  <c:v>297.9</c:v>
                </c:pt>
                <c:pt idx="78">
                  <c:v>319.3</c:v>
                </c:pt>
                <c:pt idx="79">
                  <c:v>362.3</c:v>
                </c:pt>
                <c:pt idx="80">
                  <c:v>352.2</c:v>
                </c:pt>
                <c:pt idx="81">
                  <c:v>368.4</c:v>
                </c:pt>
                <c:pt idx="82">
                  <c:v>368.2</c:v>
                </c:pt>
                <c:pt idx="83">
                  <c:v>328.9</c:v>
                </c:pt>
                <c:pt idx="84">
                  <c:v>391.8</c:v>
                </c:pt>
                <c:pt idx="85">
                  <c:v>430.6</c:v>
                </c:pt>
                <c:pt idx="86">
                  <c:v>392.7</c:v>
                </c:pt>
                <c:pt idx="87">
                  <c:v>437.6</c:v>
                </c:pt>
                <c:pt idx="88">
                  <c:v>442</c:v>
                </c:pt>
                <c:pt idx="89">
                  <c:v>499.3</c:v>
                </c:pt>
                <c:pt idx="90">
                  <c:v>489.1</c:v>
                </c:pt>
                <c:pt idx="91">
                  <c:v>476.1</c:v>
                </c:pt>
                <c:pt idx="92">
                  <c:v>441.5</c:v>
                </c:pt>
                <c:pt idx="93">
                  <c:v>440.5</c:v>
                </c:pt>
                <c:pt idx="94">
                  <c:v>448.2</c:v>
                </c:pt>
                <c:pt idx="95">
                  <c:v>450</c:v>
                </c:pt>
                <c:pt idx="96">
                  <c:v>489.8</c:v>
                </c:pt>
                <c:pt idx="97">
                  <c:v>441.8</c:v>
                </c:pt>
                <c:pt idx="98">
                  <c:v>481.5</c:v>
                </c:pt>
                <c:pt idx="99">
                  <c:v>518.5</c:v>
                </c:pt>
                <c:pt idx="100">
                  <c:v>596.3</c:v>
                </c:pt>
                <c:pt idx="101">
                  <c:v>693.1</c:v>
                </c:pt>
                <c:pt idx="102">
                  <c:v>666.7</c:v>
                </c:pt>
                <c:pt idx="103">
                  <c:v>616.5</c:v>
                </c:pt>
                <c:pt idx="104">
                  <c:v>678.5</c:v>
                </c:pt>
                <c:pt idx="105">
                  <c:v>892.2</c:v>
                </c:pt>
                <c:pt idx="106">
                  <c:v>1985.1</c:v>
                </c:pt>
                <c:pt idx="107">
                  <c:v>3125.7</c:v>
                </c:pt>
                <c:pt idx="108">
                  <c:v>3731.2</c:v>
                </c:pt>
                <c:pt idx="109">
                  <c:v>3668.3</c:v>
                </c:pt>
                <c:pt idx="110">
                  <c:v>4623</c:v>
                </c:pt>
                <c:pt idx="111">
                  <c:v>4175</c:v>
                </c:pt>
                <c:pt idx="112">
                  <c:v>3747.1</c:v>
                </c:pt>
                <c:pt idx="113">
                  <c:v>5347.6</c:v>
                </c:pt>
                <c:pt idx="114">
                  <c:v>6668.9</c:v>
                </c:pt>
                <c:pt idx="115">
                  <c:v>8656.6</c:v>
                </c:pt>
                <c:pt idx="116">
                  <c:v>8072.4</c:v>
                </c:pt>
                <c:pt idx="117">
                  <c:v>9567.1</c:v>
                </c:pt>
                <c:pt idx="118">
                  <c:v>10102.7</c:v>
                </c:pt>
                <c:pt idx="119">
                  <c:v>9116.1</c:v>
                </c:pt>
                <c:pt idx="120">
                  <c:v>6279.3</c:v>
                </c:pt>
                <c:pt idx="121">
                  <c:v>5865.2</c:v>
                </c:pt>
                <c:pt idx="122">
                  <c:v>6824.8</c:v>
                </c:pt>
                <c:pt idx="123">
                  <c:v>5618.4</c:v>
                </c:pt>
                <c:pt idx="124">
                  <c:v>5627.2</c:v>
                </c:pt>
                <c:pt idx="125">
                  <c:v>4919.8</c:v>
                </c:pt>
                <c:pt idx="126">
                  <c:v>4597.9</c:v>
                </c:pt>
                <c:pt idx="127">
                  <c:v>4952.2</c:v>
                </c:pt>
                <c:pt idx="128">
                  <c:v>5029.1</c:v>
                </c:pt>
                <c:pt idx="129">
                  <c:v>4684.4</c:v>
                </c:pt>
                <c:pt idx="130">
                  <c:v>5053.1</c:v>
                </c:pt>
                <c:pt idx="131">
                  <c:v>5390.1</c:v>
                </c:pt>
                <c:pt idx="132">
                  <c:v>6154.9</c:v>
                </c:pt>
                <c:pt idx="133">
                  <c:v>6875.5</c:v>
                </c:pt>
                <c:pt idx="134">
                  <c:v>7641.6</c:v>
                </c:pt>
                <c:pt idx="135">
                  <c:v>7720</c:v>
                </c:pt>
                <c:pt idx="136">
                  <c:v>6720.5</c:v>
                </c:pt>
                <c:pt idx="137">
                  <c:v>6774.4</c:v>
                </c:pt>
                <c:pt idx="138">
                  <c:v>6123.1</c:v>
                </c:pt>
                <c:pt idx="139">
                  <c:v>6174.7</c:v>
                </c:pt>
                <c:pt idx="140">
                  <c:v>6999.5</c:v>
                </c:pt>
                <c:pt idx="141">
                  <c:v>7530.1</c:v>
                </c:pt>
                <c:pt idx="142">
                  <c:v>7517.9</c:v>
                </c:pt>
                <c:pt idx="143">
                  <c:v>7849.1</c:v>
                </c:pt>
                <c:pt idx="144">
                  <c:v>8929.5</c:v>
                </c:pt>
                <c:pt idx="145">
                  <c:v>10048.6</c:v>
                </c:pt>
                <c:pt idx="146">
                  <c:v>8490.8</c:v>
                </c:pt>
                <c:pt idx="147">
                  <c:v>9631.3</c:v>
                </c:pt>
                <c:pt idx="148">
                  <c:v>9882.4</c:v>
                </c:pt>
                <c:pt idx="149">
                  <c:v>9119.5</c:v>
                </c:pt>
                <c:pt idx="150">
                  <c:v>8395.2</c:v>
                </c:pt>
                <c:pt idx="151">
                  <c:v>8753.8</c:v>
                </c:pt>
                <c:pt idx="152">
                  <c:v>8278.1</c:v>
                </c:pt>
                <c:pt idx="153">
                  <c:v>7550.1</c:v>
                </c:pt>
                <c:pt idx="154">
                  <c:v>7578.1</c:v>
                </c:pt>
                <c:pt idx="155">
                  <c:v>7019.4</c:v>
                </c:pt>
                <c:pt idx="156">
                  <c:v>6223.1</c:v>
                </c:pt>
                <c:pt idx="157">
                  <c:v>5916.6</c:v>
                </c:pt>
                <c:pt idx="158">
                  <c:v>6622.4</c:v>
                </c:pt>
                <c:pt idx="159">
                  <c:v>6420.3</c:v>
                </c:pt>
                <c:pt idx="160">
                  <c:v>5762.8</c:v>
                </c:pt>
                <c:pt idx="161">
                  <c:v>6421.9</c:v>
                </c:pt>
                <c:pt idx="162">
                  <c:v>5937</c:v>
                </c:pt>
                <c:pt idx="163">
                  <c:v>6250.8</c:v>
                </c:pt>
                <c:pt idx="164">
                  <c:v>6606.5</c:v>
                </c:pt>
                <c:pt idx="165">
                  <c:v>6842.5</c:v>
                </c:pt>
                <c:pt idx="166">
                  <c:v>6968.2</c:v>
                </c:pt>
                <c:pt idx="167">
                  <c:v>6615.1</c:v>
                </c:pt>
                <c:pt idx="168">
                  <c:v>6461.3</c:v>
                </c:pt>
                <c:pt idx="169">
                  <c:v>6488.4</c:v>
                </c:pt>
                <c:pt idx="170">
                  <c:v>6042.6</c:v>
                </c:pt>
                <c:pt idx="171">
                  <c:v>4297.8</c:v>
                </c:pt>
                <c:pt idx="172">
                  <c:v>4894.2</c:v>
                </c:pt>
                <c:pt idx="173">
                  <c:v>4865.1</c:v>
                </c:pt>
                <c:pt idx="174">
                  <c:v>4915.1</c:v>
                </c:pt>
                <c:pt idx="175">
                  <c:v>4625.1</c:v>
                </c:pt>
                <c:pt idx="176">
                  <c:v>3342.8</c:v>
                </c:pt>
                <c:pt idx="177">
                  <c:v>3652.5</c:v>
                </c:pt>
                <c:pt idx="178">
                  <c:v>3498.5</c:v>
                </c:pt>
                <c:pt idx="179">
                  <c:v>3853.3</c:v>
                </c:pt>
                <c:pt idx="180">
                  <c:v>3799.4</c:v>
                </c:pt>
                <c:pt idx="181">
                  <c:v>4234.9</c:v>
                </c:pt>
                <c:pt idx="182">
                  <c:v>4423.7</c:v>
                </c:pt>
                <c:pt idx="183">
                  <c:v>4956.7</c:v>
                </c:pt>
                <c:pt idx="184">
                  <c:v>5165.6</c:v>
                </c:pt>
                <c:pt idx="185">
                  <c:v>4756.2</c:v>
                </c:pt>
                <c:pt idx="186">
                  <c:v>4811.1</c:v>
                </c:pt>
                <c:pt idx="187">
                  <c:v>4441.6</c:v>
                </c:pt>
                <c:pt idx="188">
                  <c:v>4476</c:v>
                </c:pt>
                <c:pt idx="189">
                  <c:v>4320.2</c:v>
                </c:pt>
                <c:pt idx="190">
                  <c:v>4395</c:v>
                </c:pt>
                <c:pt idx="191">
                  <c:v>4527.3</c:v>
                </c:pt>
                <c:pt idx="192">
                  <c:v>4572.7</c:v>
                </c:pt>
                <c:pt idx="193">
                  <c:v>4336.8</c:v>
                </c:pt>
                <c:pt idx="194">
                  <c:v>4295.7</c:v>
                </c:pt>
                <c:pt idx="195">
                  <c:v>4576</c:v>
                </c:pt>
                <c:pt idx="196">
                  <c:v>5260</c:v>
                </c:pt>
                <c:pt idx="197">
                  <c:v>4851</c:v>
                </c:pt>
                <c:pt idx="198">
                  <c:v>4274</c:v>
                </c:pt>
                <c:pt idx="199">
                  <c:v>4792.7</c:v>
                </c:pt>
                <c:pt idx="200">
                  <c:v>4658.5</c:v>
                </c:pt>
                <c:pt idx="201">
                  <c:v>4634.9</c:v>
                </c:pt>
                <c:pt idx="202">
                  <c:v>4120.2</c:v>
                </c:pt>
                <c:pt idx="203">
                  <c:v>3922.7</c:v>
                </c:pt>
                <c:pt idx="204">
                  <c:v>3932.1</c:v>
                </c:pt>
                <c:pt idx="205">
                  <c:v>4090.7</c:v>
                </c:pt>
                <c:pt idx="206">
                  <c:v>4591.5</c:v>
                </c:pt>
                <c:pt idx="207">
                  <c:v>4703.8</c:v>
                </c:pt>
                <c:pt idx="208">
                  <c:v>4863.5</c:v>
                </c:pt>
                <c:pt idx="209">
                  <c:v>5158.4</c:v>
                </c:pt>
                <c:pt idx="210">
                  <c:v>4881</c:v>
                </c:pt>
                <c:pt idx="211">
                  <c:v>4861.9</c:v>
                </c:pt>
                <c:pt idx="212">
                  <c:v>4922</c:v>
                </c:pt>
                <c:pt idx="213">
                  <c:v>4785</c:v>
                </c:pt>
                <c:pt idx="214">
                  <c:v>4423.7</c:v>
                </c:pt>
                <c:pt idx="215">
                  <c:v>5262.3</c:v>
                </c:pt>
                <c:pt idx="216">
                  <c:v>5261.9</c:v>
                </c:pt>
                <c:pt idx="217">
                  <c:v>5050.2</c:v>
                </c:pt>
                <c:pt idx="218">
                  <c:v>4984.6</c:v>
                </c:pt>
                <c:pt idx="219">
                  <c:v>5183.9</c:v>
                </c:pt>
                <c:pt idx="220">
                  <c:v>5071.3</c:v>
                </c:pt>
                <c:pt idx="221">
                  <c:v>5283.5</c:v>
                </c:pt>
                <c:pt idx="222">
                  <c:v>5167.4</c:v>
                </c:pt>
                <c:pt idx="223">
                  <c:v>4908.7</c:v>
                </c:pt>
                <c:pt idx="224">
                  <c:v>4936.7</c:v>
                </c:pt>
                <c:pt idx="225">
                  <c:v>4861.4</c:v>
                </c:pt>
                <c:pt idx="226">
                  <c:v>4864.9</c:v>
                </c:pt>
                <c:pt idx="227">
                  <c:v>4182</c:v>
                </c:pt>
                <c:pt idx="228">
                  <c:v>3769.4</c:v>
                </c:pt>
                <c:pt idx="229">
                  <c:v>3841.3</c:v>
                </c:pt>
                <c:pt idx="230">
                  <c:v>3720.7</c:v>
                </c:pt>
                <c:pt idx="231">
                  <c:v>3706.2</c:v>
                </c:pt>
                <c:pt idx="232">
                  <c:v>4091.8</c:v>
                </c:pt>
                <c:pt idx="233">
                  <c:v>3872.3</c:v>
                </c:pt>
                <c:pt idx="234">
                  <c:v>3836.7</c:v>
                </c:pt>
                <c:pt idx="235">
                  <c:v>3845.6</c:v>
                </c:pt>
                <c:pt idx="236">
                  <c:v>3848.8</c:v>
                </c:pt>
                <c:pt idx="237">
                  <c:v>3486.3</c:v>
                </c:pt>
                <c:pt idx="238">
                  <c:v>3488.1</c:v>
                </c:pt>
                <c:pt idx="239">
                  <c:v>3455.4</c:v>
                </c:pt>
                <c:pt idx="240">
                  <c:v>3460</c:v>
                </c:pt>
                <c:pt idx="241">
                  <c:v>3386.5</c:v>
                </c:pt>
                <c:pt idx="242">
                  <c:v>3362.8</c:v>
                </c:pt>
                <c:pt idx="243">
                  <c:v>3431.1</c:v>
                </c:pt>
                <c:pt idx="244">
                  <c:v>3361</c:v>
                </c:pt>
                <c:pt idx="245">
                  <c:v>3274</c:v>
                </c:pt>
                <c:pt idx="246">
                  <c:v>3368.4</c:v>
                </c:pt>
                <c:pt idx="247">
                  <c:v>3561.3</c:v>
                </c:pt>
                <c:pt idx="248">
                  <c:v>3696.7</c:v>
                </c:pt>
                <c:pt idx="249">
                  <c:v>4012.3</c:v>
                </c:pt>
                <c:pt idx="250">
                  <c:v>3872.7</c:v>
                </c:pt>
                <c:pt idx="251">
                  <c:v>3729.3</c:v>
                </c:pt>
                <c:pt idx="252">
                  <c:v>3632.2</c:v>
                </c:pt>
                <c:pt idx="253">
                  <c:v>3716.7</c:v>
                </c:pt>
                <c:pt idx="254">
                  <c:v>4044.7</c:v>
                </c:pt>
                <c:pt idx="255">
                  <c:v>4327.2</c:v>
                </c:pt>
                <c:pt idx="256">
                  <c:v>5162.4</c:v>
                </c:pt>
                <c:pt idx="257">
                  <c:v>5162.4</c:v>
                </c:pt>
                <c:pt idx="258">
                  <c:v>4924.7</c:v>
                </c:pt>
                <c:pt idx="259">
                  <c:v>4997.9</c:v>
                </c:pt>
                <c:pt idx="260">
                  <c:v>4657</c:v>
                </c:pt>
                <c:pt idx="261">
                  <c:v>4788.7</c:v>
                </c:pt>
                <c:pt idx="262">
                  <c:v>5086.9</c:v>
                </c:pt>
                <c:pt idx="263">
                  <c:v>5658.7</c:v>
                </c:pt>
                <c:pt idx="264">
                  <c:v>6094.2</c:v>
                </c:pt>
                <c:pt idx="265">
                  <c:v>6377.6</c:v>
                </c:pt>
                <c:pt idx="266">
                  <c:v>7582.3</c:v>
                </c:pt>
                <c:pt idx="267">
                  <c:v>9619.4</c:v>
                </c:pt>
                <c:pt idx="268">
                  <c:v>8825.9</c:v>
                </c:pt>
                <c:pt idx="269">
                  <c:v>9304.9</c:v>
                </c:pt>
                <c:pt idx="270">
                  <c:v>9339.5</c:v>
                </c:pt>
                <c:pt idx="271">
                  <c:v>9649.8</c:v>
                </c:pt>
                <c:pt idx="272">
                  <c:v>8808.8</c:v>
                </c:pt>
                <c:pt idx="273">
                  <c:v>9795.2</c:v>
                </c:pt>
                <c:pt idx="274">
                  <c:v>8942.1</c:v>
                </c:pt>
                <c:pt idx="275">
                  <c:v>9508.5</c:v>
                </c:pt>
                <c:pt idx="276">
                  <c:v>9080.3</c:v>
                </c:pt>
                <c:pt idx="277">
                  <c:v>9550.6</c:v>
                </c:pt>
                <c:pt idx="278">
                  <c:v>9492.4</c:v>
                </c:pt>
                <c:pt idx="279">
                  <c:v>11334</c:v>
                </c:pt>
                <c:pt idx="280">
                  <c:v>9564</c:v>
                </c:pt>
                <c:pt idx="281">
                  <c:v>9366.1</c:v>
                </c:pt>
                <c:pt idx="282">
                  <c:v>9265.4</c:v>
                </c:pt>
                <c:pt idx="283">
                  <c:v>8199.7</c:v>
                </c:pt>
                <c:pt idx="284">
                  <c:v>8377.5</c:v>
                </c:pt>
                <c:pt idx="285">
                  <c:v>9124.3</c:v>
                </c:pt>
                <c:pt idx="286">
                  <c:v>9104.6</c:v>
                </c:pt>
                <c:pt idx="287">
                  <c:v>9175.3</c:v>
                </c:pt>
                <c:pt idx="288">
                  <c:v>8253.1</c:v>
                </c:pt>
                <c:pt idx="289">
                  <c:v>8293.5</c:v>
                </c:pt>
                <c:pt idx="290">
                  <c:v>9301.4</c:v>
                </c:pt>
                <c:pt idx="291">
                  <c:v>8560.8</c:v>
                </c:pt>
                <c:pt idx="292">
                  <c:v>8009.5</c:v>
                </c:pt>
                <c:pt idx="293">
                  <c:v>8683.2</c:v>
                </c:pt>
                <c:pt idx="294">
                  <c:v>9032.9</c:v>
                </c:pt>
                <c:pt idx="295">
                  <c:v>9520.3</c:v>
                </c:pt>
                <c:pt idx="296">
                  <c:v>8685.2</c:v>
                </c:pt>
                <c:pt idx="297">
                  <c:v>8977.1</c:v>
                </c:pt>
                <c:pt idx="298">
                  <c:v>9444.8</c:v>
                </c:pt>
                <c:pt idx="299">
                  <c:v>9478.5</c:v>
                </c:pt>
                <c:pt idx="300">
                  <c:v>9189.4</c:v>
                </c:pt>
                <c:pt idx="301">
                  <c:v>9546.8</c:v>
                </c:pt>
                <c:pt idx="302">
                  <c:v>9917.6</c:v>
                </c:pt>
                <c:pt idx="303">
                  <c:v>9935.9</c:v>
                </c:pt>
                <c:pt idx="304">
                  <c:v>10439</c:v>
                </c:pt>
                <c:pt idx="305">
                  <c:v>11395.5</c:v>
                </c:pt>
                <c:pt idx="306">
                  <c:v>11261.9</c:v>
                </c:pt>
                <c:pt idx="307">
                  <c:v>10633.7</c:v>
                </c:pt>
                <c:pt idx="308">
                  <c:v>10981.4</c:v>
                </c:pt>
                <c:pt idx="309">
                  <c:v>11257.7</c:v>
                </c:pt>
                <c:pt idx="310">
                  <c:v>10929.7</c:v>
                </c:pt>
                <c:pt idx="311">
                  <c:v>11299.4</c:v>
                </c:pt>
                <c:pt idx="312">
                  <c:v>11010.8</c:v>
                </c:pt>
                <c:pt idx="313">
                  <c:v>10809</c:v>
                </c:pt>
                <c:pt idx="314">
                  <c:v>9129.5</c:v>
                </c:pt>
                <c:pt idx="315">
                  <c:v>10661</c:v>
                </c:pt>
                <c:pt idx="316">
                  <c:v>10484.3</c:v>
                </c:pt>
                <c:pt idx="317">
                  <c:v>9653.5</c:v>
                </c:pt>
                <c:pt idx="318">
                  <c:v>9519.5</c:v>
                </c:pt>
                <c:pt idx="319">
                  <c:v>9240.2</c:v>
                </c:pt>
                <c:pt idx="320">
                  <c:v>10049.4</c:v>
                </c:pt>
                <c:pt idx="321">
                  <c:v>10165.3</c:v>
                </c:pt>
                <c:pt idx="322">
                  <c:v>9446.1</c:v>
                </c:pt>
                <c:pt idx="323">
                  <c:v>9211.3</c:v>
                </c:pt>
                <c:pt idx="324">
                  <c:v>9414.8</c:v>
                </c:pt>
                <c:pt idx="325">
                  <c:v>9599.1</c:v>
                </c:pt>
                <c:pt idx="326">
                  <c:v>9570.5</c:v>
                </c:pt>
                <c:pt idx="327">
                  <c:v>10029</c:v>
                </c:pt>
                <c:pt idx="328">
                  <c:v>10389.6</c:v>
                </c:pt>
                <c:pt idx="329">
                  <c:v>10947.5</c:v>
                </c:pt>
                <c:pt idx="330">
                  <c:v>10771</c:v>
                </c:pt>
                <c:pt idx="331">
                  <c:v>10115</c:v>
                </c:pt>
                <c:pt idx="332">
                  <c:v>10469</c:v>
                </c:pt>
                <c:pt idx="333">
                  <c:v>10284.6</c:v>
                </c:pt>
                <c:pt idx="334">
                  <c:v>10248.4</c:v>
                </c:pt>
                <c:pt idx="335">
                  <c:v>10582</c:v>
                </c:pt>
                <c:pt idx="336">
                  <c:v>10938.3</c:v>
                </c:pt>
                <c:pt idx="337">
                  <c:v>11505.5</c:v>
                </c:pt>
                <c:pt idx="338">
                  <c:v>12303.5</c:v>
                </c:pt>
                <c:pt idx="339">
                  <c:v>12501.8</c:v>
                </c:pt>
                <c:pt idx="340">
                  <c:v>12574.1</c:v>
                </c:pt>
                <c:pt idx="341">
                  <c:v>13415.3</c:v>
                </c:pt>
                <c:pt idx="342">
                  <c:v>13385.2</c:v>
                </c:pt>
                <c:pt idx="343">
                  <c:v>13948.7</c:v>
                </c:pt>
                <c:pt idx="344">
                  <c:v>13461.1</c:v>
                </c:pt>
                <c:pt idx="345">
                  <c:v>14405.2</c:v>
                </c:pt>
                <c:pt idx="346">
                  <c:v>15663.2</c:v>
                </c:pt>
                <c:pt idx="347">
                  <c:v>15086.9</c:v>
                </c:pt>
                <c:pt idx="348">
                  <c:v>17399.2</c:v>
                </c:pt>
                <c:pt idx="349">
                  <c:v>20035.2</c:v>
                </c:pt>
                <c:pt idx="350">
                  <c:v>18279.3</c:v>
                </c:pt>
                <c:pt idx="351">
                  <c:v>17988.1</c:v>
                </c:pt>
                <c:pt idx="352">
                  <c:v>17207</c:v>
                </c:pt>
                <c:pt idx="353">
                  <c:v>15142.2</c:v>
                </c:pt>
                <c:pt idx="354">
                  <c:v>14805.1</c:v>
                </c:pt>
                <c:pt idx="355">
                  <c:v>13820.7</c:v>
                </c:pt>
                <c:pt idx="356">
                  <c:v>14286.8</c:v>
                </c:pt>
                <c:pt idx="357">
                  <c:v>14358.7</c:v>
                </c:pt>
                <c:pt idx="358">
                  <c:v>14137</c:v>
                </c:pt>
                <c:pt idx="359">
                  <c:v>13229.8</c:v>
                </c:pt>
                <c:pt idx="360">
                  <c:v>13231.8</c:v>
                </c:pt>
                <c:pt idx="361">
                  <c:v>13768.3</c:v>
                </c:pt>
                <c:pt idx="362">
                  <c:v>14226.1</c:v>
                </c:pt>
                <c:pt idx="363">
                  <c:v>14850.2</c:v>
                </c:pt>
                <c:pt idx="364">
                  <c:v>14149.8</c:v>
                </c:pt>
                <c:pt idx="365">
                  <c:v>13832.8</c:v>
                </c:pt>
                <c:pt idx="366">
                  <c:v>9676.1</c:v>
                </c:pt>
                <c:pt idx="367">
                  <c:v>9790.5</c:v>
                </c:pt>
                <c:pt idx="368">
                  <c:v>9686</c:v>
                </c:pt>
                <c:pt idx="369">
                  <c:v>9985.2</c:v>
                </c:pt>
                <c:pt idx="370">
                  <c:v>10331.5</c:v>
                </c:pt>
                <c:pt idx="371">
                  <c:v>10403.5</c:v>
                </c:pt>
                <c:pt idx="372">
                  <c:v>10198.2</c:v>
                </c:pt>
                <c:pt idx="373">
                  <c:v>10034.3</c:v>
                </c:pt>
                <c:pt idx="374">
                  <c:v>9302.7</c:v>
                </c:pt>
                <c:pt idx="375">
                  <c:v>9616.9</c:v>
                </c:pt>
                <c:pt idx="376">
                  <c:v>10139.4</c:v>
                </c:pt>
                <c:pt idx="377">
                  <c:v>10189.6</c:v>
                </c:pt>
                <c:pt idx="378">
                  <c:v>9812.1</c:v>
                </c:pt>
                <c:pt idx="379">
                  <c:v>10162.4</c:v>
                </c:pt>
                <c:pt idx="380">
                  <c:v>10815.1</c:v>
                </c:pt>
                <c:pt idx="381">
                  <c:v>10486.7</c:v>
                </c:pt>
                <c:pt idx="382">
                  <c:v>10169.9</c:v>
                </c:pt>
                <c:pt idx="383">
                  <c:v>9628.2</c:v>
                </c:pt>
                <c:pt idx="384">
                  <c:v>9652.2</c:v>
                </c:pt>
                <c:pt idx="385">
                  <c:v>9221</c:v>
                </c:pt>
                <c:pt idx="386">
                  <c:v>8930.4</c:v>
                </c:pt>
                <c:pt idx="387">
                  <c:v>8902</c:v>
                </c:pt>
                <c:pt idx="388">
                  <c:v>9068.7</c:v>
                </c:pt>
                <c:pt idx="389">
                  <c:v>9128.2</c:v>
                </c:pt>
                <c:pt idx="390">
                  <c:v>9044.4</c:v>
                </c:pt>
                <c:pt idx="391">
                  <c:v>9444.3</c:v>
                </c:pt>
                <c:pt idx="392">
                  <c:v>9438.6</c:v>
                </c:pt>
                <c:pt idx="393">
                  <c:v>9731.9</c:v>
                </c:pt>
                <c:pt idx="394">
                  <c:v>10447.7</c:v>
                </c:pt>
                <c:pt idx="395">
                  <c:v>11361.2</c:v>
                </c:pt>
                <c:pt idx="396">
                  <c:v>11565.8</c:v>
                </c:pt>
                <c:pt idx="397">
                  <c:v>11312.8</c:v>
                </c:pt>
                <c:pt idx="398">
                  <c:v>11773.3</c:v>
                </c:pt>
                <c:pt idx="399">
                  <c:v>12387.4</c:v>
                </c:pt>
                <c:pt idx="400">
                  <c:v>12302.7</c:v>
                </c:pt>
              </c:numCache>
            </c:numRef>
          </c:yVal>
          <c:smooth val="0"/>
        </c:ser>
        <c:dLbls>
          <c:numFmt formatCode="General" sourceLinked="0"/>
          <c:txPr>
            <a:bodyPr/>
            <a:lstStyle/>
            <a:p>
              <a:pPr>
                <a:defRPr b="0" i="0" strike="noStrike" sz="1200" u="none">
                  <a:solidFill>
                    <a:srgbClr val="13272D"/>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027"/>
          <c:min val="2019"/>
        </c:scaling>
        <c:delete val="0"/>
        <c:axPos val="b"/>
        <c:numFmt formatCode="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E6F78"/>
                </a:solidFill>
                <a:latin typeface="+mn-lt"/>
              </a:defRPr>
            </a:pPr>
            <a:endParaRPr lang="en-US"/>
          </a:p>
        </c:txPr>
        <c:crossAx val="2094734552"/>
        <c:crosses val="autoZero"/>
        <c:auto val="1"/>
        <c:lblAlgn val="ctr"/>
        <c:noMultiLvlLbl val="1"/>
        <c:majorUnit val="1"/>
      </c:valAx>
      <c:valAx>
        <c:axId val="2094734552"/>
        <c:scaling>
          <c:logBase val="10"/>
          <c:orientation val="minMax"/>
          <c:max val="100000"/>
          <c:min val="10"/>
        </c:scaling>
        <c:delete val="0"/>
        <c:axPos val="l"/>
        <c:majorGridlines>
          <c:spPr>
            <a:ln w="6350" cap="flat">
              <a:solidFill>
                <a:srgbClr val="D5DEDD"/>
              </a:solidFill>
              <a:prstDash val="solid"/>
              <a:round/>
            </a:ln>
          </c:spPr>
        </c:majorGridlines>
        <c:numFmt formatCode="#,##0" sourceLinked="0"/>
        <c:majorTickMark val="none"/>
        <c:minorTickMark val="none"/>
        <c:tickLblPos val="nextTo"/>
        <c:spPr>
          <a:ln w="12700" cap="flat">
            <a:noFill/>
            <a:prstDash val="solid"/>
            <a:round/>
          </a:ln>
        </c:spPr>
        <c:txPr>
          <a:bodyPr/>
          <a:lstStyle/>
          <a:p>
            <a:pPr>
              <a:defRPr sz="1100" b="0" i="0" u="none" strike="noStrike">
                <a:solidFill>
                  <a:srgbClr val="5E6F78"/>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5E6F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Trace statistic</c:v>
                </c:pt>
              </c:strCache>
            </c:strRef>
          </c:tx>
          <c:spPr>
            <a:solidFill>
              <a:srgbClr val="2E7D86"/>
            </a:solidFill>
            <a:effectLst/>
          </c:spPr>
          <c:invertIfNegative val="0"/>
          <c:dLbls>
            <c:numFmt formatCode="0.00" sourceLinked="0"/>
            <c:txPr>
              <a:bodyPr/>
              <a:lstStyle/>
              <a:p>
                <a:pPr>
                  <a:defRPr b="0" i="0" strike="noStrike" sz="1100" u="none">
                    <a:solidFill>
                      <a:srgbClr val="13272D"/>
                    </a:solidFill>
                    <a:latin typeface="+mn-lt"/>
                  </a:defRPr>
                </a:pPr>
              </a:p>
            </c:txPr>
            <c:showLegendKey val="0"/>
            <c:showVal val="1"/>
            <c:showCatName val="0"/>
            <c:showSerName val="0"/>
            <c:showPercent val="0"/>
            <c:showBubbleSize val="0"/>
            <c:showLeaderLines val="0"/>
          </c:dLbls>
          <c:cat>
            <c:multiLvlStrRef>
              <c:f>Sheet1!$A$2:$A$4</c:f>
              <c:multiLvlStrCache>
                <c:ptCount val="3"/>
                <c:lvl>
                  <c:pt idx="0">
                    <c:v>r = 0</c:v>
                  </c:pt>
                  <c:pt idx="1">
                    <c:v>r ≤ 1</c:v>
                  </c:pt>
                  <c:pt idx="2">
                    <c:v>r ≤ 2</c:v>
                  </c:pt>
                </c:lvl>
              </c:multiLvlStrCache>
            </c:multiLvlStrRef>
          </c:cat>
          <c:val>
            <c:numRef>
              <c:f>Sheet1!$B$2:$B$4</c:f>
              <c:numCache>
                <c:formatCode>General</c:formatCode>
                <c:ptCount val="3"/>
                <c:pt idx="0">
                  <c:v>25.53</c:v>
                </c:pt>
                <c:pt idx="1">
                  <c:v>8.31</c:v>
                </c:pt>
                <c:pt idx="2">
                  <c:v>1.86</c:v>
                </c:pt>
              </c:numCache>
            </c:numRef>
          </c:val>
        </c:ser>
        <c:ser>
          <c:idx val="1"/>
          <c:order val="1"/>
          <c:tx>
            <c:strRef>
              <c:f>Sheet1!$C$1</c:f>
              <c:strCache>
                <c:ptCount val="1"/>
                <c:pt idx="0">
                  <c:v>5% critical value</c:v>
                </c:pt>
              </c:strCache>
            </c:strRef>
          </c:tx>
          <c:spPr>
            <a:solidFill>
              <a:srgbClr val="A9C4C0"/>
            </a:solidFill>
            <a:effectLst/>
          </c:spPr>
          <c:invertIfNegative val="0"/>
          <c:dLbls>
            <c:numFmt formatCode="0.00" sourceLinked="0"/>
            <c:txPr>
              <a:bodyPr/>
              <a:lstStyle/>
              <a:p>
                <a:pPr>
                  <a:defRPr b="0" i="0" strike="noStrike" sz="1100" u="none">
                    <a:solidFill>
                      <a:srgbClr val="13272D"/>
                    </a:solidFill>
                    <a:latin typeface="+mn-lt"/>
                  </a:defRPr>
                </a:pPr>
              </a:p>
            </c:txPr>
            <c:showLegendKey val="0"/>
            <c:showVal val="1"/>
            <c:showCatName val="0"/>
            <c:showSerName val="0"/>
            <c:showPercent val="0"/>
            <c:showBubbleSize val="0"/>
            <c:showLeaderLines val="0"/>
          </c:dLbls>
          <c:cat>
            <c:multiLvlStrRef>
              <c:f>Sheet1!$A$2:$A$4</c:f>
              <c:multiLvlStrCache>
                <c:ptCount val="3"/>
                <c:lvl>
                  <c:pt idx="0">
                    <c:v>r = 0</c:v>
                  </c:pt>
                  <c:pt idx="1">
                    <c:v>r ≤ 1</c:v>
                  </c:pt>
                  <c:pt idx="2">
                    <c:v>r ≤ 2</c:v>
                  </c:pt>
                </c:lvl>
              </c:multiLvlStrCache>
            </c:multiLvlStrRef>
          </c:cat>
          <c:val>
            <c:numRef>
              <c:f>Sheet1!$C$2:$C$4</c:f>
              <c:numCache>
                <c:formatCode>General</c:formatCode>
                <c:ptCount val="3"/>
                <c:pt idx="0">
                  <c:v>29.8</c:v>
                </c:pt>
                <c:pt idx="1">
                  <c:v>15.49</c:v>
                </c:pt>
                <c:pt idx="2">
                  <c:v>3.84</c:v>
                </c:pt>
              </c:numCache>
            </c:numRef>
          </c:val>
        </c:ser>
        <c:dLbls>
          <c:numFmt formatCode="0.00" sourceLinked="0"/>
          <c:txPr>
            <a:bodyPr/>
            <a:lstStyle/>
            <a:p>
              <a:pPr>
                <a:defRPr b="0" i="0" strike="noStrike" sz="1100" u="none">
                  <a:solidFill>
                    <a:srgbClr val="1327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F78"/>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E6F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E6F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72D"/>
                </a:solidFill>
                <a:latin typeface="+mn-lt"/>
              </a:defRPr>
            </a:pPr>
            <a:r>
              <a:rPr sz="1300" b="0" i="0" u="none" strike="noStrike">
                <a:solidFill>
                  <a:srgbClr val="13272D"/>
                </a:solidFill>
                <a:latin typeface="+mn-lt"/>
              </a:rPr>
              <a:t>Annualized conditional volatility of BTC, train sample</a:t>
            </a:r>
          </a:p>
        </c:rich>
      </c:tx>
      <c:layout/>
      <c:overlay val="0"/>
    </c:title>
    <c:autoTitleDeleted val="0"/>
    <c:plotArea>
      <c:layout/>
      <c:scatterChart>
        <c:scatterStyle val="lineMarker"/>
        <c:varyColors val="0"/>
        <c:ser>
          <c:idx val="0"/>
          <c:order val="0"/>
          <c:tx>
            <c:strRef>
              <c:f>Sheet1!$B$1</c:f>
              <c:strCache>
                <c:ptCount val="1"/>
                <c:pt idx="0">
                  <c:v>Annualized conditional volatility</c:v>
                </c:pt>
              </c:strCache>
            </c:strRef>
          </c:tx>
          <c:spPr>
            <a:solidFill>
              <a:srgbClr val="2E7D86"/>
            </a:solidFill>
            <a:ln w="22225" cap="flat">
              <a:solidFill>
                <a:srgbClr val="2E7D86"/>
              </a:solidFill>
              <a:prstDash val="solid"/>
              <a:round/>
            </a:ln>
            <a:effectLst/>
          </c:spPr>
          <c:marker>
            <c:symbol val="none"/>
            <c:size val="6"/>
            <c:spPr>
              <a:solidFill>
                <a:srgbClr val="2E7D86"/>
              </a:solidFill>
              <a:ln w="9525" cap="flat">
                <a:solidFill>
                  <a:srgbClr val="2E7D86"/>
                </a:solidFill>
                <a:prstDash val="solid"/>
                <a:round/>
              </a:ln>
              <a:effectLst/>
            </c:spPr>
          </c:marker>
          <c:xVal>
            <c:numRef>
              <c:f>Sheet1!$A$2:$A$362</c:f>
              <c:numCache>
                <c:formatCode>General</c:formatCode>
                <c:ptCount val="361"/>
                <c:pt idx="0">
                  <c:v>2019.08</c:v>
                </c:pt>
                <c:pt idx="1">
                  <c:v>2019.099</c:v>
                </c:pt>
                <c:pt idx="2">
                  <c:v>2019.118</c:v>
                </c:pt>
                <c:pt idx="3">
                  <c:v>2019.137</c:v>
                </c:pt>
                <c:pt idx="4">
                  <c:v>2019.157</c:v>
                </c:pt>
                <c:pt idx="5">
                  <c:v>2019.176</c:v>
                </c:pt>
                <c:pt idx="6">
                  <c:v>2019.195</c:v>
                </c:pt>
                <c:pt idx="7">
                  <c:v>2019.214</c:v>
                </c:pt>
                <c:pt idx="8">
                  <c:v>2019.233</c:v>
                </c:pt>
                <c:pt idx="9">
                  <c:v>2019.252</c:v>
                </c:pt>
                <c:pt idx="10">
                  <c:v>2019.272</c:v>
                </c:pt>
                <c:pt idx="11">
                  <c:v>2019.291</c:v>
                </c:pt>
                <c:pt idx="12">
                  <c:v>2019.31</c:v>
                </c:pt>
                <c:pt idx="13">
                  <c:v>2019.329</c:v>
                </c:pt>
                <c:pt idx="14">
                  <c:v>2019.348</c:v>
                </c:pt>
                <c:pt idx="15">
                  <c:v>2019.367</c:v>
                </c:pt>
                <c:pt idx="16">
                  <c:v>2019.387</c:v>
                </c:pt>
                <c:pt idx="17">
                  <c:v>2019.406</c:v>
                </c:pt>
                <c:pt idx="18">
                  <c:v>2019.425</c:v>
                </c:pt>
                <c:pt idx="19">
                  <c:v>2019.444</c:v>
                </c:pt>
                <c:pt idx="20">
                  <c:v>2019.463</c:v>
                </c:pt>
                <c:pt idx="21">
                  <c:v>2019.482</c:v>
                </c:pt>
                <c:pt idx="22">
                  <c:v>2019.502</c:v>
                </c:pt>
                <c:pt idx="23">
                  <c:v>2019.521</c:v>
                </c:pt>
                <c:pt idx="24">
                  <c:v>2019.54</c:v>
                </c:pt>
                <c:pt idx="25">
                  <c:v>2019.559</c:v>
                </c:pt>
                <c:pt idx="26">
                  <c:v>2019.578</c:v>
                </c:pt>
                <c:pt idx="27">
                  <c:v>2019.597</c:v>
                </c:pt>
                <c:pt idx="28">
                  <c:v>2019.617</c:v>
                </c:pt>
                <c:pt idx="29">
                  <c:v>2019.636</c:v>
                </c:pt>
                <c:pt idx="30">
                  <c:v>2019.655</c:v>
                </c:pt>
                <c:pt idx="31">
                  <c:v>2019.674</c:v>
                </c:pt>
                <c:pt idx="32">
                  <c:v>2019.693</c:v>
                </c:pt>
                <c:pt idx="33">
                  <c:v>2019.712</c:v>
                </c:pt>
                <c:pt idx="34">
                  <c:v>2019.732</c:v>
                </c:pt>
                <c:pt idx="35">
                  <c:v>2019.751</c:v>
                </c:pt>
                <c:pt idx="36">
                  <c:v>2019.77</c:v>
                </c:pt>
                <c:pt idx="37">
                  <c:v>2019.789</c:v>
                </c:pt>
                <c:pt idx="38">
                  <c:v>2019.808</c:v>
                </c:pt>
                <c:pt idx="39">
                  <c:v>2019.827</c:v>
                </c:pt>
                <c:pt idx="40">
                  <c:v>2019.847</c:v>
                </c:pt>
                <c:pt idx="41">
                  <c:v>2019.866</c:v>
                </c:pt>
                <c:pt idx="42">
                  <c:v>2019.885</c:v>
                </c:pt>
                <c:pt idx="43">
                  <c:v>2019.904</c:v>
                </c:pt>
                <c:pt idx="44">
                  <c:v>2019.923</c:v>
                </c:pt>
                <c:pt idx="45">
                  <c:v>2019.942</c:v>
                </c:pt>
                <c:pt idx="46">
                  <c:v>2019.962</c:v>
                </c:pt>
                <c:pt idx="47">
                  <c:v>2019.981</c:v>
                </c:pt>
                <c:pt idx="48">
                  <c:v>2020</c:v>
                </c:pt>
                <c:pt idx="49">
                  <c:v>2020.019</c:v>
                </c:pt>
                <c:pt idx="50">
                  <c:v>2020.038</c:v>
                </c:pt>
                <c:pt idx="51">
                  <c:v>2020.057</c:v>
                </c:pt>
                <c:pt idx="52">
                  <c:v>2020.077</c:v>
                </c:pt>
                <c:pt idx="53">
                  <c:v>2020.096</c:v>
                </c:pt>
                <c:pt idx="54">
                  <c:v>2020.115</c:v>
                </c:pt>
                <c:pt idx="55">
                  <c:v>2020.134</c:v>
                </c:pt>
                <c:pt idx="56">
                  <c:v>2020.153</c:v>
                </c:pt>
                <c:pt idx="57">
                  <c:v>2020.172</c:v>
                </c:pt>
                <c:pt idx="58">
                  <c:v>2020.192</c:v>
                </c:pt>
                <c:pt idx="59">
                  <c:v>2020.211</c:v>
                </c:pt>
                <c:pt idx="60">
                  <c:v>2020.23</c:v>
                </c:pt>
                <c:pt idx="61">
                  <c:v>2020.249</c:v>
                </c:pt>
                <c:pt idx="62">
                  <c:v>2020.268</c:v>
                </c:pt>
                <c:pt idx="63">
                  <c:v>2020.287</c:v>
                </c:pt>
                <c:pt idx="64">
                  <c:v>2020.307</c:v>
                </c:pt>
                <c:pt idx="65">
                  <c:v>2020.326</c:v>
                </c:pt>
                <c:pt idx="66">
                  <c:v>2020.345</c:v>
                </c:pt>
                <c:pt idx="67">
                  <c:v>2020.364</c:v>
                </c:pt>
                <c:pt idx="68">
                  <c:v>2020.383</c:v>
                </c:pt>
                <c:pt idx="69">
                  <c:v>2020.402</c:v>
                </c:pt>
                <c:pt idx="70">
                  <c:v>2020.422</c:v>
                </c:pt>
                <c:pt idx="71">
                  <c:v>2020.441</c:v>
                </c:pt>
                <c:pt idx="72">
                  <c:v>2020.46</c:v>
                </c:pt>
                <c:pt idx="73">
                  <c:v>2020.479</c:v>
                </c:pt>
                <c:pt idx="74">
                  <c:v>2020.498</c:v>
                </c:pt>
                <c:pt idx="75">
                  <c:v>2020.517</c:v>
                </c:pt>
                <c:pt idx="76">
                  <c:v>2020.537</c:v>
                </c:pt>
                <c:pt idx="77">
                  <c:v>2020.556</c:v>
                </c:pt>
                <c:pt idx="78">
                  <c:v>2020.575</c:v>
                </c:pt>
                <c:pt idx="79">
                  <c:v>2020.594</c:v>
                </c:pt>
                <c:pt idx="80">
                  <c:v>2020.613</c:v>
                </c:pt>
                <c:pt idx="81">
                  <c:v>2020.632</c:v>
                </c:pt>
                <c:pt idx="82">
                  <c:v>2020.652</c:v>
                </c:pt>
                <c:pt idx="83">
                  <c:v>2020.671</c:v>
                </c:pt>
                <c:pt idx="84">
                  <c:v>2020.69</c:v>
                </c:pt>
                <c:pt idx="85">
                  <c:v>2020.709</c:v>
                </c:pt>
                <c:pt idx="86">
                  <c:v>2020.728</c:v>
                </c:pt>
                <c:pt idx="87">
                  <c:v>2020.747</c:v>
                </c:pt>
                <c:pt idx="88">
                  <c:v>2020.767</c:v>
                </c:pt>
                <c:pt idx="89">
                  <c:v>2020.786</c:v>
                </c:pt>
                <c:pt idx="90">
                  <c:v>2020.805</c:v>
                </c:pt>
                <c:pt idx="91">
                  <c:v>2020.824</c:v>
                </c:pt>
                <c:pt idx="92">
                  <c:v>2020.843</c:v>
                </c:pt>
                <c:pt idx="93">
                  <c:v>2020.862</c:v>
                </c:pt>
                <c:pt idx="94">
                  <c:v>2020.882</c:v>
                </c:pt>
                <c:pt idx="95">
                  <c:v>2020.901</c:v>
                </c:pt>
                <c:pt idx="96">
                  <c:v>2020.92</c:v>
                </c:pt>
                <c:pt idx="97">
                  <c:v>2020.939</c:v>
                </c:pt>
                <c:pt idx="98">
                  <c:v>2020.958</c:v>
                </c:pt>
                <c:pt idx="99">
                  <c:v>2020.977</c:v>
                </c:pt>
                <c:pt idx="100">
                  <c:v>2020.996</c:v>
                </c:pt>
                <c:pt idx="101">
                  <c:v>2021.016</c:v>
                </c:pt>
                <c:pt idx="102">
                  <c:v>2021.035</c:v>
                </c:pt>
                <c:pt idx="103">
                  <c:v>2021.054</c:v>
                </c:pt>
                <c:pt idx="104">
                  <c:v>2021.073</c:v>
                </c:pt>
                <c:pt idx="105">
                  <c:v>2021.092</c:v>
                </c:pt>
                <c:pt idx="106">
                  <c:v>2021.111</c:v>
                </c:pt>
                <c:pt idx="107">
                  <c:v>2021.131</c:v>
                </c:pt>
                <c:pt idx="108">
                  <c:v>2021.15</c:v>
                </c:pt>
                <c:pt idx="109">
                  <c:v>2021.169</c:v>
                </c:pt>
                <c:pt idx="110">
                  <c:v>2021.188</c:v>
                </c:pt>
                <c:pt idx="111">
                  <c:v>2021.207</c:v>
                </c:pt>
                <c:pt idx="112">
                  <c:v>2021.226</c:v>
                </c:pt>
                <c:pt idx="113">
                  <c:v>2021.246</c:v>
                </c:pt>
                <c:pt idx="114">
                  <c:v>2021.265</c:v>
                </c:pt>
                <c:pt idx="115">
                  <c:v>2021.284</c:v>
                </c:pt>
                <c:pt idx="116">
                  <c:v>2021.303</c:v>
                </c:pt>
                <c:pt idx="117">
                  <c:v>2021.322</c:v>
                </c:pt>
                <c:pt idx="118">
                  <c:v>2021.341</c:v>
                </c:pt>
                <c:pt idx="119">
                  <c:v>2021.361</c:v>
                </c:pt>
                <c:pt idx="120">
                  <c:v>2021.38</c:v>
                </c:pt>
                <c:pt idx="121">
                  <c:v>2021.399</c:v>
                </c:pt>
                <c:pt idx="122">
                  <c:v>2021.418</c:v>
                </c:pt>
                <c:pt idx="123">
                  <c:v>2021.437</c:v>
                </c:pt>
                <c:pt idx="124">
                  <c:v>2021.456</c:v>
                </c:pt>
                <c:pt idx="125">
                  <c:v>2021.476</c:v>
                </c:pt>
                <c:pt idx="126">
                  <c:v>2021.495</c:v>
                </c:pt>
                <c:pt idx="127">
                  <c:v>2021.514</c:v>
                </c:pt>
                <c:pt idx="128">
                  <c:v>2021.533</c:v>
                </c:pt>
                <c:pt idx="129">
                  <c:v>2021.552</c:v>
                </c:pt>
                <c:pt idx="130">
                  <c:v>2021.571</c:v>
                </c:pt>
                <c:pt idx="131">
                  <c:v>2021.591</c:v>
                </c:pt>
                <c:pt idx="132">
                  <c:v>2021.61</c:v>
                </c:pt>
                <c:pt idx="133">
                  <c:v>2021.629</c:v>
                </c:pt>
                <c:pt idx="134">
                  <c:v>2021.648</c:v>
                </c:pt>
                <c:pt idx="135">
                  <c:v>2021.667</c:v>
                </c:pt>
                <c:pt idx="136">
                  <c:v>2021.686</c:v>
                </c:pt>
                <c:pt idx="137">
                  <c:v>2021.706</c:v>
                </c:pt>
                <c:pt idx="138">
                  <c:v>2021.725</c:v>
                </c:pt>
                <c:pt idx="139">
                  <c:v>2021.744</c:v>
                </c:pt>
                <c:pt idx="140">
                  <c:v>2021.763</c:v>
                </c:pt>
                <c:pt idx="141">
                  <c:v>2021.782</c:v>
                </c:pt>
                <c:pt idx="142">
                  <c:v>2021.801</c:v>
                </c:pt>
                <c:pt idx="143">
                  <c:v>2021.821</c:v>
                </c:pt>
                <c:pt idx="144">
                  <c:v>2021.84</c:v>
                </c:pt>
                <c:pt idx="145">
                  <c:v>2021.859</c:v>
                </c:pt>
                <c:pt idx="146">
                  <c:v>2021.878</c:v>
                </c:pt>
                <c:pt idx="147">
                  <c:v>2021.897</c:v>
                </c:pt>
                <c:pt idx="148">
                  <c:v>2021.916</c:v>
                </c:pt>
                <c:pt idx="149">
                  <c:v>2021.936</c:v>
                </c:pt>
                <c:pt idx="150">
                  <c:v>2021.955</c:v>
                </c:pt>
                <c:pt idx="151">
                  <c:v>2021.974</c:v>
                </c:pt>
                <c:pt idx="152">
                  <c:v>2021.993</c:v>
                </c:pt>
                <c:pt idx="153">
                  <c:v>2022.012</c:v>
                </c:pt>
                <c:pt idx="154">
                  <c:v>2022.031</c:v>
                </c:pt>
                <c:pt idx="155">
                  <c:v>2022.051</c:v>
                </c:pt>
                <c:pt idx="156">
                  <c:v>2022.07</c:v>
                </c:pt>
                <c:pt idx="157">
                  <c:v>2022.089</c:v>
                </c:pt>
                <c:pt idx="158">
                  <c:v>2022.108</c:v>
                </c:pt>
                <c:pt idx="159">
                  <c:v>2022.127</c:v>
                </c:pt>
                <c:pt idx="160">
                  <c:v>2022.146</c:v>
                </c:pt>
                <c:pt idx="161">
                  <c:v>2022.166</c:v>
                </c:pt>
                <c:pt idx="162">
                  <c:v>2022.185</c:v>
                </c:pt>
                <c:pt idx="163">
                  <c:v>2022.204</c:v>
                </c:pt>
                <c:pt idx="164">
                  <c:v>2022.223</c:v>
                </c:pt>
                <c:pt idx="165">
                  <c:v>2022.242</c:v>
                </c:pt>
                <c:pt idx="166">
                  <c:v>2022.261</c:v>
                </c:pt>
                <c:pt idx="167">
                  <c:v>2022.281</c:v>
                </c:pt>
                <c:pt idx="168">
                  <c:v>2022.3</c:v>
                </c:pt>
                <c:pt idx="169">
                  <c:v>2022.319</c:v>
                </c:pt>
                <c:pt idx="170">
                  <c:v>2022.338</c:v>
                </c:pt>
                <c:pt idx="171">
                  <c:v>2022.357</c:v>
                </c:pt>
                <c:pt idx="172">
                  <c:v>2022.376</c:v>
                </c:pt>
                <c:pt idx="173">
                  <c:v>2022.396</c:v>
                </c:pt>
                <c:pt idx="174">
                  <c:v>2022.415</c:v>
                </c:pt>
                <c:pt idx="175">
                  <c:v>2022.434</c:v>
                </c:pt>
                <c:pt idx="176">
                  <c:v>2022.453</c:v>
                </c:pt>
                <c:pt idx="177">
                  <c:v>2022.472</c:v>
                </c:pt>
                <c:pt idx="178">
                  <c:v>2022.491</c:v>
                </c:pt>
                <c:pt idx="179">
                  <c:v>2022.511</c:v>
                </c:pt>
                <c:pt idx="180">
                  <c:v>2022.53</c:v>
                </c:pt>
                <c:pt idx="181">
                  <c:v>2022.549</c:v>
                </c:pt>
                <c:pt idx="182">
                  <c:v>2022.568</c:v>
                </c:pt>
                <c:pt idx="183">
                  <c:v>2022.587</c:v>
                </c:pt>
                <c:pt idx="184">
                  <c:v>2022.606</c:v>
                </c:pt>
                <c:pt idx="185">
                  <c:v>2022.626</c:v>
                </c:pt>
                <c:pt idx="186">
                  <c:v>2022.645</c:v>
                </c:pt>
                <c:pt idx="187">
                  <c:v>2022.664</c:v>
                </c:pt>
                <c:pt idx="188">
                  <c:v>2022.683</c:v>
                </c:pt>
                <c:pt idx="189">
                  <c:v>2022.702</c:v>
                </c:pt>
                <c:pt idx="190">
                  <c:v>2022.721</c:v>
                </c:pt>
                <c:pt idx="191">
                  <c:v>2022.741</c:v>
                </c:pt>
                <c:pt idx="192">
                  <c:v>2022.76</c:v>
                </c:pt>
                <c:pt idx="193">
                  <c:v>2022.779</c:v>
                </c:pt>
                <c:pt idx="194">
                  <c:v>2022.798</c:v>
                </c:pt>
                <c:pt idx="195">
                  <c:v>2022.817</c:v>
                </c:pt>
                <c:pt idx="196">
                  <c:v>2022.836</c:v>
                </c:pt>
                <c:pt idx="197">
                  <c:v>2022.855</c:v>
                </c:pt>
                <c:pt idx="198">
                  <c:v>2022.875</c:v>
                </c:pt>
                <c:pt idx="199">
                  <c:v>2022.894</c:v>
                </c:pt>
                <c:pt idx="200">
                  <c:v>2022.913</c:v>
                </c:pt>
                <c:pt idx="201">
                  <c:v>2022.932</c:v>
                </c:pt>
                <c:pt idx="202">
                  <c:v>2022.951</c:v>
                </c:pt>
                <c:pt idx="203">
                  <c:v>2022.97</c:v>
                </c:pt>
                <c:pt idx="204">
                  <c:v>2022.99</c:v>
                </c:pt>
                <c:pt idx="205">
                  <c:v>2023.009</c:v>
                </c:pt>
                <c:pt idx="206">
                  <c:v>2023.028</c:v>
                </c:pt>
                <c:pt idx="207">
                  <c:v>2023.047</c:v>
                </c:pt>
                <c:pt idx="208">
                  <c:v>2023.066</c:v>
                </c:pt>
                <c:pt idx="209">
                  <c:v>2023.085</c:v>
                </c:pt>
                <c:pt idx="210">
                  <c:v>2023.105</c:v>
                </c:pt>
                <c:pt idx="211">
                  <c:v>2023.124</c:v>
                </c:pt>
                <c:pt idx="212">
                  <c:v>2023.143</c:v>
                </c:pt>
                <c:pt idx="213">
                  <c:v>2023.162</c:v>
                </c:pt>
                <c:pt idx="214">
                  <c:v>2023.181</c:v>
                </c:pt>
                <c:pt idx="215">
                  <c:v>2023.2</c:v>
                </c:pt>
                <c:pt idx="216">
                  <c:v>2023.22</c:v>
                </c:pt>
                <c:pt idx="217">
                  <c:v>2023.239</c:v>
                </c:pt>
                <c:pt idx="218">
                  <c:v>2023.258</c:v>
                </c:pt>
                <c:pt idx="219">
                  <c:v>2023.277</c:v>
                </c:pt>
                <c:pt idx="220">
                  <c:v>2023.296</c:v>
                </c:pt>
                <c:pt idx="221">
                  <c:v>2023.315</c:v>
                </c:pt>
                <c:pt idx="222">
                  <c:v>2023.335</c:v>
                </c:pt>
                <c:pt idx="223">
                  <c:v>2023.354</c:v>
                </c:pt>
                <c:pt idx="224">
                  <c:v>2023.373</c:v>
                </c:pt>
                <c:pt idx="225">
                  <c:v>2023.392</c:v>
                </c:pt>
                <c:pt idx="226">
                  <c:v>2023.411</c:v>
                </c:pt>
                <c:pt idx="227">
                  <c:v>2023.43</c:v>
                </c:pt>
                <c:pt idx="228">
                  <c:v>2023.45</c:v>
                </c:pt>
                <c:pt idx="229">
                  <c:v>2023.469</c:v>
                </c:pt>
                <c:pt idx="230">
                  <c:v>2023.488</c:v>
                </c:pt>
                <c:pt idx="231">
                  <c:v>2023.507</c:v>
                </c:pt>
                <c:pt idx="232">
                  <c:v>2023.526</c:v>
                </c:pt>
                <c:pt idx="233">
                  <c:v>2023.545</c:v>
                </c:pt>
                <c:pt idx="234">
                  <c:v>2023.565</c:v>
                </c:pt>
                <c:pt idx="235">
                  <c:v>2023.584</c:v>
                </c:pt>
                <c:pt idx="236">
                  <c:v>2023.603</c:v>
                </c:pt>
                <c:pt idx="237">
                  <c:v>2023.622</c:v>
                </c:pt>
                <c:pt idx="238">
                  <c:v>2023.641</c:v>
                </c:pt>
                <c:pt idx="239">
                  <c:v>2023.66</c:v>
                </c:pt>
                <c:pt idx="240">
                  <c:v>2023.68</c:v>
                </c:pt>
                <c:pt idx="241">
                  <c:v>2023.699</c:v>
                </c:pt>
                <c:pt idx="242">
                  <c:v>2023.718</c:v>
                </c:pt>
                <c:pt idx="243">
                  <c:v>2023.737</c:v>
                </c:pt>
                <c:pt idx="244">
                  <c:v>2023.756</c:v>
                </c:pt>
                <c:pt idx="245">
                  <c:v>2023.775</c:v>
                </c:pt>
                <c:pt idx="246">
                  <c:v>2023.795</c:v>
                </c:pt>
                <c:pt idx="247">
                  <c:v>2023.814</c:v>
                </c:pt>
                <c:pt idx="248">
                  <c:v>2023.833</c:v>
                </c:pt>
                <c:pt idx="249">
                  <c:v>2023.852</c:v>
                </c:pt>
                <c:pt idx="250">
                  <c:v>2023.871</c:v>
                </c:pt>
                <c:pt idx="251">
                  <c:v>2023.89</c:v>
                </c:pt>
                <c:pt idx="252">
                  <c:v>2023.91</c:v>
                </c:pt>
                <c:pt idx="253">
                  <c:v>2023.929</c:v>
                </c:pt>
                <c:pt idx="254">
                  <c:v>2023.948</c:v>
                </c:pt>
                <c:pt idx="255">
                  <c:v>2023.967</c:v>
                </c:pt>
                <c:pt idx="256">
                  <c:v>2023.986</c:v>
                </c:pt>
                <c:pt idx="257">
                  <c:v>2024.005</c:v>
                </c:pt>
                <c:pt idx="258">
                  <c:v>2024.025</c:v>
                </c:pt>
                <c:pt idx="259">
                  <c:v>2024.044</c:v>
                </c:pt>
                <c:pt idx="260">
                  <c:v>2024.063</c:v>
                </c:pt>
                <c:pt idx="261">
                  <c:v>2024.082</c:v>
                </c:pt>
                <c:pt idx="262">
                  <c:v>2024.101</c:v>
                </c:pt>
                <c:pt idx="263">
                  <c:v>2024.12</c:v>
                </c:pt>
                <c:pt idx="264">
                  <c:v>2024.14</c:v>
                </c:pt>
                <c:pt idx="265">
                  <c:v>2024.159</c:v>
                </c:pt>
                <c:pt idx="266">
                  <c:v>2024.178</c:v>
                </c:pt>
                <c:pt idx="267">
                  <c:v>2024.197</c:v>
                </c:pt>
                <c:pt idx="268">
                  <c:v>2024.216</c:v>
                </c:pt>
                <c:pt idx="269">
                  <c:v>2024.235</c:v>
                </c:pt>
                <c:pt idx="270">
                  <c:v>2024.255</c:v>
                </c:pt>
                <c:pt idx="271">
                  <c:v>2024.274</c:v>
                </c:pt>
                <c:pt idx="272">
                  <c:v>2024.293</c:v>
                </c:pt>
                <c:pt idx="273">
                  <c:v>2024.312</c:v>
                </c:pt>
                <c:pt idx="274">
                  <c:v>2024.331</c:v>
                </c:pt>
                <c:pt idx="275">
                  <c:v>2024.35</c:v>
                </c:pt>
                <c:pt idx="276">
                  <c:v>2024.37</c:v>
                </c:pt>
                <c:pt idx="277">
                  <c:v>2024.389</c:v>
                </c:pt>
                <c:pt idx="278">
                  <c:v>2024.408</c:v>
                </c:pt>
                <c:pt idx="279">
                  <c:v>2024.427</c:v>
                </c:pt>
                <c:pt idx="280">
                  <c:v>2024.446</c:v>
                </c:pt>
                <c:pt idx="281">
                  <c:v>2024.465</c:v>
                </c:pt>
                <c:pt idx="282">
                  <c:v>2024.485</c:v>
                </c:pt>
                <c:pt idx="283">
                  <c:v>2024.504</c:v>
                </c:pt>
                <c:pt idx="284">
                  <c:v>2024.523</c:v>
                </c:pt>
                <c:pt idx="285">
                  <c:v>2024.542</c:v>
                </c:pt>
                <c:pt idx="286">
                  <c:v>2024.561</c:v>
                </c:pt>
                <c:pt idx="287">
                  <c:v>2024.58</c:v>
                </c:pt>
                <c:pt idx="288">
                  <c:v>2024.6</c:v>
                </c:pt>
                <c:pt idx="289">
                  <c:v>2024.619</c:v>
                </c:pt>
                <c:pt idx="290">
                  <c:v>2024.638</c:v>
                </c:pt>
                <c:pt idx="291">
                  <c:v>2024.657</c:v>
                </c:pt>
                <c:pt idx="292">
                  <c:v>2024.676</c:v>
                </c:pt>
                <c:pt idx="293">
                  <c:v>2024.695</c:v>
                </c:pt>
                <c:pt idx="294">
                  <c:v>2024.714</c:v>
                </c:pt>
                <c:pt idx="295">
                  <c:v>2024.734</c:v>
                </c:pt>
                <c:pt idx="296">
                  <c:v>2024.753</c:v>
                </c:pt>
                <c:pt idx="297">
                  <c:v>2024.772</c:v>
                </c:pt>
                <c:pt idx="298">
                  <c:v>2024.791</c:v>
                </c:pt>
                <c:pt idx="299">
                  <c:v>2024.81</c:v>
                </c:pt>
                <c:pt idx="300">
                  <c:v>2024.829</c:v>
                </c:pt>
                <c:pt idx="301">
                  <c:v>2024.849</c:v>
                </c:pt>
                <c:pt idx="302">
                  <c:v>2024.868</c:v>
                </c:pt>
                <c:pt idx="303">
                  <c:v>2024.887</c:v>
                </c:pt>
                <c:pt idx="304">
                  <c:v>2024.906</c:v>
                </c:pt>
                <c:pt idx="305">
                  <c:v>2024.925</c:v>
                </c:pt>
                <c:pt idx="306">
                  <c:v>2024.944</c:v>
                </c:pt>
                <c:pt idx="307">
                  <c:v>2024.964</c:v>
                </c:pt>
                <c:pt idx="308">
                  <c:v>2024.983</c:v>
                </c:pt>
                <c:pt idx="309">
                  <c:v>2025.002</c:v>
                </c:pt>
                <c:pt idx="310">
                  <c:v>2025.021</c:v>
                </c:pt>
                <c:pt idx="311">
                  <c:v>2025.04</c:v>
                </c:pt>
                <c:pt idx="312">
                  <c:v>2025.059</c:v>
                </c:pt>
                <c:pt idx="313">
                  <c:v>2025.079</c:v>
                </c:pt>
                <c:pt idx="314">
                  <c:v>2025.098</c:v>
                </c:pt>
                <c:pt idx="315">
                  <c:v>2025.117</c:v>
                </c:pt>
                <c:pt idx="316">
                  <c:v>2025.136</c:v>
                </c:pt>
                <c:pt idx="317">
                  <c:v>2025.155</c:v>
                </c:pt>
                <c:pt idx="318">
                  <c:v>2025.174</c:v>
                </c:pt>
                <c:pt idx="319">
                  <c:v>2025.194</c:v>
                </c:pt>
                <c:pt idx="320">
                  <c:v>2025.213</c:v>
                </c:pt>
                <c:pt idx="321">
                  <c:v>2025.232</c:v>
                </c:pt>
                <c:pt idx="322">
                  <c:v>2025.251</c:v>
                </c:pt>
                <c:pt idx="323">
                  <c:v>2025.27</c:v>
                </c:pt>
                <c:pt idx="324">
                  <c:v>2025.289</c:v>
                </c:pt>
                <c:pt idx="325">
                  <c:v>2025.309</c:v>
                </c:pt>
                <c:pt idx="326">
                  <c:v>2025.328</c:v>
                </c:pt>
                <c:pt idx="327">
                  <c:v>2025.347</c:v>
                </c:pt>
                <c:pt idx="328">
                  <c:v>2025.366</c:v>
                </c:pt>
                <c:pt idx="329">
                  <c:v>2025.385</c:v>
                </c:pt>
                <c:pt idx="330">
                  <c:v>2025.404</c:v>
                </c:pt>
                <c:pt idx="331">
                  <c:v>2025.424</c:v>
                </c:pt>
                <c:pt idx="332">
                  <c:v>2025.443</c:v>
                </c:pt>
                <c:pt idx="333">
                  <c:v>2025.462</c:v>
                </c:pt>
                <c:pt idx="334">
                  <c:v>2025.481</c:v>
                </c:pt>
                <c:pt idx="335">
                  <c:v>2025.5</c:v>
                </c:pt>
                <c:pt idx="336">
                  <c:v>2025.519</c:v>
                </c:pt>
                <c:pt idx="337">
                  <c:v>2025.539</c:v>
                </c:pt>
                <c:pt idx="338">
                  <c:v>2025.558</c:v>
                </c:pt>
                <c:pt idx="339">
                  <c:v>2025.577</c:v>
                </c:pt>
                <c:pt idx="340">
                  <c:v>2025.596</c:v>
                </c:pt>
                <c:pt idx="341">
                  <c:v>2025.615</c:v>
                </c:pt>
                <c:pt idx="342">
                  <c:v>2025.634</c:v>
                </c:pt>
                <c:pt idx="343">
                  <c:v>2025.654</c:v>
                </c:pt>
                <c:pt idx="344">
                  <c:v>2025.673</c:v>
                </c:pt>
                <c:pt idx="345">
                  <c:v>2025.692</c:v>
                </c:pt>
                <c:pt idx="346">
                  <c:v>2025.711</c:v>
                </c:pt>
                <c:pt idx="347">
                  <c:v>2025.73</c:v>
                </c:pt>
                <c:pt idx="348">
                  <c:v>2025.749</c:v>
                </c:pt>
                <c:pt idx="349">
                  <c:v>2025.769</c:v>
                </c:pt>
                <c:pt idx="350">
                  <c:v>2025.788</c:v>
                </c:pt>
                <c:pt idx="351">
                  <c:v>2025.807</c:v>
                </c:pt>
                <c:pt idx="352">
                  <c:v>2025.826</c:v>
                </c:pt>
                <c:pt idx="353">
                  <c:v>2025.845</c:v>
                </c:pt>
                <c:pt idx="354">
                  <c:v>2025.864</c:v>
                </c:pt>
                <c:pt idx="355">
                  <c:v>2025.884</c:v>
                </c:pt>
                <c:pt idx="356">
                  <c:v>2025.903</c:v>
                </c:pt>
                <c:pt idx="357">
                  <c:v>2025.922</c:v>
                </c:pt>
                <c:pt idx="358">
                  <c:v>2025.941</c:v>
                </c:pt>
                <c:pt idx="359">
                  <c:v>2025.96</c:v>
                </c:pt>
                <c:pt idx="360">
                  <c:v>2025.979</c:v>
                </c:pt>
              </c:numCache>
            </c:numRef>
          </c:xVal>
          <c:yVal>
            <c:numRef>
              <c:f>Sheet1!$B$2:$B$362</c:f>
              <c:numCache>
                <c:formatCode>General</c:formatCode>
                <c:ptCount val="361"/>
                <c:pt idx="0">
                  <c:v>45.3</c:v>
                </c:pt>
                <c:pt idx="1">
                  <c:v>55.8</c:v>
                </c:pt>
                <c:pt idx="2">
                  <c:v>55.5</c:v>
                </c:pt>
                <c:pt idx="3">
                  <c:v>66.6</c:v>
                </c:pt>
                <c:pt idx="4">
                  <c:v>61.7</c:v>
                </c:pt>
                <c:pt idx="5">
                  <c:v>55.2</c:v>
                </c:pt>
                <c:pt idx="6">
                  <c:v>47.8</c:v>
                </c:pt>
                <c:pt idx="7">
                  <c:v>43.3</c:v>
                </c:pt>
                <c:pt idx="8">
                  <c:v>89.4</c:v>
                </c:pt>
                <c:pt idx="9">
                  <c:v>87.6</c:v>
                </c:pt>
                <c:pt idx="10">
                  <c:v>76.1</c:v>
                </c:pt>
                <c:pt idx="11">
                  <c:v>66.6</c:v>
                </c:pt>
                <c:pt idx="12">
                  <c:v>62.3</c:v>
                </c:pt>
                <c:pt idx="13">
                  <c:v>57.7</c:v>
                </c:pt>
                <c:pt idx="14">
                  <c:v>96.7</c:v>
                </c:pt>
                <c:pt idx="15">
                  <c:v>108.6</c:v>
                </c:pt>
                <c:pt idx="16">
                  <c:v>100.7</c:v>
                </c:pt>
                <c:pt idx="17">
                  <c:v>89.5</c:v>
                </c:pt>
                <c:pt idx="18">
                  <c:v>86.9</c:v>
                </c:pt>
                <c:pt idx="19">
                  <c:v>77</c:v>
                </c:pt>
                <c:pt idx="20">
                  <c:v>80.1</c:v>
                </c:pt>
                <c:pt idx="21">
                  <c:v>127.1</c:v>
                </c:pt>
                <c:pt idx="22">
                  <c:v>126.8</c:v>
                </c:pt>
                <c:pt idx="23">
                  <c:v>133.5</c:v>
                </c:pt>
                <c:pt idx="24">
                  <c:v>134</c:v>
                </c:pt>
                <c:pt idx="25">
                  <c:v>113.1</c:v>
                </c:pt>
                <c:pt idx="26">
                  <c:v>95</c:v>
                </c:pt>
                <c:pt idx="27">
                  <c:v>88.8</c:v>
                </c:pt>
                <c:pt idx="28">
                  <c:v>88.6</c:v>
                </c:pt>
                <c:pt idx="29">
                  <c:v>82.8</c:v>
                </c:pt>
                <c:pt idx="30">
                  <c:v>73.7</c:v>
                </c:pt>
                <c:pt idx="31">
                  <c:v>68.9</c:v>
                </c:pt>
                <c:pt idx="32">
                  <c:v>59.4</c:v>
                </c:pt>
                <c:pt idx="33">
                  <c:v>79.2</c:v>
                </c:pt>
                <c:pt idx="34">
                  <c:v>78.8</c:v>
                </c:pt>
                <c:pt idx="35">
                  <c:v>67.6</c:v>
                </c:pt>
                <c:pt idx="36">
                  <c:v>62.8</c:v>
                </c:pt>
                <c:pt idx="37">
                  <c:v>56.1</c:v>
                </c:pt>
                <c:pt idx="38">
                  <c:v>98</c:v>
                </c:pt>
                <c:pt idx="39">
                  <c:v>89.9</c:v>
                </c:pt>
                <c:pt idx="40">
                  <c:v>74.1</c:v>
                </c:pt>
                <c:pt idx="41">
                  <c:v>67</c:v>
                </c:pt>
                <c:pt idx="42">
                  <c:v>68.4</c:v>
                </c:pt>
                <c:pt idx="43">
                  <c:v>66.6</c:v>
                </c:pt>
                <c:pt idx="44">
                  <c:v>59.9</c:v>
                </c:pt>
                <c:pt idx="45">
                  <c:v>55.3</c:v>
                </c:pt>
                <c:pt idx="46">
                  <c:v>70</c:v>
                </c:pt>
                <c:pt idx="47">
                  <c:v>61.7</c:v>
                </c:pt>
                <c:pt idx="48">
                  <c:v>62.9</c:v>
                </c:pt>
                <c:pt idx="49">
                  <c:v>69.5</c:v>
                </c:pt>
                <c:pt idx="50">
                  <c:v>67.5</c:v>
                </c:pt>
                <c:pt idx="51">
                  <c:v>62.1</c:v>
                </c:pt>
                <c:pt idx="52">
                  <c:v>60.4</c:v>
                </c:pt>
                <c:pt idx="53">
                  <c:v>56.9</c:v>
                </c:pt>
                <c:pt idx="54">
                  <c:v>57.1</c:v>
                </c:pt>
                <c:pt idx="55">
                  <c:v>61.1</c:v>
                </c:pt>
                <c:pt idx="56">
                  <c:v>64.3</c:v>
                </c:pt>
                <c:pt idx="57">
                  <c:v>73.5</c:v>
                </c:pt>
                <c:pt idx="58">
                  <c:v>244.2</c:v>
                </c:pt>
                <c:pt idx="59">
                  <c:v>216.6</c:v>
                </c:pt>
                <c:pt idx="60">
                  <c:v>184.4</c:v>
                </c:pt>
                <c:pt idx="61">
                  <c:v>153.5</c:v>
                </c:pt>
                <c:pt idx="62">
                  <c:v>126.2</c:v>
                </c:pt>
                <c:pt idx="63">
                  <c:v>107</c:v>
                </c:pt>
                <c:pt idx="64">
                  <c:v>92.6</c:v>
                </c:pt>
                <c:pt idx="65">
                  <c:v>98</c:v>
                </c:pt>
                <c:pt idx="66">
                  <c:v>92.7</c:v>
                </c:pt>
                <c:pt idx="67">
                  <c:v>90.4</c:v>
                </c:pt>
                <c:pt idx="68">
                  <c:v>80.5</c:v>
                </c:pt>
                <c:pt idx="69">
                  <c:v>80.5</c:v>
                </c:pt>
                <c:pt idx="70">
                  <c:v>78.2</c:v>
                </c:pt>
                <c:pt idx="71">
                  <c:v>69.1</c:v>
                </c:pt>
                <c:pt idx="72">
                  <c:v>59.2</c:v>
                </c:pt>
                <c:pt idx="73">
                  <c:v>55.7</c:v>
                </c:pt>
                <c:pt idx="74">
                  <c:v>48.6</c:v>
                </c:pt>
                <c:pt idx="75">
                  <c:v>46.5</c:v>
                </c:pt>
                <c:pt idx="76">
                  <c:v>41.6</c:v>
                </c:pt>
                <c:pt idx="77">
                  <c:v>65.9</c:v>
                </c:pt>
                <c:pt idx="78">
                  <c:v>67.4</c:v>
                </c:pt>
                <c:pt idx="79">
                  <c:v>66.5</c:v>
                </c:pt>
                <c:pt idx="80">
                  <c:v>59.9</c:v>
                </c:pt>
                <c:pt idx="81">
                  <c:v>54.7</c:v>
                </c:pt>
                <c:pt idx="82">
                  <c:v>51.3</c:v>
                </c:pt>
                <c:pt idx="83">
                  <c:v>76.3</c:v>
                </c:pt>
                <c:pt idx="84">
                  <c:v>67.4</c:v>
                </c:pt>
                <c:pt idx="85">
                  <c:v>59.1</c:v>
                </c:pt>
                <c:pt idx="86">
                  <c:v>60.1</c:v>
                </c:pt>
                <c:pt idx="87">
                  <c:v>52.2</c:v>
                </c:pt>
                <c:pt idx="88">
                  <c:v>47.2</c:v>
                </c:pt>
                <c:pt idx="89">
                  <c:v>44.4</c:v>
                </c:pt>
                <c:pt idx="90">
                  <c:v>56.1</c:v>
                </c:pt>
                <c:pt idx="91">
                  <c:v>54.3</c:v>
                </c:pt>
                <c:pt idx="92">
                  <c:v>70.7</c:v>
                </c:pt>
                <c:pt idx="93">
                  <c:v>68.9</c:v>
                </c:pt>
                <c:pt idx="94">
                  <c:v>67.2</c:v>
                </c:pt>
                <c:pt idx="95">
                  <c:v>80.7</c:v>
                </c:pt>
                <c:pt idx="96">
                  <c:v>78.8</c:v>
                </c:pt>
                <c:pt idx="97">
                  <c:v>71.3</c:v>
                </c:pt>
                <c:pt idx="98">
                  <c:v>83.8</c:v>
                </c:pt>
                <c:pt idx="99">
                  <c:v>81.2</c:v>
                </c:pt>
                <c:pt idx="100">
                  <c:v>84.6</c:v>
                </c:pt>
                <c:pt idx="101">
                  <c:v>98.2</c:v>
                </c:pt>
                <c:pt idx="102">
                  <c:v>106.8</c:v>
                </c:pt>
                <c:pt idx="103">
                  <c:v>115.7</c:v>
                </c:pt>
                <c:pt idx="104">
                  <c:v>111.1</c:v>
                </c:pt>
                <c:pt idx="105">
                  <c:v>123.7</c:v>
                </c:pt>
                <c:pt idx="106">
                  <c:v>117.4</c:v>
                </c:pt>
                <c:pt idx="107">
                  <c:v>110.8</c:v>
                </c:pt>
                <c:pt idx="108">
                  <c:v>107.3</c:v>
                </c:pt>
                <c:pt idx="109">
                  <c:v>102.1</c:v>
                </c:pt>
                <c:pt idx="110">
                  <c:v>90.7</c:v>
                </c:pt>
                <c:pt idx="111">
                  <c:v>87.1</c:v>
                </c:pt>
                <c:pt idx="112">
                  <c:v>80.5</c:v>
                </c:pt>
                <c:pt idx="113">
                  <c:v>71.9</c:v>
                </c:pt>
                <c:pt idx="114">
                  <c:v>65.6</c:v>
                </c:pt>
                <c:pt idx="115">
                  <c:v>71.1</c:v>
                </c:pt>
                <c:pt idx="116">
                  <c:v>81.5</c:v>
                </c:pt>
                <c:pt idx="117">
                  <c:v>82.6</c:v>
                </c:pt>
                <c:pt idx="118">
                  <c:v>86.9</c:v>
                </c:pt>
                <c:pt idx="119">
                  <c:v>103.9</c:v>
                </c:pt>
                <c:pt idx="120">
                  <c:v>132</c:v>
                </c:pt>
                <c:pt idx="121">
                  <c:v>123.8</c:v>
                </c:pt>
                <c:pt idx="122">
                  <c:v>108.4</c:v>
                </c:pt>
                <c:pt idx="123">
                  <c:v>112.7</c:v>
                </c:pt>
                <c:pt idx="124">
                  <c:v>112.4</c:v>
                </c:pt>
                <c:pt idx="125">
                  <c:v>111.1</c:v>
                </c:pt>
                <c:pt idx="126">
                  <c:v>102.6</c:v>
                </c:pt>
                <c:pt idx="127">
                  <c:v>87.8</c:v>
                </c:pt>
                <c:pt idx="128">
                  <c:v>75.3</c:v>
                </c:pt>
                <c:pt idx="129">
                  <c:v>78.9</c:v>
                </c:pt>
                <c:pt idx="130">
                  <c:v>77.3</c:v>
                </c:pt>
                <c:pt idx="131">
                  <c:v>77.1</c:v>
                </c:pt>
                <c:pt idx="132">
                  <c:v>78.6</c:v>
                </c:pt>
                <c:pt idx="133">
                  <c:v>74.9</c:v>
                </c:pt>
                <c:pt idx="134">
                  <c:v>70.9</c:v>
                </c:pt>
                <c:pt idx="135">
                  <c:v>84.1</c:v>
                </c:pt>
                <c:pt idx="136">
                  <c:v>82.3</c:v>
                </c:pt>
                <c:pt idx="137">
                  <c:v>85.4</c:v>
                </c:pt>
                <c:pt idx="138">
                  <c:v>89</c:v>
                </c:pt>
                <c:pt idx="139">
                  <c:v>91.5</c:v>
                </c:pt>
                <c:pt idx="140">
                  <c:v>90.1</c:v>
                </c:pt>
                <c:pt idx="141">
                  <c:v>82.2</c:v>
                </c:pt>
                <c:pt idx="142">
                  <c:v>77.9</c:v>
                </c:pt>
                <c:pt idx="143">
                  <c:v>73.5</c:v>
                </c:pt>
                <c:pt idx="144">
                  <c:v>68.3</c:v>
                </c:pt>
                <c:pt idx="145">
                  <c:v>66.4</c:v>
                </c:pt>
                <c:pt idx="146">
                  <c:v>68.9</c:v>
                </c:pt>
                <c:pt idx="147">
                  <c:v>71</c:v>
                </c:pt>
                <c:pt idx="148">
                  <c:v>80</c:v>
                </c:pt>
                <c:pt idx="149">
                  <c:v>79.1</c:v>
                </c:pt>
                <c:pt idx="150">
                  <c:v>78.1</c:v>
                </c:pt>
                <c:pt idx="151">
                  <c:v>70.6</c:v>
                </c:pt>
                <c:pt idx="152">
                  <c:v>68.7</c:v>
                </c:pt>
                <c:pt idx="153">
                  <c:v>65.8</c:v>
                </c:pt>
                <c:pt idx="154">
                  <c:v>60.3</c:v>
                </c:pt>
                <c:pt idx="155">
                  <c:v>78.4</c:v>
                </c:pt>
                <c:pt idx="156">
                  <c:v>71.4</c:v>
                </c:pt>
                <c:pt idx="157">
                  <c:v>82.4</c:v>
                </c:pt>
                <c:pt idx="158">
                  <c:v>73.3</c:v>
                </c:pt>
                <c:pt idx="159">
                  <c:v>76.5</c:v>
                </c:pt>
                <c:pt idx="160">
                  <c:v>95</c:v>
                </c:pt>
                <c:pt idx="161">
                  <c:v>96.5</c:v>
                </c:pt>
                <c:pt idx="162">
                  <c:v>94.9</c:v>
                </c:pt>
                <c:pt idx="163">
                  <c:v>85.6</c:v>
                </c:pt>
                <c:pt idx="164">
                  <c:v>72.3</c:v>
                </c:pt>
                <c:pt idx="165">
                  <c:v>65.3</c:v>
                </c:pt>
                <c:pt idx="166">
                  <c:v>67.1</c:v>
                </c:pt>
                <c:pt idx="167">
                  <c:v>64.9</c:v>
                </c:pt>
                <c:pt idx="168">
                  <c:v>61</c:v>
                </c:pt>
                <c:pt idx="169">
                  <c:v>60.7</c:v>
                </c:pt>
                <c:pt idx="170">
                  <c:v>91.2</c:v>
                </c:pt>
                <c:pt idx="171">
                  <c:v>92.8</c:v>
                </c:pt>
                <c:pt idx="172">
                  <c:v>87.1</c:v>
                </c:pt>
                <c:pt idx="173">
                  <c:v>78.6</c:v>
                </c:pt>
                <c:pt idx="174">
                  <c:v>81.1</c:v>
                </c:pt>
                <c:pt idx="175">
                  <c:v>115.2</c:v>
                </c:pt>
                <c:pt idx="176">
                  <c:v>117.8</c:v>
                </c:pt>
                <c:pt idx="177">
                  <c:v>108.1</c:v>
                </c:pt>
                <c:pt idx="178">
                  <c:v>90.6</c:v>
                </c:pt>
                <c:pt idx="179">
                  <c:v>79.8</c:v>
                </c:pt>
                <c:pt idx="180">
                  <c:v>79.3</c:v>
                </c:pt>
                <c:pt idx="181">
                  <c:v>76.9</c:v>
                </c:pt>
                <c:pt idx="182">
                  <c:v>79.5</c:v>
                </c:pt>
                <c:pt idx="183">
                  <c:v>67.4</c:v>
                </c:pt>
                <c:pt idx="184">
                  <c:v>62.2</c:v>
                </c:pt>
                <c:pt idx="185">
                  <c:v>75</c:v>
                </c:pt>
                <c:pt idx="186">
                  <c:v>70.1</c:v>
                </c:pt>
                <c:pt idx="187">
                  <c:v>65.2</c:v>
                </c:pt>
                <c:pt idx="188">
                  <c:v>85.2</c:v>
                </c:pt>
                <c:pt idx="189">
                  <c:v>82.7</c:v>
                </c:pt>
                <c:pt idx="190">
                  <c:v>74.3</c:v>
                </c:pt>
                <c:pt idx="191">
                  <c:v>64.5</c:v>
                </c:pt>
                <c:pt idx="192">
                  <c:v>58.8</c:v>
                </c:pt>
                <c:pt idx="193">
                  <c:v>51.4</c:v>
                </c:pt>
                <c:pt idx="194">
                  <c:v>46.5</c:v>
                </c:pt>
                <c:pt idx="195">
                  <c:v>49</c:v>
                </c:pt>
                <c:pt idx="196">
                  <c:v>71.3</c:v>
                </c:pt>
                <c:pt idx="197">
                  <c:v>113.5</c:v>
                </c:pt>
                <c:pt idx="198">
                  <c:v>95.8</c:v>
                </c:pt>
                <c:pt idx="199">
                  <c:v>81.1</c:v>
                </c:pt>
                <c:pt idx="200">
                  <c:v>70</c:v>
                </c:pt>
                <c:pt idx="201">
                  <c:v>58.9</c:v>
                </c:pt>
                <c:pt idx="202">
                  <c:v>56.6</c:v>
                </c:pt>
                <c:pt idx="203">
                  <c:v>52.7</c:v>
                </c:pt>
                <c:pt idx="204">
                  <c:v>46</c:v>
                </c:pt>
                <c:pt idx="205">
                  <c:v>41</c:v>
                </c:pt>
                <c:pt idx="206">
                  <c:v>59.5</c:v>
                </c:pt>
                <c:pt idx="207">
                  <c:v>64.7</c:v>
                </c:pt>
                <c:pt idx="208">
                  <c:v>58</c:v>
                </c:pt>
                <c:pt idx="209">
                  <c:v>55.8</c:v>
                </c:pt>
                <c:pt idx="210">
                  <c:v>55.4</c:v>
                </c:pt>
                <c:pt idx="211">
                  <c:v>67</c:v>
                </c:pt>
                <c:pt idx="212">
                  <c:v>60.2</c:v>
                </c:pt>
                <c:pt idx="213">
                  <c:v>57.9</c:v>
                </c:pt>
                <c:pt idx="214">
                  <c:v>80.6</c:v>
                </c:pt>
                <c:pt idx="215">
                  <c:v>86.8</c:v>
                </c:pt>
                <c:pt idx="216">
                  <c:v>78.5</c:v>
                </c:pt>
                <c:pt idx="217">
                  <c:v>71.2</c:v>
                </c:pt>
                <c:pt idx="218">
                  <c:v>59.8</c:v>
                </c:pt>
                <c:pt idx="219">
                  <c:v>55.9</c:v>
                </c:pt>
                <c:pt idx="220">
                  <c:v>59.3</c:v>
                </c:pt>
                <c:pt idx="221">
                  <c:v>56.2</c:v>
                </c:pt>
                <c:pt idx="222">
                  <c:v>53.6</c:v>
                </c:pt>
                <c:pt idx="223">
                  <c:v>50.6</c:v>
                </c:pt>
                <c:pt idx="224">
                  <c:v>45.8</c:v>
                </c:pt>
                <c:pt idx="225">
                  <c:v>47.8</c:v>
                </c:pt>
                <c:pt idx="226">
                  <c:v>56.1</c:v>
                </c:pt>
                <c:pt idx="227">
                  <c:v>56.9</c:v>
                </c:pt>
                <c:pt idx="228">
                  <c:v>55.7</c:v>
                </c:pt>
                <c:pt idx="229">
                  <c:v>62.2</c:v>
                </c:pt>
                <c:pt idx="230">
                  <c:v>54.5</c:v>
                </c:pt>
                <c:pt idx="231">
                  <c:v>48.1</c:v>
                </c:pt>
                <c:pt idx="232">
                  <c:v>48.6</c:v>
                </c:pt>
                <c:pt idx="233">
                  <c:v>44.3</c:v>
                </c:pt>
                <c:pt idx="234">
                  <c:v>42.3</c:v>
                </c:pt>
                <c:pt idx="235">
                  <c:v>39.8</c:v>
                </c:pt>
                <c:pt idx="236">
                  <c:v>37.7</c:v>
                </c:pt>
                <c:pt idx="237">
                  <c:v>53.1</c:v>
                </c:pt>
                <c:pt idx="238">
                  <c:v>52.3</c:v>
                </c:pt>
                <c:pt idx="239">
                  <c:v>57</c:v>
                </c:pt>
                <c:pt idx="240">
                  <c:v>49.6</c:v>
                </c:pt>
                <c:pt idx="241">
                  <c:v>47.9</c:v>
                </c:pt>
                <c:pt idx="242">
                  <c:v>43.7</c:v>
                </c:pt>
                <c:pt idx="243">
                  <c:v>43.5</c:v>
                </c:pt>
                <c:pt idx="244">
                  <c:v>42.5</c:v>
                </c:pt>
                <c:pt idx="245">
                  <c:v>45.8</c:v>
                </c:pt>
                <c:pt idx="246">
                  <c:v>65.7</c:v>
                </c:pt>
                <c:pt idx="247">
                  <c:v>64.2</c:v>
                </c:pt>
                <c:pt idx="248">
                  <c:v>55.1</c:v>
                </c:pt>
                <c:pt idx="249">
                  <c:v>48.9</c:v>
                </c:pt>
                <c:pt idx="250">
                  <c:v>59.1</c:v>
                </c:pt>
                <c:pt idx="251">
                  <c:v>60.2</c:v>
                </c:pt>
                <c:pt idx="252">
                  <c:v>59</c:v>
                </c:pt>
                <c:pt idx="253">
                  <c:v>60.3</c:v>
                </c:pt>
                <c:pt idx="254">
                  <c:v>59.6</c:v>
                </c:pt>
                <c:pt idx="255">
                  <c:v>56.3</c:v>
                </c:pt>
                <c:pt idx="256">
                  <c:v>51.9</c:v>
                </c:pt>
                <c:pt idx="257">
                  <c:v>60.9</c:v>
                </c:pt>
                <c:pt idx="258">
                  <c:v>68.6</c:v>
                </c:pt>
                <c:pt idx="259">
                  <c:v>63</c:v>
                </c:pt>
                <c:pt idx="260">
                  <c:v>60.6</c:v>
                </c:pt>
                <c:pt idx="261">
                  <c:v>55.3</c:v>
                </c:pt>
                <c:pt idx="262">
                  <c:v>52.9</c:v>
                </c:pt>
                <c:pt idx="263">
                  <c:v>54.3</c:v>
                </c:pt>
                <c:pt idx="264">
                  <c:v>55.5</c:v>
                </c:pt>
                <c:pt idx="265">
                  <c:v>79.8</c:v>
                </c:pt>
                <c:pt idx="266">
                  <c:v>78.9</c:v>
                </c:pt>
                <c:pt idx="267">
                  <c:v>83.2</c:v>
                </c:pt>
                <c:pt idx="268">
                  <c:v>91.9</c:v>
                </c:pt>
                <c:pt idx="269">
                  <c:v>81.5</c:v>
                </c:pt>
                <c:pt idx="270">
                  <c:v>75.4</c:v>
                </c:pt>
                <c:pt idx="271">
                  <c:v>71.7</c:v>
                </c:pt>
                <c:pt idx="272">
                  <c:v>70.2</c:v>
                </c:pt>
                <c:pt idx="273">
                  <c:v>63.6</c:v>
                </c:pt>
                <c:pt idx="274">
                  <c:v>67.6</c:v>
                </c:pt>
                <c:pt idx="275">
                  <c:v>62.2</c:v>
                </c:pt>
                <c:pt idx="276">
                  <c:v>70.8</c:v>
                </c:pt>
                <c:pt idx="277">
                  <c:v>67.7</c:v>
                </c:pt>
                <c:pt idx="278">
                  <c:v>58.1</c:v>
                </c:pt>
                <c:pt idx="279">
                  <c:v>51.6</c:v>
                </c:pt>
                <c:pt idx="280">
                  <c:v>48.7</c:v>
                </c:pt>
                <c:pt idx="281">
                  <c:v>49.1</c:v>
                </c:pt>
                <c:pt idx="282">
                  <c:v>48.7</c:v>
                </c:pt>
                <c:pt idx="283">
                  <c:v>57.7</c:v>
                </c:pt>
                <c:pt idx="284">
                  <c:v>61.4</c:v>
                </c:pt>
                <c:pt idx="285">
                  <c:v>59.5</c:v>
                </c:pt>
                <c:pt idx="286">
                  <c:v>54.8</c:v>
                </c:pt>
                <c:pt idx="287">
                  <c:v>70.5</c:v>
                </c:pt>
                <c:pt idx="288">
                  <c:v>87.9</c:v>
                </c:pt>
                <c:pt idx="289">
                  <c:v>77.5</c:v>
                </c:pt>
                <c:pt idx="290">
                  <c:v>70.7</c:v>
                </c:pt>
                <c:pt idx="291">
                  <c:v>68.5</c:v>
                </c:pt>
                <c:pt idx="292">
                  <c:v>63.9</c:v>
                </c:pt>
                <c:pt idx="293">
                  <c:v>60.3</c:v>
                </c:pt>
                <c:pt idx="294">
                  <c:v>57.9</c:v>
                </c:pt>
                <c:pt idx="295">
                  <c:v>54.6</c:v>
                </c:pt>
                <c:pt idx="296">
                  <c:v>53.4</c:v>
                </c:pt>
                <c:pt idx="297">
                  <c:v>53.2</c:v>
                </c:pt>
                <c:pt idx="298">
                  <c:v>51.5</c:v>
                </c:pt>
                <c:pt idx="299">
                  <c:v>50.8</c:v>
                </c:pt>
                <c:pt idx="300">
                  <c:v>51.1</c:v>
                </c:pt>
                <c:pt idx="301">
                  <c:v>78.6</c:v>
                </c:pt>
                <c:pt idx="302">
                  <c:v>75.9</c:v>
                </c:pt>
                <c:pt idx="303">
                  <c:v>69</c:v>
                </c:pt>
                <c:pt idx="304">
                  <c:v>67.3</c:v>
                </c:pt>
                <c:pt idx="305">
                  <c:v>58.8</c:v>
                </c:pt>
                <c:pt idx="306">
                  <c:v>59.7</c:v>
                </c:pt>
                <c:pt idx="307">
                  <c:v>61</c:v>
                </c:pt>
                <c:pt idx="308">
                  <c:v>58.6</c:v>
                </c:pt>
                <c:pt idx="309">
                  <c:v>56.9</c:v>
                </c:pt>
                <c:pt idx="310">
                  <c:v>57.2</c:v>
                </c:pt>
                <c:pt idx="311">
                  <c:v>57.7</c:v>
                </c:pt>
                <c:pt idx="312">
                  <c:v>57.4</c:v>
                </c:pt>
                <c:pt idx="313">
                  <c:v>54.9</c:v>
                </c:pt>
                <c:pt idx="314">
                  <c:v>54.1</c:v>
                </c:pt>
                <c:pt idx="315">
                  <c:v>48.3</c:v>
                </c:pt>
                <c:pt idx="316">
                  <c:v>51.4</c:v>
                </c:pt>
                <c:pt idx="317">
                  <c:v>80.8</c:v>
                </c:pt>
                <c:pt idx="318">
                  <c:v>80.7</c:v>
                </c:pt>
                <c:pt idx="319">
                  <c:v>78.5</c:v>
                </c:pt>
                <c:pt idx="320">
                  <c:v>72.3</c:v>
                </c:pt>
                <c:pt idx="321">
                  <c:v>62.3</c:v>
                </c:pt>
                <c:pt idx="322">
                  <c:v>63.2</c:v>
                </c:pt>
                <c:pt idx="323">
                  <c:v>73.6</c:v>
                </c:pt>
                <c:pt idx="324">
                  <c:v>66.3</c:v>
                </c:pt>
                <c:pt idx="325">
                  <c:v>64.5</c:v>
                </c:pt>
                <c:pt idx="326">
                  <c:v>54.3</c:v>
                </c:pt>
                <c:pt idx="327">
                  <c:v>57.3</c:v>
                </c:pt>
                <c:pt idx="328">
                  <c:v>50.8</c:v>
                </c:pt>
                <c:pt idx="329">
                  <c:v>51.2</c:v>
                </c:pt>
                <c:pt idx="330">
                  <c:v>47</c:v>
                </c:pt>
                <c:pt idx="331">
                  <c:v>48.4</c:v>
                </c:pt>
                <c:pt idx="332">
                  <c:v>48.1</c:v>
                </c:pt>
                <c:pt idx="333">
                  <c:v>47.2</c:v>
                </c:pt>
                <c:pt idx="334">
                  <c:v>45.8</c:v>
                </c:pt>
                <c:pt idx="335">
                  <c:v>43.9</c:v>
                </c:pt>
                <c:pt idx="336">
                  <c:v>45.9</c:v>
                </c:pt>
                <c:pt idx="337">
                  <c:v>43.1</c:v>
                </c:pt>
                <c:pt idx="338">
                  <c:v>40.6</c:v>
                </c:pt>
                <c:pt idx="339">
                  <c:v>39.8</c:v>
                </c:pt>
                <c:pt idx="340">
                  <c:v>39.6</c:v>
                </c:pt>
                <c:pt idx="341">
                  <c:v>44.9</c:v>
                </c:pt>
                <c:pt idx="342">
                  <c:v>48.2</c:v>
                </c:pt>
                <c:pt idx="343">
                  <c:v>49</c:v>
                </c:pt>
                <c:pt idx="344">
                  <c:v>45.3</c:v>
                </c:pt>
                <c:pt idx="345">
                  <c:v>41.9</c:v>
                </c:pt>
                <c:pt idx="346">
                  <c:v>38.8</c:v>
                </c:pt>
                <c:pt idx="347">
                  <c:v>42.6</c:v>
                </c:pt>
                <c:pt idx="348">
                  <c:v>45.4</c:v>
                </c:pt>
                <c:pt idx="349">
                  <c:v>58.6</c:v>
                </c:pt>
                <c:pt idx="350">
                  <c:v>56.3</c:v>
                </c:pt>
                <c:pt idx="351">
                  <c:v>51.5</c:v>
                </c:pt>
                <c:pt idx="352">
                  <c:v>54.4</c:v>
                </c:pt>
                <c:pt idx="353">
                  <c:v>54.1</c:v>
                </c:pt>
                <c:pt idx="354">
                  <c:v>58.1</c:v>
                </c:pt>
                <c:pt idx="355">
                  <c:v>59.6</c:v>
                </c:pt>
                <c:pt idx="356">
                  <c:v>60.8</c:v>
                </c:pt>
                <c:pt idx="357">
                  <c:v>60.6</c:v>
                </c:pt>
                <c:pt idx="358">
                  <c:v>54.3</c:v>
                </c:pt>
                <c:pt idx="359">
                  <c:v>51.4</c:v>
                </c:pt>
                <c:pt idx="360">
                  <c:v>46.5</c:v>
                </c:pt>
              </c:numCache>
            </c:numRef>
          </c:yVal>
          <c:smooth val="0"/>
        </c:ser>
        <c:dLbls>
          <c:numFmt formatCode="General" sourceLinked="0"/>
          <c:txPr>
            <a:bodyPr/>
            <a:lstStyle/>
            <a:p>
              <a:pPr>
                <a:defRPr b="0" i="0" strike="noStrike" sz="1200" u="none">
                  <a:solidFill>
                    <a:srgbClr val="13272D"/>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026"/>
          <c:min val="2019"/>
        </c:scaling>
        <c:delete val="0"/>
        <c:axPos val="b"/>
        <c:numFmt formatCode="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E6F78"/>
                </a:solidFill>
                <a:latin typeface="+mn-lt"/>
              </a:defRPr>
            </a:pPr>
            <a:endParaRPr lang="en-US"/>
          </a:p>
        </c:txPr>
        <c:crossAx val="2094734552"/>
        <c:crosses val="autoZero"/>
        <c:auto val="1"/>
        <c:lblAlgn val="ctr"/>
        <c:noMultiLvlLbl val="1"/>
        <c:majorUnit val="1"/>
      </c:valAx>
      <c:valAx>
        <c:axId val="2094734552"/>
        <c:scaling>
          <c:orientation val="minMax"/>
          <c:max val="250"/>
          <c:min val="0"/>
        </c:scaling>
        <c:delete val="0"/>
        <c:axPos val="l"/>
        <c:majorGridlines>
          <c:spPr>
            <a:ln w="6350" cap="flat">
              <a:solidFill>
                <a:srgbClr val="D5DEDD"/>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100" b="0" i="0" u="none" strike="noStrike">
                <a:solidFill>
                  <a:srgbClr val="5E6F78"/>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72D"/>
                </a:solidFill>
                <a:latin typeface="+mn-lt"/>
              </a:defRPr>
            </a:pPr>
            <a:r>
              <a:rPr sz="1300" b="0" i="0" u="none" strike="noStrike">
                <a:solidFill>
                  <a:srgbClr val="13272D"/>
                </a:solidFill>
                <a:latin typeface="+mn-lt"/>
              </a:rPr>
              <a:t>RMSE, rolling 1-step forecasts (USD)</a:t>
            </a:r>
          </a:p>
        </c:rich>
      </c:tx>
      <c:layout/>
      <c:overlay val="0"/>
    </c:title>
    <c:autoTitleDeleted val="0"/>
    <c:plotArea>
      <c:layout/>
      <c:barChart>
        <c:barDir val="bar"/>
        <c:grouping val="clustered"/>
        <c:varyColors val="0"/>
        <c:ser>
          <c:idx val="0"/>
          <c:order val="0"/>
          <c:tx>
            <c:strRef>
              <c:f>Sheet1!$B$1</c:f>
              <c:strCache>
                <c:ptCount val="1"/>
                <c:pt idx="0">
                  <c:v>RMSE (USD)</c:v>
                </c:pt>
              </c:strCache>
            </c:strRef>
          </c:tx>
          <c:spPr>
            <a:solidFill>
              <a:srgbClr val="2E7D86"/>
            </a:solidFill>
            <a:effectLst/>
          </c:spPr>
          <c:invertIfNegative val="0"/>
          <c:dLbls>
            <c:numFmt formatCode="$#,##0.00" sourceLinked="0"/>
            <c:txPr>
              <a:bodyPr/>
              <a:lstStyle/>
              <a:p>
                <a:pPr>
                  <a:defRPr b="0" i="0" strike="noStrike" sz="1200" u="none">
                    <a:solidFill>
                      <a:srgbClr val="13272D"/>
                    </a:solidFill>
                    <a:latin typeface="+mn-lt"/>
                  </a:defRPr>
                </a:pPr>
              </a:p>
            </c:txPr>
            <c:showLegendKey val="0"/>
            <c:showVal val="1"/>
            <c:showCatName val="0"/>
            <c:showSerName val="0"/>
            <c:showPercent val="0"/>
            <c:showBubbleSize val="0"/>
            <c:showLeaderLines val="0"/>
          </c:dLbls>
          <c:dPt>
            <c:idx val="0"/>
            <c:invertIfNegative val="0"/>
            <c:bubble3D val="0"/>
            <c:spPr>
              <a:solidFill>
                <a:srgbClr val="2E7D86"/>
              </a:solidFill>
              <a:effectLst/>
            </c:spPr>
          </c:dPt>
          <c:dPt>
            <c:idx val="1"/>
            <c:invertIfNegative val="0"/>
            <c:bubble3D val="0"/>
            <c:spPr>
              <a:solidFill>
                <a:srgbClr val="7FA99B"/>
              </a:solidFill>
              <a:effectLst/>
            </c:spPr>
          </c:dPt>
          <c:dPt>
            <c:idx val="2"/>
            <c:invertIfNegative val="0"/>
            <c:bubble3D val="0"/>
            <c:spPr>
              <a:solidFill>
                <a:srgbClr val="A9C4C0"/>
              </a:solidFill>
              <a:effectLst/>
            </c:spPr>
          </c:dPt>
          <c:dPt>
            <c:idx val="3"/>
            <c:invertIfNegative val="0"/>
            <c:bubble3D val="0"/>
            <c:spPr>
              <a:solidFill>
                <a:srgbClr val="A9C4C0"/>
              </a:solidFill>
              <a:effectLst/>
            </c:spPr>
          </c:dPt>
          <c:cat>
            <c:multiLvlStrRef>
              <c:f>Sheet1!$A$2:$A$5</c:f>
              <c:multiLvlStrCache>
                <c:ptCount val="4"/>
                <c:lvl>
                  <c:pt idx="0">
                    <c:v>Naive random walk</c:v>
                  </c:pt>
                  <c:pt idx="1">
                    <c:v>Rolling ARIMA</c:v>
                  </c:pt>
                  <c:pt idx="2">
                    <c:v>GRU</c:v>
                  </c:pt>
                  <c:pt idx="3">
                    <c:v>LSTM</c:v>
                  </c:pt>
                </c:lvl>
              </c:multiLvlStrCache>
            </c:multiLvlStrRef>
          </c:cat>
          <c:val>
            <c:numRef>
              <c:f>Sheet1!$B$2:$B$5</c:f>
              <c:numCache>
                <c:formatCode>General</c:formatCode>
                <c:ptCount val="4"/>
                <c:pt idx="0">
                  <c:v>1725.43</c:v>
                </c:pt>
                <c:pt idx="1">
                  <c:v>1769.68</c:v>
                </c:pt>
                <c:pt idx="2">
                  <c:v>2468.9</c:v>
                </c:pt>
                <c:pt idx="3">
                  <c:v>3776.48</c:v>
                </c:pt>
              </c:numCache>
            </c:numRef>
          </c:val>
        </c:ser>
        <c:dLbls>
          <c:numFmt formatCode="$#,##0.00" sourceLinked="0"/>
          <c:txPr>
            <a:bodyPr/>
            <a:lstStyle/>
            <a:p>
              <a:pPr>
                <a:defRPr b="0" i="0" strike="noStrike" sz="1200" u="none">
                  <a:solidFill>
                    <a:srgbClr val="13272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6F78"/>
                </a:solidFill>
                <a:latin typeface="+mn-lt"/>
              </a:defRPr>
            </a:pPr>
            <a:endParaRPr lang="en-US"/>
          </a:p>
        </c:txPr>
        <c:crossAx val="2094734552"/>
        <c:crosses val="autoZero"/>
        <c:auto val="1"/>
        <c:lblAlgn val="ctr"/>
        <c:noMultiLvlLbl val="1"/>
      </c:catAx>
      <c:valAx>
        <c:axId val="2094734552"/>
        <c:scaling>
          <c:orientation val="minMax"/>
          <c:max val="500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6F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72D"/>
                </a:solidFill>
                <a:latin typeface="+mn-lt"/>
              </a:defRPr>
            </a:pPr>
            <a:r>
              <a:rPr sz="1300" b="0" i="0" u="none" strike="noStrike">
                <a:solidFill>
                  <a:srgbClr val="13272D"/>
                </a:solidFill>
                <a:latin typeface="+mn-lt"/>
              </a:rPr>
              <a:t>BTC price over the test period, days since 27 Dec 2025 (USD)</a:t>
            </a:r>
          </a:p>
        </c:rich>
      </c:tx>
      <c:layout/>
      <c:overlay val="0"/>
    </c:title>
    <c:autoTitleDeleted val="0"/>
    <c:plotArea>
      <c:layout/>
      <c:scatterChart>
        <c:scatterStyle val="lineMarker"/>
        <c:varyColors val="0"/>
        <c:ser>
          <c:idx val="0"/>
          <c:order val="0"/>
          <c:tx>
            <c:strRef>
              <c:f>Sheet1!$B$1</c:f>
              <c:strCache>
                <c:ptCount val="1"/>
                <c:pt idx="0">
                  <c:v>Actual BTC</c:v>
                </c:pt>
              </c:strCache>
            </c:strRef>
          </c:tx>
          <c:spPr>
            <a:solidFill>
              <a:srgbClr val="13272D"/>
            </a:solidFill>
            <a:ln w="22225" cap="flat">
              <a:solidFill>
                <a:srgbClr val="13272D"/>
              </a:solidFill>
              <a:prstDash val="solid"/>
              <a:round/>
            </a:ln>
            <a:effectLst/>
          </c:spPr>
          <c:marker>
            <c:symbol val="none"/>
            <c:size val="6"/>
            <c:spPr>
              <a:solidFill>
                <a:srgbClr val="13272D"/>
              </a:solidFill>
              <a:ln w="9525" cap="flat">
                <a:solidFill>
                  <a:srgbClr val="13272D"/>
                </a:solidFill>
                <a:prstDash val="solid"/>
                <a:round/>
              </a:ln>
              <a:effectLst/>
            </c:spPr>
          </c:marker>
          <c:xVal>
            <c:numRef>
              <c:f>Sheet1!$A$2:$A$142</c:f>
              <c:numCache>
                <c:formatCode>General</c:formatCode>
                <c:ptCount val="14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numCache>
            </c:numRef>
          </c:xVal>
          <c:yVal>
            <c:numRef>
              <c:f>Sheet1!$B$2:$B$142</c:f>
              <c:numCache>
                <c:formatCode>General</c:formatCode>
                <c:ptCount val="141"/>
                <c:pt idx="0">
                  <c:v>87802</c:v>
                </c:pt>
                <c:pt idx="1">
                  <c:v>87138</c:v>
                </c:pt>
                <c:pt idx="2">
                  <c:v>87509</c:v>
                </c:pt>
                <c:pt idx="3">
                  <c:v>89945</c:v>
                </c:pt>
                <c:pt idx="4">
                  <c:v>91413</c:v>
                </c:pt>
                <c:pt idx="5">
                  <c:v>93729</c:v>
                </c:pt>
                <c:pt idx="6">
                  <c:v>91027</c:v>
                </c:pt>
                <c:pt idx="7">
                  <c:v>90387</c:v>
                </c:pt>
                <c:pt idx="8">
                  <c:v>91193</c:v>
                </c:pt>
                <c:pt idx="9">
                  <c:v>96929</c:v>
                </c:pt>
                <c:pt idx="10">
                  <c:v>95525</c:v>
                </c:pt>
                <c:pt idx="11">
                  <c:v>93634</c:v>
                </c:pt>
                <c:pt idx="12">
                  <c:v>88311</c:v>
                </c:pt>
                <c:pt idx="13">
                  <c:v>89462</c:v>
                </c:pt>
                <c:pt idx="14">
                  <c:v>89111</c:v>
                </c:pt>
                <c:pt idx="15">
                  <c:v>88267</c:v>
                </c:pt>
                <c:pt idx="16">
                  <c:v>89185</c:v>
                </c:pt>
                <c:pt idx="17">
                  <c:v>84129</c:v>
                </c:pt>
                <c:pt idx="18">
                  <c:v>76974</c:v>
                </c:pt>
                <c:pt idx="19">
                  <c:v>75634</c:v>
                </c:pt>
                <c:pt idx="20">
                  <c:v>62702</c:v>
                </c:pt>
                <c:pt idx="21">
                  <c:v>69282</c:v>
                </c:pt>
                <c:pt idx="22">
                  <c:v>70121</c:v>
                </c:pt>
                <c:pt idx="23">
                  <c:v>66992</c:v>
                </c:pt>
                <c:pt idx="24">
                  <c:v>68858</c:v>
                </c:pt>
                <c:pt idx="25">
                  <c:v>68788</c:v>
                </c:pt>
                <c:pt idx="26">
                  <c:v>67494</c:v>
                </c:pt>
                <c:pt idx="27">
                  <c:v>66958</c:v>
                </c:pt>
                <c:pt idx="28">
                  <c:v>68004</c:v>
                </c:pt>
                <c:pt idx="29">
                  <c:v>64617</c:v>
                </c:pt>
                <c:pt idx="30">
                  <c:v>67960</c:v>
                </c:pt>
                <c:pt idx="31">
                  <c:v>65882</c:v>
                </c:pt>
                <c:pt idx="32">
                  <c:v>65738</c:v>
                </c:pt>
                <c:pt idx="33">
                  <c:v>68294</c:v>
                </c:pt>
                <c:pt idx="34">
                  <c:v>70841</c:v>
                </c:pt>
                <c:pt idx="35">
                  <c:v>67273</c:v>
                </c:pt>
                <c:pt idx="36">
                  <c:v>68402</c:v>
                </c:pt>
                <c:pt idx="37">
                  <c:v>70205</c:v>
                </c:pt>
                <c:pt idx="38">
                  <c:v>70968</c:v>
                </c:pt>
                <c:pt idx="39">
                  <c:v>72790</c:v>
                </c:pt>
                <c:pt idx="40">
                  <c:v>73922</c:v>
                </c:pt>
                <c:pt idx="41">
                  <c:v>69913</c:v>
                </c:pt>
                <c:pt idx="42">
                  <c:v>68712</c:v>
                </c:pt>
                <c:pt idx="43">
                  <c:v>70915</c:v>
                </c:pt>
                <c:pt idx="44">
                  <c:v>71310</c:v>
                </c:pt>
                <c:pt idx="45">
                  <c:v>66338</c:v>
                </c:pt>
                <c:pt idx="46">
                  <c:v>65955</c:v>
                </c:pt>
                <c:pt idx="47">
                  <c:v>68233</c:v>
                </c:pt>
                <c:pt idx="48">
                  <c:v>66889</c:v>
                </c:pt>
                <c:pt idx="49">
                  <c:v>67291</c:v>
                </c:pt>
                <c:pt idx="50">
                  <c:v>68860</c:v>
                </c:pt>
                <c:pt idx="51">
                  <c:v>71123</c:v>
                </c:pt>
                <c:pt idx="52">
                  <c:v>72979</c:v>
                </c:pt>
                <c:pt idx="53">
                  <c:v>70753</c:v>
                </c:pt>
                <c:pt idx="54">
                  <c:v>74182</c:v>
                </c:pt>
                <c:pt idx="55">
                  <c:v>75152</c:v>
                </c:pt>
                <c:pt idx="56">
                  <c:v>75726</c:v>
                </c:pt>
                <c:pt idx="57">
                  <c:v>75873</c:v>
                </c:pt>
                <c:pt idx="58">
                  <c:v>78203</c:v>
                </c:pt>
                <c:pt idx="59">
                  <c:v>77455</c:v>
                </c:pt>
                <c:pt idx="60">
                  <c:v>78658</c:v>
                </c:pt>
                <c:pt idx="61">
                  <c:v>76351</c:v>
                </c:pt>
                <c:pt idx="62">
                  <c:v>76304</c:v>
                </c:pt>
                <c:pt idx="63">
                  <c:v>78657</c:v>
                </c:pt>
                <c:pt idx="64">
                  <c:v>79828</c:v>
                </c:pt>
                <c:pt idx="65">
                  <c:v>81428</c:v>
                </c:pt>
                <c:pt idx="66">
                  <c:v>80187</c:v>
                </c:pt>
                <c:pt idx="67">
                  <c:v>82139</c:v>
                </c:pt>
                <c:pt idx="68">
                  <c:v>80477</c:v>
                </c:pt>
                <c:pt idx="69">
                  <c:v>81051</c:v>
                </c:pt>
                <c:pt idx="70">
                  <c:v>78131</c:v>
                </c:pt>
                <c:pt idx="71">
                  <c:v>76954</c:v>
                </c:pt>
                <c:pt idx="72">
                  <c:v>77458</c:v>
                </c:pt>
                <c:pt idx="73">
                  <c:v>75488</c:v>
                </c:pt>
                <c:pt idx="74">
                  <c:v>76981</c:v>
                </c:pt>
                <c:pt idx="75">
                  <c:v>75826</c:v>
                </c:pt>
                <c:pt idx="76">
                  <c:v>73537</c:v>
                </c:pt>
                <c:pt idx="77">
                  <c:v>73755</c:v>
                </c:pt>
                <c:pt idx="78">
                  <c:v>71320</c:v>
                </c:pt>
                <c:pt idx="79">
                  <c:v>64014</c:v>
                </c:pt>
                <c:pt idx="80">
                  <c:v>60923</c:v>
                </c:pt>
                <c:pt idx="81">
                  <c:v>63240</c:v>
                </c:pt>
                <c:pt idx="82">
                  <c:v>61644</c:v>
                </c:pt>
                <c:pt idx="83">
                  <c:v>63561</c:v>
                </c:pt>
                <c:pt idx="84">
                  <c:v>64421</c:v>
                </c:pt>
                <c:pt idx="85">
                  <c:v>66290</c:v>
                </c:pt>
                <c:pt idx="86">
                  <c:v>64418</c:v>
                </c:pt>
                <c:pt idx="87">
                  <c:v>63541</c:v>
                </c:pt>
                <c:pt idx="88">
                  <c:v>63238</c:v>
                </c:pt>
                <c:pt idx="89">
                  <c:v>62668</c:v>
                </c:pt>
                <c:pt idx="90">
                  <c:v>59722</c:v>
                </c:pt>
                <c:pt idx="91">
                  <c:v>59940</c:v>
                </c:pt>
                <c:pt idx="92">
                  <c:v>60138</c:v>
                </c:pt>
                <c:pt idx="93">
                  <c:v>60004</c:v>
                </c:pt>
                <c:pt idx="94">
                  <c:v>62544</c:v>
                </c:pt>
                <c:pt idx="95">
                  <c:v>63548</c:v>
                </c:pt>
                <c:pt idx="96">
                  <c:v>63297</c:v>
                </c:pt>
                <c:pt idx="97">
                  <c:v>63193</c:v>
                </c:pt>
                <c:pt idx="98">
                  <c:v>63802</c:v>
                </c:pt>
                <c:pt idx="99">
                  <c:v>62239</c:v>
                </c:pt>
                <c:pt idx="100">
                  <c:v>64712</c:v>
                </c:pt>
                <c:pt idx="101">
                  <c:v>63899</c:v>
                </c:pt>
                <c:pt idx="102">
                  <c:v>64691</c:v>
                </c:pt>
                <c:pt idx="103">
                  <c:v>66505</c:v>
                </c:pt>
                <c:pt idx="104">
                  <c:v>65045</c:v>
                </c:pt>
                <c:pt idx="105">
                  <c:v>64312</c:v>
                </c:pt>
                <c:pt idx="106">
                  <c:v>63725</c:v>
                </c:pt>
                <c:pt idx="107">
                  <c:v>63908</c:v>
                </c:pt>
                <c:pt idx="108">
                  <c:v>62814</c:v>
                </c:pt>
                <c:pt idx="109">
                  <c:v>63482</c:v>
                </c:pt>
                <c:pt idx="110">
                  <c:v>64056</c:v>
                </c:pt>
                <c:pt idx="111">
                  <c:v>64262</c:v>
                </c:pt>
                <c:pt idx="112">
                  <c:v>64905</c:v>
                </c:pt>
                <c:pt idx="113">
                  <c:v>63911</c:v>
                </c:pt>
                <c:pt idx="114">
                  <c:v>63402</c:v>
                </c:pt>
                <c:pt idx="115">
                  <c:v>62976</c:v>
                </c:pt>
                <c:pt idx="116">
                  <c:v>62819</c:v>
                </c:pt>
                <c:pt idx="117">
                  <c:v>64681</c:v>
                </c:pt>
                <c:pt idx="118">
                  <c:v>73033</c:v>
                </c:pt>
                <c:pt idx="119">
                  <c:v>77083</c:v>
                </c:pt>
                <c:pt idx="120">
                  <c:v>78964</c:v>
                </c:pt>
                <c:pt idx="121">
                  <c:v>79027</c:v>
                </c:pt>
                <c:pt idx="122">
                  <c:v>77830</c:v>
                </c:pt>
                <c:pt idx="123">
                  <c:v>77668</c:v>
                </c:pt>
                <c:pt idx="124">
                  <c:v>77404</c:v>
                </c:pt>
                <c:pt idx="125">
                  <c:v>81272</c:v>
                </c:pt>
                <c:pt idx="126">
                  <c:v>79824</c:v>
                </c:pt>
                <c:pt idx="127">
                  <c:v>79116</c:v>
                </c:pt>
                <c:pt idx="128">
                  <c:v>78260</c:v>
                </c:pt>
                <c:pt idx="129">
                  <c:v>77174</c:v>
                </c:pt>
                <c:pt idx="130">
                  <c:v>76838</c:v>
                </c:pt>
                <c:pt idx="131">
                  <c:v>75613</c:v>
                </c:pt>
                <c:pt idx="132">
                  <c:v>76404</c:v>
                </c:pt>
                <c:pt idx="133">
                  <c:v>81234</c:v>
                </c:pt>
                <c:pt idx="134">
                  <c:v>86603</c:v>
                </c:pt>
                <c:pt idx="135">
                  <c:v>84383</c:v>
                </c:pt>
                <c:pt idx="136">
                  <c:v>84035</c:v>
                </c:pt>
                <c:pt idx="137">
                  <c:v>84458</c:v>
                </c:pt>
                <c:pt idx="138">
                  <c:v>83622</c:v>
                </c:pt>
                <c:pt idx="139">
                  <c:v>84853</c:v>
                </c:pt>
                <c:pt idx="140">
                  <c:v>84594</c:v>
                </c:pt>
              </c:numCache>
            </c:numRef>
          </c:yVal>
          <c:smooth val="0"/>
        </c:ser>
        <c:ser>
          <c:idx val="1"/>
          <c:order val="1"/>
          <c:tx>
            <c:strRef>
              <c:f>Sheet1!$C$1</c:f>
              <c:strCache>
                <c:ptCount val="1"/>
                <c:pt idx="0">
                  <c:v>Naive</c:v>
                </c:pt>
              </c:strCache>
            </c:strRef>
          </c:tx>
          <c:spPr>
            <a:solidFill>
              <a:srgbClr val="2E7D86"/>
            </a:solidFill>
            <a:ln w="22225" cap="flat">
              <a:solidFill>
                <a:srgbClr val="2E7D86"/>
              </a:solidFill>
              <a:prstDash val="solid"/>
              <a:round/>
            </a:ln>
            <a:effectLst/>
          </c:spPr>
          <c:marker>
            <c:symbol val="none"/>
            <c:size val="6"/>
            <c:spPr>
              <a:solidFill>
                <a:srgbClr val="2E7D86"/>
              </a:solidFill>
              <a:ln w="9525" cap="flat">
                <a:solidFill>
                  <a:srgbClr val="2E7D86"/>
                </a:solidFill>
                <a:prstDash val="solid"/>
                <a:round/>
              </a:ln>
              <a:effectLst/>
            </c:spPr>
          </c:marker>
          <c:xVal>
            <c:numRef>
              <c:f>Sheet1!$A$2:$A$142</c:f>
              <c:numCache>
                <c:formatCode>General</c:formatCode>
                <c:ptCount val="14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numCache>
            </c:numRef>
          </c:xVal>
          <c:yVal>
            <c:numRef>
              <c:f>Sheet1!$C$2:$C$142</c:f>
              <c:numCache>
                <c:formatCode>General</c:formatCode>
                <c:ptCount val="141"/>
                <c:pt idx="0">
                  <c:v>87301</c:v>
                </c:pt>
                <c:pt idx="1">
                  <c:v>87836</c:v>
                </c:pt>
                <c:pt idx="2">
                  <c:v>88430</c:v>
                </c:pt>
                <c:pt idx="3">
                  <c:v>88732</c:v>
                </c:pt>
                <c:pt idx="4">
                  <c:v>90603</c:v>
                </c:pt>
                <c:pt idx="5">
                  <c:v>93883</c:v>
                </c:pt>
                <c:pt idx="6">
                  <c:v>91308</c:v>
                </c:pt>
                <c:pt idx="7">
                  <c:v>90513</c:v>
                </c:pt>
                <c:pt idx="8">
                  <c:v>90827</c:v>
                </c:pt>
                <c:pt idx="9">
                  <c:v>95322</c:v>
                </c:pt>
                <c:pt idx="10">
                  <c:v>95551</c:v>
                </c:pt>
                <c:pt idx="11">
                  <c:v>95100</c:v>
                </c:pt>
                <c:pt idx="12">
                  <c:v>92554</c:v>
                </c:pt>
                <c:pt idx="13">
                  <c:v>89377</c:v>
                </c:pt>
                <c:pt idx="14">
                  <c:v>89504</c:v>
                </c:pt>
                <c:pt idx="15">
                  <c:v>86572</c:v>
                </c:pt>
                <c:pt idx="16">
                  <c:v>89103</c:v>
                </c:pt>
                <c:pt idx="17">
                  <c:v>84562</c:v>
                </c:pt>
                <c:pt idx="18">
                  <c:v>78621</c:v>
                </c:pt>
                <c:pt idx="19">
                  <c:v>78689</c:v>
                </c:pt>
                <c:pt idx="20">
                  <c:v>73020</c:v>
                </c:pt>
                <c:pt idx="21">
                  <c:v>70555</c:v>
                </c:pt>
                <c:pt idx="22">
                  <c:v>70265</c:v>
                </c:pt>
                <c:pt idx="23">
                  <c:v>68794</c:v>
                </c:pt>
                <c:pt idx="24">
                  <c:v>66222</c:v>
                </c:pt>
                <c:pt idx="25">
                  <c:v>69768</c:v>
                </c:pt>
                <c:pt idx="26">
                  <c:v>68843</c:v>
                </c:pt>
                <c:pt idx="27">
                  <c:v>66425</c:v>
                </c:pt>
                <c:pt idx="28">
                  <c:v>68005</c:v>
                </c:pt>
                <c:pt idx="29">
                  <c:v>67659</c:v>
                </c:pt>
                <c:pt idx="30">
                  <c:v>64080</c:v>
                </c:pt>
                <c:pt idx="31">
                  <c:v>67454</c:v>
                </c:pt>
                <c:pt idx="32">
                  <c:v>66996</c:v>
                </c:pt>
                <c:pt idx="33">
                  <c:v>68776</c:v>
                </c:pt>
                <c:pt idx="34">
                  <c:v>72711</c:v>
                </c:pt>
                <c:pt idx="35">
                  <c:v>68136</c:v>
                </c:pt>
                <c:pt idx="36">
                  <c:v>65970</c:v>
                </c:pt>
                <c:pt idx="37">
                  <c:v>69927</c:v>
                </c:pt>
                <c:pt idx="38">
                  <c:v>70493</c:v>
                </c:pt>
                <c:pt idx="39">
                  <c:v>71215</c:v>
                </c:pt>
                <c:pt idx="40">
                  <c:v>74861</c:v>
                </c:pt>
                <c:pt idx="41">
                  <c:v>71246</c:v>
                </c:pt>
                <c:pt idx="42">
                  <c:v>70523</c:v>
                </c:pt>
                <c:pt idx="43">
                  <c:v>67845</c:v>
                </c:pt>
                <c:pt idx="44">
                  <c:v>70518</c:v>
                </c:pt>
                <c:pt idx="45">
                  <c:v>68792</c:v>
                </c:pt>
                <c:pt idx="46">
                  <c:v>66320</c:v>
                </c:pt>
                <c:pt idx="47">
                  <c:v>66691</c:v>
                </c:pt>
                <c:pt idx="48">
                  <c:v>68079</c:v>
                </c:pt>
                <c:pt idx="49">
                  <c:v>66931</c:v>
                </c:pt>
                <c:pt idx="50">
                  <c:v>68982</c:v>
                </c:pt>
                <c:pt idx="51">
                  <c:v>71941</c:v>
                </c:pt>
                <c:pt idx="52">
                  <c:v>71768</c:v>
                </c:pt>
                <c:pt idx="53">
                  <c:v>73054</c:v>
                </c:pt>
                <c:pt idx="54">
                  <c:v>74485</c:v>
                </c:pt>
                <c:pt idx="55">
                  <c:v>74805</c:v>
                </c:pt>
                <c:pt idx="56">
                  <c:v>77127</c:v>
                </c:pt>
                <c:pt idx="57">
                  <c:v>73856</c:v>
                </c:pt>
                <c:pt idx="58">
                  <c:v>76353</c:v>
                </c:pt>
                <c:pt idx="59">
                  <c:v>78269</c:v>
                </c:pt>
                <c:pt idx="60">
                  <c:v>77612</c:v>
                </c:pt>
                <c:pt idx="61">
                  <c:v>77367</c:v>
                </c:pt>
                <c:pt idx="62">
                  <c:v>75776</c:v>
                </c:pt>
                <c:pt idx="63">
                  <c:v>78179</c:v>
                </c:pt>
                <c:pt idx="64">
                  <c:v>78538</c:v>
                </c:pt>
                <c:pt idx="65">
                  <c:v>80927</c:v>
                </c:pt>
                <c:pt idx="66">
                  <c:v>80010</c:v>
                </c:pt>
                <c:pt idx="67">
                  <c:v>80664</c:v>
                </c:pt>
                <c:pt idx="68">
                  <c:v>81728</c:v>
                </c:pt>
                <c:pt idx="69">
                  <c:v>79277</c:v>
                </c:pt>
                <c:pt idx="70">
                  <c:v>79066</c:v>
                </c:pt>
                <c:pt idx="71">
                  <c:v>77429</c:v>
                </c:pt>
                <c:pt idx="72">
                  <c:v>76751</c:v>
                </c:pt>
                <c:pt idx="73">
                  <c:v>77539</c:v>
                </c:pt>
                <c:pt idx="74">
                  <c:v>76673</c:v>
                </c:pt>
                <c:pt idx="75">
                  <c:v>77280</c:v>
                </c:pt>
                <c:pt idx="76">
                  <c:v>74345</c:v>
                </c:pt>
                <c:pt idx="77">
                  <c:v>73373</c:v>
                </c:pt>
                <c:pt idx="78">
                  <c:v>73580</c:v>
                </c:pt>
                <c:pt idx="79">
                  <c:v>66704</c:v>
                </c:pt>
                <c:pt idx="80">
                  <c:v>63802</c:v>
                </c:pt>
                <c:pt idx="81">
                  <c:v>60867</c:v>
                </c:pt>
                <c:pt idx="82">
                  <c:v>63091</c:v>
                </c:pt>
                <c:pt idx="83">
                  <c:v>61449</c:v>
                </c:pt>
                <c:pt idx="84">
                  <c:v>63543</c:v>
                </c:pt>
                <c:pt idx="85">
                  <c:v>65710</c:v>
                </c:pt>
                <c:pt idx="86">
                  <c:v>65601</c:v>
                </c:pt>
                <c:pt idx="87">
                  <c:v>62896</c:v>
                </c:pt>
                <c:pt idx="88">
                  <c:v>64240</c:v>
                </c:pt>
                <c:pt idx="89">
                  <c:v>63952</c:v>
                </c:pt>
                <c:pt idx="90">
                  <c:v>60995</c:v>
                </c:pt>
                <c:pt idx="91">
                  <c:v>60016</c:v>
                </c:pt>
                <c:pt idx="92">
                  <c:v>59532</c:v>
                </c:pt>
                <c:pt idx="93">
                  <c:v>58559</c:v>
                </c:pt>
                <c:pt idx="94">
                  <c:v>61485</c:v>
                </c:pt>
                <c:pt idx="95">
                  <c:v>63088</c:v>
                </c:pt>
                <c:pt idx="96">
                  <c:v>63995</c:v>
                </c:pt>
                <c:pt idx="97">
                  <c:v>62258</c:v>
                </c:pt>
                <c:pt idx="98">
                  <c:v>64127</c:v>
                </c:pt>
                <c:pt idx="99">
                  <c:v>63758</c:v>
                </c:pt>
                <c:pt idx="100">
                  <c:v>64956</c:v>
                </c:pt>
                <c:pt idx="101">
                  <c:v>63789</c:v>
                </c:pt>
                <c:pt idx="102">
                  <c:v>64797</c:v>
                </c:pt>
                <c:pt idx="103">
                  <c:v>65230</c:v>
                </c:pt>
                <c:pt idx="104">
                  <c:v>66101</c:v>
                </c:pt>
                <c:pt idx="105">
                  <c:v>64098</c:v>
                </c:pt>
                <c:pt idx="106">
                  <c:v>65340</c:v>
                </c:pt>
                <c:pt idx="107">
                  <c:v>63871</c:v>
                </c:pt>
                <c:pt idx="108">
                  <c:v>64725</c:v>
                </c:pt>
                <c:pt idx="109">
                  <c:v>62763</c:v>
                </c:pt>
                <c:pt idx="110">
                  <c:v>63461</c:v>
                </c:pt>
                <c:pt idx="111">
                  <c:v>64598</c:v>
                </c:pt>
                <c:pt idx="112">
                  <c:v>64880</c:v>
                </c:pt>
                <c:pt idx="113">
                  <c:v>64845</c:v>
                </c:pt>
                <c:pt idx="114">
                  <c:v>63552</c:v>
                </c:pt>
                <c:pt idx="115">
                  <c:v>63402</c:v>
                </c:pt>
                <c:pt idx="116">
                  <c:v>63024</c:v>
                </c:pt>
                <c:pt idx="117">
                  <c:v>64506</c:v>
                </c:pt>
                <c:pt idx="118">
                  <c:v>69266</c:v>
                </c:pt>
                <c:pt idx="119">
                  <c:v>78335</c:v>
                </c:pt>
                <c:pt idx="120">
                  <c:v>77755</c:v>
                </c:pt>
                <c:pt idx="121">
                  <c:v>78565</c:v>
                </c:pt>
                <c:pt idx="122">
                  <c:v>80258</c:v>
                </c:pt>
                <c:pt idx="123">
                  <c:v>78246</c:v>
                </c:pt>
                <c:pt idx="124">
                  <c:v>78549</c:v>
                </c:pt>
                <c:pt idx="125">
                  <c:v>77300</c:v>
                </c:pt>
                <c:pt idx="126">
                  <c:v>79672</c:v>
                </c:pt>
                <c:pt idx="127">
                  <c:v>80350</c:v>
                </c:pt>
                <c:pt idx="128">
                  <c:v>78439</c:v>
                </c:pt>
                <c:pt idx="129">
                  <c:v>76568</c:v>
                </c:pt>
                <c:pt idx="130">
                  <c:v>77270</c:v>
                </c:pt>
                <c:pt idx="131">
                  <c:v>78163</c:v>
                </c:pt>
                <c:pt idx="132">
                  <c:v>76150</c:v>
                </c:pt>
                <c:pt idx="133">
                  <c:v>80901</c:v>
                </c:pt>
                <c:pt idx="134">
                  <c:v>81143</c:v>
                </c:pt>
                <c:pt idx="135">
                  <c:v>86172</c:v>
                </c:pt>
                <c:pt idx="136">
                  <c:v>84379</c:v>
                </c:pt>
                <c:pt idx="137">
                  <c:v>84406</c:v>
                </c:pt>
                <c:pt idx="138">
                  <c:v>83503</c:v>
                </c:pt>
                <c:pt idx="139">
                  <c:v>83554</c:v>
                </c:pt>
                <c:pt idx="140">
                  <c:v>84497</c:v>
                </c:pt>
              </c:numCache>
            </c:numRef>
          </c:yVal>
          <c:smooth val="0"/>
        </c:ser>
        <c:ser>
          <c:idx val="2"/>
          <c:order val="2"/>
          <c:tx>
            <c:strRef>
              <c:f>Sheet1!$D$1</c:f>
              <c:strCache>
                <c:ptCount val="1"/>
                <c:pt idx="0">
                  <c:v>LSTM</c:v>
                </c:pt>
              </c:strCache>
            </c:strRef>
          </c:tx>
          <c:spPr>
            <a:solidFill>
              <a:srgbClr val="A8702A"/>
            </a:solidFill>
            <a:ln w="22225" cap="flat">
              <a:solidFill>
                <a:srgbClr val="A8702A"/>
              </a:solidFill>
              <a:prstDash val="solid"/>
              <a:round/>
            </a:ln>
            <a:effectLst/>
          </c:spPr>
          <c:marker>
            <c:symbol val="none"/>
            <c:size val="6"/>
            <c:spPr>
              <a:solidFill>
                <a:srgbClr val="A8702A"/>
              </a:solidFill>
              <a:ln w="9525" cap="flat">
                <a:solidFill>
                  <a:srgbClr val="A8702A"/>
                </a:solidFill>
                <a:prstDash val="solid"/>
                <a:round/>
              </a:ln>
              <a:effectLst/>
            </c:spPr>
          </c:marker>
          <c:xVal>
            <c:numRef>
              <c:f>Sheet1!$A$2:$A$142</c:f>
              <c:numCache>
                <c:formatCode>General</c:formatCode>
                <c:ptCount val="14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numCache>
            </c:numRef>
          </c:xVal>
          <c:yVal>
            <c:numRef>
              <c:f>Sheet1!$D$2:$D$142</c:f>
              <c:numCache>
                <c:formatCode>General</c:formatCode>
                <c:ptCount val="141"/>
                <c:pt idx="0">
                  <c:v>89915</c:v>
                </c:pt>
                <c:pt idx="1">
                  <c:v>90450</c:v>
                </c:pt>
                <c:pt idx="2">
                  <c:v>90685</c:v>
                </c:pt>
                <c:pt idx="3">
                  <c:v>91029</c:v>
                </c:pt>
                <c:pt idx="4">
                  <c:v>92783</c:v>
                </c:pt>
                <c:pt idx="5">
                  <c:v>95205</c:v>
                </c:pt>
                <c:pt idx="6">
                  <c:v>93681</c:v>
                </c:pt>
                <c:pt idx="7">
                  <c:v>92706</c:v>
                </c:pt>
                <c:pt idx="8">
                  <c:v>93124</c:v>
                </c:pt>
                <c:pt idx="9">
                  <c:v>96837</c:v>
                </c:pt>
                <c:pt idx="10">
                  <c:v>97375</c:v>
                </c:pt>
                <c:pt idx="11">
                  <c:v>97274</c:v>
                </c:pt>
                <c:pt idx="12">
                  <c:v>94900</c:v>
                </c:pt>
                <c:pt idx="13">
                  <c:v>91516</c:v>
                </c:pt>
                <c:pt idx="14">
                  <c:v>91834</c:v>
                </c:pt>
                <c:pt idx="15">
                  <c:v>89843</c:v>
                </c:pt>
                <c:pt idx="16">
                  <c:v>92396</c:v>
                </c:pt>
                <c:pt idx="17">
                  <c:v>88503</c:v>
                </c:pt>
                <c:pt idx="18">
                  <c:v>82144</c:v>
                </c:pt>
                <c:pt idx="19">
                  <c:v>81328</c:v>
                </c:pt>
                <c:pt idx="20">
                  <c:v>77315</c:v>
                </c:pt>
                <c:pt idx="21">
                  <c:v>74281</c:v>
                </c:pt>
                <c:pt idx="22">
                  <c:v>74683</c:v>
                </c:pt>
                <c:pt idx="23">
                  <c:v>73544</c:v>
                </c:pt>
                <c:pt idx="24">
                  <c:v>71106</c:v>
                </c:pt>
                <c:pt idx="25">
                  <c:v>73574</c:v>
                </c:pt>
                <c:pt idx="26">
                  <c:v>72510</c:v>
                </c:pt>
                <c:pt idx="27">
                  <c:v>70500</c:v>
                </c:pt>
                <c:pt idx="28">
                  <c:v>71375</c:v>
                </c:pt>
                <c:pt idx="29">
                  <c:v>71202</c:v>
                </c:pt>
                <c:pt idx="30">
                  <c:v>68187</c:v>
                </c:pt>
                <c:pt idx="31">
                  <c:v>71308</c:v>
                </c:pt>
                <c:pt idx="32">
                  <c:v>70357</c:v>
                </c:pt>
                <c:pt idx="33">
                  <c:v>71613</c:v>
                </c:pt>
                <c:pt idx="34">
                  <c:v>74851</c:v>
                </c:pt>
                <c:pt idx="35">
                  <c:v>72035</c:v>
                </c:pt>
                <c:pt idx="36">
                  <c:v>70513</c:v>
                </c:pt>
                <c:pt idx="37">
                  <c:v>73157</c:v>
                </c:pt>
                <c:pt idx="38">
                  <c:v>74006</c:v>
                </c:pt>
                <c:pt idx="39">
                  <c:v>74554</c:v>
                </c:pt>
                <c:pt idx="40">
                  <c:v>78181</c:v>
                </c:pt>
                <c:pt idx="41">
                  <c:v>75287</c:v>
                </c:pt>
                <c:pt idx="42">
                  <c:v>73718</c:v>
                </c:pt>
                <c:pt idx="43">
                  <c:v>71519</c:v>
                </c:pt>
                <c:pt idx="44">
                  <c:v>73913</c:v>
                </c:pt>
                <c:pt idx="45">
                  <c:v>72783</c:v>
                </c:pt>
                <c:pt idx="46">
                  <c:v>70473</c:v>
                </c:pt>
                <c:pt idx="47">
                  <c:v>70650</c:v>
                </c:pt>
                <c:pt idx="48">
                  <c:v>72380</c:v>
                </c:pt>
                <c:pt idx="49">
                  <c:v>71136</c:v>
                </c:pt>
                <c:pt idx="50">
                  <c:v>72369</c:v>
                </c:pt>
                <c:pt idx="51">
                  <c:v>74925</c:v>
                </c:pt>
                <c:pt idx="52">
                  <c:v>74766</c:v>
                </c:pt>
                <c:pt idx="53">
                  <c:v>76379</c:v>
                </c:pt>
                <c:pt idx="54">
                  <c:v>77487</c:v>
                </c:pt>
                <c:pt idx="55">
                  <c:v>77991</c:v>
                </c:pt>
                <c:pt idx="56">
                  <c:v>79861</c:v>
                </c:pt>
                <c:pt idx="57">
                  <c:v>77412</c:v>
                </c:pt>
                <c:pt idx="58">
                  <c:v>79283</c:v>
                </c:pt>
                <c:pt idx="59">
                  <c:v>80986</c:v>
                </c:pt>
                <c:pt idx="60">
                  <c:v>80965</c:v>
                </c:pt>
                <c:pt idx="61">
                  <c:v>81013</c:v>
                </c:pt>
                <c:pt idx="62">
                  <c:v>79599</c:v>
                </c:pt>
                <c:pt idx="63">
                  <c:v>81011</c:v>
                </c:pt>
                <c:pt idx="64">
                  <c:v>82055</c:v>
                </c:pt>
                <c:pt idx="65">
                  <c:v>83974</c:v>
                </c:pt>
                <c:pt idx="66">
                  <c:v>83459</c:v>
                </c:pt>
                <c:pt idx="67">
                  <c:v>83986</c:v>
                </c:pt>
                <c:pt idx="68">
                  <c:v>84918</c:v>
                </c:pt>
                <c:pt idx="69">
                  <c:v>83314</c:v>
                </c:pt>
                <c:pt idx="70">
                  <c:v>82908</c:v>
                </c:pt>
                <c:pt idx="71">
                  <c:v>81179</c:v>
                </c:pt>
                <c:pt idx="72">
                  <c:v>80732</c:v>
                </c:pt>
                <c:pt idx="73">
                  <c:v>81522</c:v>
                </c:pt>
                <c:pt idx="74">
                  <c:v>80622</c:v>
                </c:pt>
                <c:pt idx="75">
                  <c:v>80761</c:v>
                </c:pt>
                <c:pt idx="76">
                  <c:v>78422</c:v>
                </c:pt>
                <c:pt idx="77">
                  <c:v>77407</c:v>
                </c:pt>
                <c:pt idx="78">
                  <c:v>77418</c:v>
                </c:pt>
                <c:pt idx="79">
                  <c:v>71686</c:v>
                </c:pt>
                <c:pt idx="80">
                  <c:v>67770</c:v>
                </c:pt>
                <c:pt idx="81">
                  <c:v>63974</c:v>
                </c:pt>
                <c:pt idx="82">
                  <c:v>66354</c:v>
                </c:pt>
                <c:pt idx="83">
                  <c:v>64914</c:v>
                </c:pt>
                <c:pt idx="84">
                  <c:v>66341</c:v>
                </c:pt>
                <c:pt idx="85">
                  <c:v>68156</c:v>
                </c:pt>
                <c:pt idx="86">
                  <c:v>68883</c:v>
                </c:pt>
                <c:pt idx="87">
                  <c:v>66523</c:v>
                </c:pt>
                <c:pt idx="88">
                  <c:v>67134</c:v>
                </c:pt>
                <c:pt idx="89">
                  <c:v>67010</c:v>
                </c:pt>
                <c:pt idx="90">
                  <c:v>64587</c:v>
                </c:pt>
                <c:pt idx="91">
                  <c:v>63302</c:v>
                </c:pt>
                <c:pt idx="92">
                  <c:v>62900</c:v>
                </c:pt>
                <c:pt idx="93">
                  <c:v>62307</c:v>
                </c:pt>
                <c:pt idx="94">
                  <c:v>64669</c:v>
                </c:pt>
                <c:pt idx="95">
                  <c:v>66377</c:v>
                </c:pt>
                <c:pt idx="96">
                  <c:v>67097</c:v>
                </c:pt>
                <c:pt idx="97">
                  <c:v>65761</c:v>
                </c:pt>
                <c:pt idx="98">
                  <c:v>67102</c:v>
                </c:pt>
                <c:pt idx="99">
                  <c:v>67312</c:v>
                </c:pt>
                <c:pt idx="100">
                  <c:v>68204</c:v>
                </c:pt>
                <c:pt idx="101">
                  <c:v>67463</c:v>
                </c:pt>
                <c:pt idx="102">
                  <c:v>67678</c:v>
                </c:pt>
                <c:pt idx="103">
                  <c:v>68399</c:v>
                </c:pt>
                <c:pt idx="104">
                  <c:v>69454</c:v>
                </c:pt>
                <c:pt idx="105">
                  <c:v>67943</c:v>
                </c:pt>
                <c:pt idx="106">
                  <c:v>68948</c:v>
                </c:pt>
                <c:pt idx="107">
                  <c:v>67752</c:v>
                </c:pt>
                <c:pt idx="108">
                  <c:v>68014</c:v>
                </c:pt>
                <c:pt idx="109">
                  <c:v>66141</c:v>
                </c:pt>
                <c:pt idx="110">
                  <c:v>66639</c:v>
                </c:pt>
                <c:pt idx="111">
                  <c:v>67714</c:v>
                </c:pt>
                <c:pt idx="112">
                  <c:v>68071</c:v>
                </c:pt>
                <c:pt idx="113">
                  <c:v>68180</c:v>
                </c:pt>
                <c:pt idx="114">
                  <c:v>67244</c:v>
                </c:pt>
                <c:pt idx="115">
                  <c:v>66848</c:v>
                </c:pt>
                <c:pt idx="116">
                  <c:v>66497</c:v>
                </c:pt>
                <c:pt idx="117">
                  <c:v>67293</c:v>
                </c:pt>
                <c:pt idx="118">
                  <c:v>72004</c:v>
                </c:pt>
                <c:pt idx="119">
                  <c:v>79078</c:v>
                </c:pt>
                <c:pt idx="120">
                  <c:v>79450</c:v>
                </c:pt>
                <c:pt idx="121">
                  <c:v>80046</c:v>
                </c:pt>
                <c:pt idx="122">
                  <c:v>82007</c:v>
                </c:pt>
                <c:pt idx="123">
                  <c:v>81183</c:v>
                </c:pt>
                <c:pt idx="124">
                  <c:v>81800</c:v>
                </c:pt>
                <c:pt idx="125">
                  <c:v>80955</c:v>
                </c:pt>
                <c:pt idx="126">
                  <c:v>83040</c:v>
                </c:pt>
                <c:pt idx="127">
                  <c:v>83698</c:v>
                </c:pt>
                <c:pt idx="128">
                  <c:v>82313</c:v>
                </c:pt>
                <c:pt idx="129">
                  <c:v>80550</c:v>
                </c:pt>
                <c:pt idx="130">
                  <c:v>81199</c:v>
                </c:pt>
                <c:pt idx="131">
                  <c:v>81295</c:v>
                </c:pt>
                <c:pt idx="132">
                  <c:v>79529</c:v>
                </c:pt>
                <c:pt idx="133">
                  <c:v>83290</c:v>
                </c:pt>
                <c:pt idx="134">
                  <c:v>84715</c:v>
                </c:pt>
                <c:pt idx="135">
                  <c:v>88363</c:v>
                </c:pt>
                <c:pt idx="136">
                  <c:v>87289</c:v>
                </c:pt>
                <c:pt idx="137">
                  <c:v>87102</c:v>
                </c:pt>
                <c:pt idx="138">
                  <c:v>86639</c:v>
                </c:pt>
                <c:pt idx="139">
                  <c:v>86674</c:v>
                </c:pt>
                <c:pt idx="140">
                  <c:v>87132</c:v>
                </c:pt>
              </c:numCache>
            </c:numRef>
          </c:yVal>
          <c:smooth val="0"/>
        </c:ser>
        <c:dLbls>
          <c:numFmt formatCode="General" sourceLinked="0"/>
          <c:txPr>
            <a:bodyPr/>
            <a:lstStyle/>
            <a:p>
              <a:pPr>
                <a:defRPr b="0" i="0" strike="noStrike" sz="1200" u="none">
                  <a:solidFill>
                    <a:srgbClr val="13272D"/>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80"/>
          <c:min val="0"/>
        </c:scaling>
        <c:delete val="0"/>
        <c:axPos val="b"/>
        <c:numFmt formatCode="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E6F78"/>
                </a:solidFill>
                <a:latin typeface="+mn-lt"/>
              </a:defRPr>
            </a:pPr>
            <a:endParaRPr lang="en-US"/>
          </a:p>
        </c:txPr>
        <c:crossAx val="2094734552"/>
        <c:crosses val="autoZero"/>
        <c:auto val="1"/>
        <c:lblAlgn val="ctr"/>
        <c:noMultiLvlLbl val="1"/>
        <c:majorUnit val="40"/>
      </c:valAx>
      <c:valAx>
        <c:axId val="2094734552"/>
        <c:scaling>
          <c:orientation val="minMax"/>
          <c:max val="100000"/>
          <c:min val="55000"/>
        </c:scaling>
        <c:delete val="0"/>
        <c:axPos val="l"/>
        <c:majorGridlines>
          <c:spPr>
            <a:ln w="6350" cap="flat">
              <a:solidFill>
                <a:srgbClr val="D5DEDD"/>
              </a:solidFill>
              <a:prstDash val="solid"/>
              <a:round/>
            </a:ln>
          </c:spPr>
        </c:majorGridlines>
        <c:numFmt formatCode="#,##0" sourceLinked="0"/>
        <c:majorTickMark val="none"/>
        <c:minorTickMark val="none"/>
        <c:tickLblPos val="nextTo"/>
        <c:spPr>
          <a:ln w="12700" cap="flat">
            <a:noFill/>
            <a:prstDash val="solid"/>
            <a:round/>
          </a:ln>
        </c:spPr>
        <c:txPr>
          <a:bodyPr/>
          <a:lstStyle/>
          <a:p>
            <a:pPr>
              <a:defRPr sz="1100" b="0" i="0" u="none" strike="noStrike">
                <a:solidFill>
                  <a:srgbClr val="5E6F78"/>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5E6F7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question the project asks: on a basket of three major crypto assets, do sophisticated models beat simple baselines out of sample? The project combines classical econometrics (ARIMA, VAR, Johansen, GARCH), deep learning (LSTM, GRU) and a critical audit of generative AI answers. Everything is evaluated on a strict chronological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come from Yahoo Finance (BTC-USD, ETH-USD, BNB-USD). Ingestion starts on 1 January 2019; 30-day rolling indicators (realized volatility and SMA) remove the first 30 rows, which fixes the consolidated start at 31 January 2019 and gives 2,803 continuous daily observations. The split is strictly chronological: 2,522 training days and 281 test days. No statistic, parameter or scaler uses test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moments confirm the stylized facts: small positive drift, negative skewness and excess kurtosis between 14 and 25, so returns are far from Normal. ADF and KPSS are used together so that each test's null covers the other: log-prices are I(1), log-returns are I(0). Modeling prices in levels would risk spurious regressions, so ARIMA and VAR work on first differences. STL on Bitcoin log-price shows that the trend explains more than 99 percent of the dynamics and the weekly seasonal part is negligible.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ARMA(1,1) estimated on returns with a constant is mathematically the same as an ARIMA(1,1,1) with a deterministic drift on log-prices, because r(t) is the first difference of ln P(t). Parameters: significant positive drift, small negative AR term, insignificant MA term. Diagnostics: Ljung-Box does not reject, so mean dynamics are captured. Jarque-Bera and the ARCH-LM test reject strongly, so the squared residuals carry structure the mean model cannot explain. That is the formal reason to move to GARCH.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First, AIC selects a VAR with five daily lags on the three return series. Second, Granger tests show bidirectional predictive precedence between BTC and ETH, and one-way precedence from ETH to BNB; BNB brings no marginal predictive information for BTC or ETH. This is predictive information in a reduced-form model, not physical causality. Third, the Johansen test with four lagged differences finds rank zero in both Python (25.53 versus 29.80) and R urca (30.27 versus 34.91). With no cointegrating vector, a VECM would be invalid, so the VAR on stationary returns is the correct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AR(1)-GARCH(1,1) with Student-t innovations is estimated by maximum likelihood on Bitcoin returns. The degrees of freedom are about 3, confirming very heavy tails. Alpha plus beta equals 1.0000, which places the process at the IGARCH boundary: variance shocks are infinitely persistent and the unconditional variance does not exist. Strict stationarity still depends on Nelson's log-moment condition. The GJR leverage term is not significant, so good and bad news move volatility alike at the daily horizon, and the ARCH-LM test on standardized residuals confirms the GARCH captures the conditional 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networks receive a 14-day window of nine variables: the three log-prices, the three log-returns and the three 30-day volatilities. Scaling uses MinMax on the training sample only; the last 10 percent of the training period, kept in chronological order, is the validation set. LSTM and GRU share the same depth, width, dropout, optimizer and number of epochs, so any difference in results comes from the cell type. Their forecasts are compared with the baselines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one-step protocol on 281 test days. RMSE ranking: naive random walk 1,725.43 dollars, rolling ARIMA 1,769.68, GRU 2,468.90, LSTM 3,776.48. The chart shows the LSTM tracking the price with a visible positive bias while the naive forecast simply lags the actual price by one day. Diebold-Mariano tests with Newey-West HAC errors: naive and ARIMA are statistically tied; the naive forecast is significantly better than GRU and LSTM. The sign is negative because the naive squared error is smaller. For reference, the fixed 281-day ARIMA trajectory reaches 16,598.93 dollars RMSE and the hybrid ARIMA-LSTM 15,319.04. This reproduces the Meese and Rogoff puzzle: on liquid, weak-form efficient markets, today's price is the best predictor of tomorrow's.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prompts were sent to three foundation models and every answer was checked against our own results. ChatGPT-4o framed sensible hypotheses on integration order and GARCH; Claude 3.5 Sonnet produced a readable briefing for a non-technical CIO but treated Granger precedence as structural. DeepSeek-R1 designed a statistical-arbitrage strategy on a cointegrated spread that our Johansen test rules out, and projected a Sharpe ratio of 2.1 to 2.8 without any trading costs. The lesson: keep a human with econometric knowledge in the loop. Prompts and verbatim answers are archived in data/llm_audit_section5.json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lessons from the report. One: informational efficiency, prices I(1), no exploitable linear return autocorrelation. Two: no statistical arbitrage, because Johansen finds no cointegrating vector. Three: volatility is predictable even when returns are not, thanks to GARCH. Four: the random walk remains the benchmark for daily price forecasts, in line with Meese and Rogoff (1983). Add the methodological lesson from the audit: generative AI output must be checked by someone who knows the statistics. Then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5" name="Text 0"/>
          <p:cNvSpPr/>
          <p:nvPr/>
        </p:nvSpPr>
        <p:spPr>
          <a:xfrm>
            <a:off x="548640" y="6419088"/>
            <a:ext cx="4572000" cy="256032"/>
          </a:xfrm>
          <a:prstGeom prst="rect">
            <a:avLst/>
          </a:prstGeom>
          <a:noFill/>
          <a:ln/>
        </p:spPr>
        <p:txBody>
          <a:bodyPr wrap="square" lIns="0" tIns="0" rIns="0" bIns="0" rtlCol="0" anchor="ctr"/>
          <a:lstStyle/>
          <a:p>
            <a:pPr indent="0" marL="0">
              <a:buNone/>
            </a:pPr>
            <a:r>
              <a:rPr lang="en-US" sz="1100" dirty="0">
                <a:solidFill>
                  <a:schemeClr val="accent4"/>
                </a:solidFill>
              </a:rPr>
              <a:t>TEK-UP 2026  |  Time Series Mini-Project</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rtlCol="0"/>
          <a:lstStyle>
            <a:lvl1pPr indent="0" marL="0">
              <a:buNone/>
              <a:defRPr lang="en-US" sz="1200" b="1" spc="3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5" name="Text 0"/>
          <p:cNvSpPr/>
          <p:nvPr/>
        </p:nvSpPr>
        <p:spPr>
          <a:xfrm>
            <a:off x="548640" y="6419088"/>
            <a:ext cx="4572000" cy="256032"/>
          </a:xfrm>
          <a:prstGeom prst="rect">
            <a:avLst/>
          </a:prstGeom>
          <a:noFill/>
          <a:ln/>
        </p:spPr>
        <p:txBody>
          <a:bodyPr wrap="square" lIns="0" tIns="0" rIns="0" bIns="0" rtlCol="0" anchor="ctr"/>
          <a:lstStyle/>
          <a:p>
            <a:pPr indent="0" marL="0">
              <a:buNone/>
            </a:pPr>
            <a:r>
              <a:rPr lang="en-US" sz="1100" dirty="0">
                <a:solidFill>
                  <a:schemeClr val="accent6"/>
                </a:solidFill>
              </a:rPr>
              <a:t>TEK-UP 2026  |  Time Series Mini-Project</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A9C4C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640080"/>
            <a:ext cx="7315200" cy="274320"/>
          </a:xfrm>
          <a:prstGeom prst="rect">
            <a:avLst/>
          </a:prstGeom>
          <a:noFill/>
          <a:ln/>
        </p:spPr>
        <p:txBody>
          <a:bodyPr wrap="square" rtlCol="0"/>
          <a:lstStyle>
            <a:lvl1pPr indent="0" marL="0">
              <a:buNone/>
              <a:defRPr lang="en-US" sz="1200" b="1" spc="3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640080" y="1371600"/>
            <a:ext cx="640080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3429000"/>
            <a:ext cx="6400800" cy="4114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chart" Target="../charts/chart6.xm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640080"/>
            <a:ext cx="731520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TEK-UP UNIVERSITY  |  DATA SCIENCE AND ARTIFICIAL INTELLIGENCE</a:t>
            </a:r>
            <a:endParaRPr lang="en-US" sz="1200" dirty="0"/>
          </a:p>
        </p:txBody>
      </p:sp>
      <p:sp>
        <p:nvSpPr>
          <p:cNvPr id="3" name="Text 0"/>
          <p:cNvSpPr/>
          <p:nvPr>
            <p:ph idx="101" type="title" hasCustomPrompt="1"/>
          </p:nvPr>
        </p:nvSpPr>
        <p:spPr>
          <a:xfrm>
            <a:off x="640080" y="1371600"/>
            <a:ext cx="6400800" cy="1920240"/>
          </a:xfrm>
          <a:prstGeom prst="rect">
            <a:avLst/>
          </a:prstGeom>
          <a:noFill/>
          <a:ln/>
        </p:spPr>
        <p:txBody>
          <a:bodyPr wrap="square" lIns="0" tIns="0" rIns="0" bIns="0" rtlCol="0" anchor="t"/>
          <a:lstStyle/>
          <a:p>
            <a:pPr algn="l" indent="0" marL="0">
              <a:buNone/>
            </a:pPr>
            <a:r>
              <a:rPr lang="en-US" sz="4000" b="1" dirty="0">
                <a:solidFill>
                  <a:schemeClr val="bg1"/>
                </a:solidFill>
              </a:rPr>
              <a:t>Joint Dynamics, Cointegration and Volatility of BTC, ETH and BNB</a:t>
            </a:r>
            <a:endParaRPr lang="en-US" sz="4000" dirty="0"/>
          </a:p>
        </p:txBody>
      </p:sp>
      <p:sp>
        <p:nvSpPr>
          <p:cNvPr id="4" name="Text 0"/>
          <p:cNvSpPr/>
          <p:nvPr>
            <p:ph idx="102" type="body" hasCustomPrompt="1"/>
          </p:nvPr>
        </p:nvSpPr>
        <p:spPr>
          <a:xfrm>
            <a:off x="640080" y="3429000"/>
            <a:ext cx="6400800" cy="411480"/>
          </a:xfrm>
          <a:prstGeom prst="rect">
            <a:avLst/>
          </a:prstGeom>
          <a:noFill/>
          <a:ln/>
        </p:spPr>
        <p:txBody>
          <a:bodyPr wrap="square" lIns="0" tIns="0" rIns="0" bIns="0" rtlCol="0" anchor="t"/>
          <a:lstStyle/>
          <a:p>
            <a:pPr indent="0" marL="0">
              <a:buNone/>
            </a:pPr>
            <a:r>
              <a:rPr lang="en-US" sz="2000" dirty="0">
                <a:solidFill>
                  <a:schemeClr val="accent6"/>
                </a:solidFill>
              </a:rPr>
              <a:t>Bitcoin, Ethereum and Binance Coin, 2019 to 2026</a:t>
            </a:r>
            <a:endParaRPr lang="en-US" sz="2000" dirty="0"/>
          </a:p>
        </p:txBody>
      </p:sp>
      <p:graphicFrame>
        <p:nvGraphicFramePr>
          <p:cNvPr id="5" name="Cover price lines" descr=""/>
          <p:cNvGraphicFramePr/>
          <p:nvPr/>
        </p:nvGraphicFramePr>
        <p:xfrm>
          <a:off x="7406640" y="914400"/>
          <a:ext cx="4480560" cy="3108960"/>
        </p:xfrm>
        <a:graphic xmlns:a="http://schemas.openxmlformats.org/drawingml/2006/main">
          <a:graphicData uri="http://schemas.openxmlformats.org/drawingml/2006/chart">
            <c:chart xmlns:c="http://schemas.openxmlformats.org/drawingml/2006/chart" r:id="rId1"/>
          </a:graphicData>
        </a:graphic>
      </p:graphicFrame>
      <p:sp>
        <p:nvSpPr>
          <p:cNvPr id="6" name="Cover chart caption"/>
          <p:cNvSpPr txBox="1"/>
          <p:nvPr/>
        </p:nvSpPr>
        <p:spPr>
          <a:xfrm>
            <a:off x="7406640" y="3703320"/>
            <a:ext cx="4480560" cy="274320"/>
          </a:xfrm>
          <a:prstGeom prst="rect">
            <a:avLst/>
          </a:prstGeom>
          <a:noFill/>
          <a:ln/>
        </p:spPr>
        <p:txBody>
          <a:bodyPr wrap="square" lIns="0" tIns="0" rIns="0" bIns="0" rtlCol="0" anchor="t"/>
          <a:lstStyle/>
          <a:p>
            <a:pPr indent="0" marL="0">
              <a:buNone/>
            </a:pPr>
            <a:r>
              <a:rPr lang="en-US" sz="1200" dirty="0">
                <a:solidFill>
                  <a:schemeClr val="accent6"/>
                </a:solidFill>
              </a:rPr>
              <a:t>Normalized prices, log scale</a:t>
            </a:r>
            <a:endParaRPr lang="en-US" sz="1200" dirty="0"/>
          </a:p>
        </p:txBody>
      </p:sp>
      <p:sp>
        <p:nvSpPr>
          <p:cNvPr id="7" name="Member 1"/>
          <p:cNvSpPr txBox="1"/>
          <p:nvPr/>
        </p:nvSpPr>
        <p:spPr>
          <a:xfrm>
            <a:off x="640080" y="5257800"/>
            <a:ext cx="2651760" cy="320040"/>
          </a:xfrm>
          <a:prstGeom prst="rect">
            <a:avLst/>
          </a:prstGeom>
          <a:noFill/>
          <a:ln/>
        </p:spPr>
        <p:txBody>
          <a:bodyPr wrap="square" lIns="0" tIns="0" rIns="0" bIns="0" rtlCol="0" anchor="t"/>
          <a:lstStyle/>
          <a:p>
            <a:pPr indent="0" marL="0">
              <a:buNone/>
            </a:pPr>
            <a:r>
              <a:rPr lang="en-US" sz="1800" b="1" dirty="0">
                <a:solidFill>
                  <a:schemeClr val="bg1"/>
                </a:solidFill>
              </a:rPr>
              <a:t>Rawen Bejie</a:t>
            </a:r>
            <a:endParaRPr lang="en-US" sz="1800" dirty="0"/>
          </a:p>
        </p:txBody>
      </p:sp>
      <p:sp>
        <p:nvSpPr>
          <p:cNvPr id="8" name="Member role 1"/>
          <p:cNvSpPr txBox="1"/>
          <p:nvPr/>
        </p:nvSpPr>
        <p:spPr>
          <a:xfrm>
            <a:off x="640080" y="5577840"/>
            <a:ext cx="2651760" cy="274320"/>
          </a:xfrm>
          <a:prstGeom prst="rect">
            <a:avLst/>
          </a:prstGeom>
          <a:noFill/>
          <a:ln/>
        </p:spPr>
        <p:txBody>
          <a:bodyPr wrap="square" lIns="0" tIns="0" rIns="0" bIns="0" rtlCol="0" anchor="t"/>
          <a:lstStyle/>
          <a:p>
            <a:pPr indent="0" marL="0">
              <a:buNone/>
            </a:pPr>
            <a:r>
              <a:rPr lang="en-US" sz="1300" dirty="0">
                <a:solidFill>
                  <a:schemeClr val="accent6"/>
                </a:solidFill>
              </a:rPr>
              <a:t>Data and split</a:t>
            </a:r>
            <a:endParaRPr lang="en-US" sz="1300" dirty="0"/>
          </a:p>
        </p:txBody>
      </p:sp>
      <p:sp>
        <p:nvSpPr>
          <p:cNvPr id="9" name="Member 2"/>
          <p:cNvSpPr txBox="1"/>
          <p:nvPr/>
        </p:nvSpPr>
        <p:spPr>
          <a:xfrm>
            <a:off x="3429000" y="5257800"/>
            <a:ext cx="2651760" cy="320040"/>
          </a:xfrm>
          <a:prstGeom prst="rect">
            <a:avLst/>
          </a:prstGeom>
          <a:noFill/>
          <a:ln/>
        </p:spPr>
        <p:txBody>
          <a:bodyPr wrap="square" lIns="0" tIns="0" rIns="0" bIns="0" rtlCol="0" anchor="t"/>
          <a:lstStyle/>
          <a:p>
            <a:pPr indent="0" marL="0">
              <a:buNone/>
            </a:pPr>
            <a:r>
              <a:rPr lang="en-US" sz="1800" b="1" dirty="0">
                <a:solidFill>
                  <a:schemeClr val="bg1"/>
                </a:solidFill>
              </a:rPr>
              <a:t>Khawla Hawari</a:t>
            </a:r>
            <a:endParaRPr lang="en-US" sz="1800" dirty="0"/>
          </a:p>
        </p:txBody>
      </p:sp>
      <p:sp>
        <p:nvSpPr>
          <p:cNvPr id="10" name="Member role 2"/>
          <p:cNvSpPr txBox="1"/>
          <p:nvPr/>
        </p:nvSpPr>
        <p:spPr>
          <a:xfrm>
            <a:off x="3429000" y="5577840"/>
            <a:ext cx="2651760" cy="274320"/>
          </a:xfrm>
          <a:prstGeom prst="rect">
            <a:avLst/>
          </a:prstGeom>
          <a:noFill/>
          <a:ln/>
        </p:spPr>
        <p:txBody>
          <a:bodyPr wrap="square" lIns="0" tIns="0" rIns="0" bIns="0" rtlCol="0" anchor="t"/>
          <a:lstStyle/>
          <a:p>
            <a:pPr indent="0" marL="0">
              <a:buNone/>
            </a:pPr>
            <a:r>
              <a:rPr lang="en-US" sz="1300" dirty="0">
                <a:solidFill>
                  <a:schemeClr val="accent6"/>
                </a:solidFill>
              </a:rPr>
              <a:t>EDA and stationarity</a:t>
            </a:r>
            <a:endParaRPr lang="en-US" sz="1300" dirty="0"/>
          </a:p>
        </p:txBody>
      </p:sp>
      <p:sp>
        <p:nvSpPr>
          <p:cNvPr id="11" name="Member 3"/>
          <p:cNvSpPr txBox="1"/>
          <p:nvPr/>
        </p:nvSpPr>
        <p:spPr>
          <a:xfrm>
            <a:off x="6217920" y="5257800"/>
            <a:ext cx="2651760" cy="320040"/>
          </a:xfrm>
          <a:prstGeom prst="rect">
            <a:avLst/>
          </a:prstGeom>
          <a:noFill/>
          <a:ln/>
        </p:spPr>
        <p:txBody>
          <a:bodyPr wrap="square" lIns="0" tIns="0" rIns="0" bIns="0" rtlCol="0" anchor="t"/>
          <a:lstStyle/>
          <a:p>
            <a:pPr indent="0" marL="0">
              <a:buNone/>
            </a:pPr>
            <a:r>
              <a:rPr lang="en-US" sz="1800" b="1" dirty="0">
                <a:solidFill>
                  <a:schemeClr val="bg1"/>
                </a:solidFill>
              </a:rPr>
              <a:t>Amine Benfadhel</a:t>
            </a:r>
            <a:endParaRPr lang="en-US" sz="1800" dirty="0"/>
          </a:p>
        </p:txBody>
      </p:sp>
      <p:sp>
        <p:nvSpPr>
          <p:cNvPr id="12" name="Member role 3"/>
          <p:cNvSpPr txBox="1"/>
          <p:nvPr/>
        </p:nvSpPr>
        <p:spPr>
          <a:xfrm>
            <a:off x="6217920" y="5577840"/>
            <a:ext cx="2651760" cy="274320"/>
          </a:xfrm>
          <a:prstGeom prst="rect">
            <a:avLst/>
          </a:prstGeom>
          <a:noFill/>
          <a:ln/>
        </p:spPr>
        <p:txBody>
          <a:bodyPr wrap="square" lIns="0" tIns="0" rIns="0" bIns="0" rtlCol="0" anchor="t"/>
          <a:lstStyle/>
          <a:p>
            <a:pPr indent="0" marL="0">
              <a:buNone/>
            </a:pPr>
            <a:r>
              <a:rPr lang="en-US" sz="1300" dirty="0">
                <a:solidFill>
                  <a:schemeClr val="accent6"/>
                </a:solidFill>
              </a:rPr>
              <a:t>Multivariate models and GARCH</a:t>
            </a:r>
            <a:endParaRPr lang="en-US" sz="1300" dirty="0"/>
          </a:p>
        </p:txBody>
      </p:sp>
      <p:sp>
        <p:nvSpPr>
          <p:cNvPr id="13" name="Member 4"/>
          <p:cNvSpPr txBox="1"/>
          <p:nvPr/>
        </p:nvSpPr>
        <p:spPr>
          <a:xfrm>
            <a:off x="9006840" y="5257800"/>
            <a:ext cx="2651760" cy="320040"/>
          </a:xfrm>
          <a:prstGeom prst="rect">
            <a:avLst/>
          </a:prstGeom>
          <a:noFill/>
          <a:ln/>
        </p:spPr>
        <p:txBody>
          <a:bodyPr wrap="square" lIns="0" tIns="0" rIns="0" bIns="0" rtlCol="0" anchor="t"/>
          <a:lstStyle/>
          <a:p>
            <a:pPr indent="0" marL="0">
              <a:buNone/>
            </a:pPr>
            <a:r>
              <a:rPr lang="en-US" sz="1800" b="1" dirty="0">
                <a:solidFill>
                  <a:schemeClr val="bg1"/>
                </a:solidFill>
              </a:rPr>
              <a:t>Khalil Ayeb</a:t>
            </a:r>
            <a:endParaRPr lang="en-US" sz="1800" dirty="0"/>
          </a:p>
        </p:txBody>
      </p:sp>
      <p:sp>
        <p:nvSpPr>
          <p:cNvPr id="14" name="Member role 4"/>
          <p:cNvSpPr txBox="1"/>
          <p:nvPr/>
        </p:nvSpPr>
        <p:spPr>
          <a:xfrm>
            <a:off x="9006840" y="5577840"/>
            <a:ext cx="2651760" cy="274320"/>
          </a:xfrm>
          <a:prstGeom prst="rect">
            <a:avLst/>
          </a:prstGeom>
          <a:noFill/>
          <a:ln/>
        </p:spPr>
        <p:txBody>
          <a:bodyPr wrap="square" lIns="0" tIns="0" rIns="0" bIns="0" rtlCol="0" anchor="t"/>
          <a:lstStyle/>
          <a:p>
            <a:pPr indent="0" marL="0">
              <a:buNone/>
            </a:pPr>
            <a:r>
              <a:rPr lang="en-US" sz="1300" dirty="0">
                <a:solidFill>
                  <a:schemeClr val="accent6"/>
                </a:solidFill>
              </a:rPr>
              <a:t>Deep learning and evaluation</a:t>
            </a:r>
            <a:endParaRPr lang="en-US" sz="1300" dirty="0"/>
          </a:p>
        </p:txBody>
      </p:sp>
      <p:sp>
        <p:nvSpPr>
          <p:cNvPr id="15" name="Course line"/>
          <p:cNvSpPr txBox="1"/>
          <p:nvPr/>
        </p:nvSpPr>
        <p:spPr>
          <a:xfrm>
            <a:off x="640080" y="6199632"/>
            <a:ext cx="10789920" cy="274320"/>
          </a:xfrm>
          <a:prstGeom prst="rect">
            <a:avLst/>
          </a:prstGeom>
          <a:noFill/>
          <a:ln/>
        </p:spPr>
        <p:txBody>
          <a:bodyPr wrap="square" lIns="0" tIns="0" rIns="0" bIns="0" rtlCol="0" anchor="t"/>
          <a:lstStyle/>
          <a:p>
            <a:pPr indent="0" marL="0">
              <a:buNone/>
            </a:pPr>
            <a:r>
              <a:rPr lang="en-US" sz="1200" dirty="0">
                <a:solidFill>
                  <a:schemeClr val="accent6"/>
                </a:solidFill>
              </a:rPr>
              <a:t>Time Series for Data Science and AI  |  Supervised by Prof. Ahmed Dhouibi  |  Academic year 2025-2026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CONTEXT AND DATA</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Data and Research Design</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Can deep learning beat classical econometrics and the random walk on daily crypto prices?</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Rawen Bejie</a:t>
            </a:r>
            <a:endParaRPr lang="en-US" sz="1100" dirty="0"/>
          </a:p>
        </p:txBody>
      </p:sp>
      <p:sp>
        <p:nvSpPr>
          <p:cNvPr id="6" name="Price chart card"/>
          <p:cNvSpPr/>
          <p:nvPr/>
        </p:nvSpPr>
        <p:spPr>
          <a:xfrm>
            <a:off x="548640" y="1828800"/>
            <a:ext cx="6949440" cy="2926080"/>
          </a:xfrm>
          <a:prstGeom prst="roundRect">
            <a:avLst>
              <a:gd name="adj" fmla="val 2500"/>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graphicFrame>
        <p:nvGraphicFramePr>
          <p:cNvPr id="7" name="Normalized price chart" descr=""/>
          <p:cNvGraphicFramePr/>
          <p:nvPr/>
        </p:nvGraphicFramePr>
        <p:xfrm>
          <a:off x="685800" y="1920240"/>
          <a:ext cx="6675120" cy="2743200"/>
        </p:xfrm>
        <a:graphic xmlns:a="http://schemas.openxmlformats.org/drawingml/2006/main">
          <a:graphicData uri="http://schemas.openxmlformats.org/drawingml/2006/chart">
            <c:chart xmlns:c="http://schemas.openxmlformats.org/drawingml/2006/chart" r:id="rId1"/>
          </a:graphicData>
        </a:graphic>
      </p:graphicFrame>
      <p:sp>
        <p:nvSpPr>
          <p:cNvPr id="8" name="Stat card 1"/>
          <p:cNvSpPr/>
          <p:nvPr/>
        </p:nvSpPr>
        <p:spPr>
          <a:xfrm>
            <a:off x="7772400" y="1828800"/>
            <a:ext cx="3840480" cy="914400"/>
          </a:xfrm>
          <a:prstGeom prst="roundRect">
            <a:avLst>
              <a:gd name="adj" fmla="val 8000"/>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9" name="Stat value 1"/>
          <p:cNvSpPr txBox="1"/>
          <p:nvPr/>
        </p:nvSpPr>
        <p:spPr>
          <a:xfrm>
            <a:off x="7955280" y="1938528"/>
            <a:ext cx="1463040" cy="694944"/>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2,803</a:t>
            </a:r>
            <a:endParaRPr lang="en-US" sz="2800" dirty="0"/>
          </a:p>
        </p:txBody>
      </p:sp>
      <p:sp>
        <p:nvSpPr>
          <p:cNvPr id="10" name="Stat label 1"/>
          <p:cNvSpPr txBox="1"/>
          <p:nvPr/>
        </p:nvSpPr>
        <p:spPr>
          <a:xfrm>
            <a:off x="9464040" y="1938528"/>
            <a:ext cx="2011680" cy="694944"/>
          </a:xfrm>
          <a:prstGeom prst="rect">
            <a:avLst/>
          </a:prstGeom>
          <a:noFill/>
          <a:ln/>
        </p:spPr>
        <p:txBody>
          <a:bodyPr wrap="square" lIns="0" tIns="0" rIns="0" bIns="0" rtlCol="0" anchor="ctr"/>
          <a:lstStyle/>
          <a:p>
            <a:pPr indent="0" marL="0">
              <a:buNone/>
            </a:pPr>
            <a:r>
              <a:rPr lang="en-US" sz="1400" dirty="0">
                <a:solidFill>
                  <a:schemeClr val="tx1"/>
                </a:solidFill>
              </a:rPr>
              <a:t>daily observations, 31 Jan 2019 to 3 Oct 2026</a:t>
            </a:r>
            <a:endParaRPr lang="en-US" sz="1400" dirty="0"/>
          </a:p>
        </p:txBody>
      </p:sp>
      <p:sp>
        <p:nvSpPr>
          <p:cNvPr id="11" name="Stat card 2"/>
          <p:cNvSpPr/>
          <p:nvPr/>
        </p:nvSpPr>
        <p:spPr>
          <a:xfrm>
            <a:off x="7772400" y="2834640"/>
            <a:ext cx="3840480" cy="914400"/>
          </a:xfrm>
          <a:prstGeom prst="roundRect">
            <a:avLst>
              <a:gd name="adj" fmla="val 8000"/>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2" name="Stat value 2"/>
          <p:cNvSpPr txBox="1"/>
          <p:nvPr/>
        </p:nvSpPr>
        <p:spPr>
          <a:xfrm>
            <a:off x="7955280" y="2944368"/>
            <a:ext cx="1463040" cy="694944"/>
          </a:xfrm>
          <a:prstGeom prst="rect">
            <a:avLst/>
          </a:prstGeom>
          <a:noFill/>
          <a:ln/>
        </p:spPr>
        <p:txBody>
          <a:bodyPr wrap="square" lIns="0" tIns="0" rIns="0" bIns="0" rtlCol="0" anchor="ctr"/>
          <a:lstStyle/>
          <a:p>
            <a:pPr indent="0" marL="0">
              <a:buNone/>
            </a:pPr>
            <a:r>
              <a:t>2</a:t>
            </a:r>
            <a:endParaRPr lang="en-US" sz="2800" dirty="0"/>
          </a:p>
        </p:txBody>
      </p:sp>
      <p:sp>
        <p:nvSpPr>
          <p:cNvPr id="13" name="Stat label 2"/>
          <p:cNvSpPr txBox="1"/>
          <p:nvPr/>
        </p:nvSpPr>
        <p:spPr>
          <a:xfrm>
            <a:off x="9464040" y="2944368"/>
            <a:ext cx="2011680" cy="694944"/>
          </a:xfrm>
          <a:prstGeom prst="rect">
            <a:avLst/>
          </a:prstGeom>
          <a:noFill/>
          <a:ln/>
        </p:spPr>
        <p:txBody>
          <a:bodyPr wrap="square" lIns="0" tIns="0" rIns="0" bIns="0" rtlCol="0" anchor="ctr"/>
          <a:lstStyle/>
          <a:p>
            <a:pPr indent="0" marL="0">
              <a:buNone/>
            </a:pPr>
            <a:r>
              <a:rPr lang="en-US" sz="1400" dirty="0">
                <a:solidFill>
                  <a:schemeClr val="tx1"/>
                </a:solidFill>
              </a:rPr>
              <a:t>assets traded 24/7: BTC, ETH, BNB</a:t>
            </a:r>
            <a:endParaRPr lang="en-US" sz="1400" dirty="0"/>
          </a:p>
        </p:txBody>
      </p:sp>
      <p:sp>
        <p:nvSpPr>
          <p:cNvPr id="14" name="Stat card 3"/>
          <p:cNvSpPr/>
          <p:nvPr/>
        </p:nvSpPr>
        <p:spPr>
          <a:xfrm>
            <a:off x="7772400" y="3840480"/>
            <a:ext cx="3840480" cy="914400"/>
          </a:xfrm>
          <a:prstGeom prst="roundRect">
            <a:avLst>
              <a:gd name="adj" fmla="val 8000"/>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5" name="Stat value 3"/>
          <p:cNvSpPr txBox="1"/>
          <p:nvPr/>
        </p:nvSpPr>
        <p:spPr>
          <a:xfrm>
            <a:off x="7955280" y="3950208"/>
            <a:ext cx="1463040" cy="694944"/>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90 / 10</a:t>
            </a:r>
            <a:endParaRPr lang="en-US" sz="2800" dirty="0"/>
          </a:p>
        </p:txBody>
      </p:sp>
      <p:sp>
        <p:nvSpPr>
          <p:cNvPr id="16" name="Stat label 3"/>
          <p:cNvSpPr txBox="1"/>
          <p:nvPr/>
        </p:nvSpPr>
        <p:spPr>
          <a:xfrm>
            <a:off x="9464040" y="3950208"/>
            <a:ext cx="2011680" cy="694944"/>
          </a:xfrm>
          <a:prstGeom prst="rect">
            <a:avLst/>
          </a:prstGeom>
          <a:noFill/>
          <a:ln/>
        </p:spPr>
        <p:txBody>
          <a:bodyPr wrap="square" lIns="0" tIns="0" rIns="0" bIns="0" rtlCol="0" anchor="ctr"/>
          <a:lstStyle/>
          <a:p>
            <a:pPr indent="0" marL="0">
              <a:buNone/>
            </a:pPr>
            <a:r>
              <a:rPr lang="en-US" sz="1400" dirty="0">
                <a:solidFill>
                  <a:schemeClr val="tx1"/>
                </a:solidFill>
              </a:rPr>
              <a:t>chronological train and test split, no shuffling</a:t>
            </a:r>
            <a:endParaRPr lang="en-US" sz="1400" dirty="0"/>
          </a:p>
        </p:txBody>
      </p:sp>
      <p:sp>
        <p:nvSpPr>
          <p:cNvPr id="17" name="Train block"/>
          <p:cNvSpPr/>
          <p:nvPr/>
        </p:nvSpPr>
        <p:spPr>
          <a:xfrm>
            <a:off x="548640" y="5029200"/>
            <a:ext cx="9921240" cy="502920"/>
          </a:xfrm>
          <a:prstGeom prst="roundRect">
            <a:avLst>
              <a:gd name="adj" fmla="val 10909"/>
            </a:avLst>
          </a:prstGeom>
          <a:solidFill>
            <a:schemeClr val="accent1"/>
          </a:solidFill>
          <a:ln w="6350">
            <a:solidFill>
              <a:schemeClr val="accent1"/>
            </a:solidFill>
            <a:prstDash val="solid"/>
          </a:ln>
        </p:spPr>
        <p:txBody>
          <a:bodyPr/>
          <a:p/>
        </p:txBody>
      </p:sp>
      <p:sp>
        <p:nvSpPr>
          <p:cNvPr id="18" name="Test block"/>
          <p:cNvSpPr/>
          <p:nvPr/>
        </p:nvSpPr>
        <p:spPr>
          <a:xfrm>
            <a:off x="10506456" y="5029200"/>
            <a:ext cx="1106424" cy="502920"/>
          </a:xfrm>
          <a:prstGeom prst="roundRect">
            <a:avLst>
              <a:gd name="adj" fmla="val 10909"/>
            </a:avLst>
          </a:prstGeom>
          <a:solidFill>
            <a:schemeClr val="accent2"/>
          </a:solidFill>
          <a:ln w="6350">
            <a:solidFill>
              <a:schemeClr val="accent2"/>
            </a:solidFill>
            <a:prstDash val="solid"/>
          </a:ln>
        </p:spPr>
        <p:txBody>
          <a:bodyPr/>
          <a:p/>
        </p:txBody>
      </p:sp>
      <p:sp>
        <p:nvSpPr>
          <p:cNvPr id="19" name="Train label"/>
          <p:cNvSpPr txBox="1"/>
          <p:nvPr/>
        </p:nvSpPr>
        <p:spPr>
          <a:xfrm>
            <a:off x="731520" y="5029200"/>
            <a:ext cx="3657600" cy="502920"/>
          </a:xfrm>
          <a:prstGeom prst="rect">
            <a:avLst/>
          </a:prstGeom>
          <a:noFill/>
          <a:ln/>
        </p:spPr>
        <p:txBody>
          <a:bodyPr wrap="square" lIns="0" tIns="0" rIns="0" bIns="0" rtlCol="0" anchor="ctr"/>
          <a:lstStyle/>
          <a:p>
            <a:pPr indent="0" marL="0">
              <a:buNone/>
            </a:pPr>
            <a:r>
              <a:rPr lang="en-US" sz="1600" b="1" dirty="0">
                <a:solidFill>
                  <a:schemeClr val="bg1"/>
                </a:solidFill>
              </a:rPr>
              <a:t>Train  |  90%</a:t>
            </a:r>
            <a:endParaRPr lang="en-US" sz="1600" dirty="0"/>
          </a:p>
        </p:txBody>
      </p:sp>
      <p:sp>
        <p:nvSpPr>
          <p:cNvPr id="20" name="Test label"/>
          <p:cNvSpPr txBox="1"/>
          <p:nvPr/>
        </p:nvSpPr>
        <p:spPr>
          <a:xfrm>
            <a:off x="10506456" y="5029200"/>
            <a:ext cx="1106424" cy="50292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21" name="Train caption"/>
          <p:cNvSpPr txBox="1"/>
          <p:nvPr/>
        </p:nvSpPr>
        <p:spPr>
          <a:xfrm>
            <a:off x="548640" y="5623560"/>
            <a:ext cx="7863840" cy="548640"/>
          </a:xfrm>
          <a:prstGeom prst="rect">
            <a:avLst/>
          </a:prstGeom>
          <a:noFill/>
          <a:ln/>
        </p:spPr>
        <p:txBody>
          <a:bodyPr wrap="square" lIns="0" tIns="0" rIns="0" bIns="0" rtlCol="0" anchor="t"/>
          <a:lstStyle/>
          <a:p>
            <a:pPr indent="0" marL="0">
              <a:buNone/>
            </a:pPr>
            <a:r>
              <a:rPr lang="en-US" sz="1400" dirty="0">
                <a:solidFill>
                  <a:schemeClr val="tx1"/>
                </a:solidFill>
              </a:rPr>
              <a:t>31 Jan 2019 to 26 Dec 2025, 2,522 days. ARIMA, VAR, GARCH parameters and the MinMax scalers are fitted here only.</a:t>
            </a:r>
            <a:endParaRPr lang="en-US" sz="1400" dirty="0"/>
          </a:p>
        </p:txBody>
      </p:sp>
      <p:sp>
        <p:nvSpPr>
          <p:cNvPr id="22" name="Test caption"/>
          <p:cNvSpPr txBox="1"/>
          <p:nvPr/>
        </p:nvSpPr>
        <p:spPr>
          <a:xfrm>
            <a:off x="8503920" y="5623560"/>
            <a:ext cx="3108960" cy="548640"/>
          </a:xfrm>
          <a:prstGeom prst="rect">
            <a:avLst/>
          </a:prstGeom>
          <a:noFill/>
          <a:ln/>
        </p:spPr>
        <p:txBody>
          <a:bodyPr wrap="square" lIns="0" tIns="0" rIns="0" bIns="0" rtlCol="0" anchor="t"/>
          <a:lstStyle/>
          <a:p>
            <a:pPr algn="r" indent="0" marL="0">
              <a:buNone/>
            </a:pPr>
            <a:r>
              <a:rPr lang="en-US" sz="1400" dirty="0">
                <a:solidFill>
                  <a:schemeClr val="tx1"/>
                </a:solidFill>
              </a:rPr>
              <a:t>27 Dec 2025 to 3 Oct 2026, 281 days. Blind out-of-sample validation.</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EXPLORATORY ANALYSIS</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Exploratory Analysis and Stationarity</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Prices follow a stochastic trend; log-returns are stationary but heavy-tailed</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Khawla Hawari</a:t>
            </a:r>
            <a:endParaRPr lang="en-US" sz="1100" dirty="0"/>
          </a:p>
        </p:txBody>
      </p:sp>
      <p:sp>
        <p:nvSpPr>
          <p:cNvPr id="6" name="Moments card"/>
          <p:cNvSpPr/>
          <p:nvPr/>
        </p:nvSpPr>
        <p:spPr>
          <a:xfrm>
            <a:off x="548640" y="1828800"/>
            <a:ext cx="5440680" cy="2971800"/>
          </a:xfrm>
          <a:prstGeom prst="roundRect">
            <a:avLst>
              <a:gd name="adj" fmla="val 2462"/>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7" name="Moments title"/>
          <p:cNvSpPr txBox="1"/>
          <p:nvPr/>
        </p:nvSpPr>
        <p:spPr>
          <a:xfrm>
            <a:off x="731520" y="1938528"/>
            <a:ext cx="5029200" cy="274320"/>
          </a:xfrm>
          <a:prstGeom prst="rect">
            <a:avLst/>
          </a:prstGeom>
          <a:noFill/>
          <a:ln/>
        </p:spPr>
        <p:txBody>
          <a:bodyPr wrap="square" lIns="0" tIns="0" rIns="0" bIns="0" rtlCol="0" anchor="t"/>
          <a:lstStyle/>
          <a:p>
            <a:pPr indent="0" marL="0">
              <a:buNone/>
            </a:pPr>
            <a:r>
              <a:rPr lang="en-US" sz="1600" b="1" dirty="0">
                <a:solidFill>
                  <a:schemeClr val="tx1"/>
                </a:solidFill>
              </a:rPr>
              <a:t>Daily log-returns, train sample</a:t>
            </a:r>
            <a:endParaRPr lang="en-US" sz="1600" dirty="0"/>
          </a:p>
        </p:txBody>
      </p:sp>
      <p:graphicFrame>
        <p:nvGraphicFramePr>
          <p:cNvPr id="4" name="Moments table"/>
          <p:cNvGraphicFramePr>
            <a:graphicFrameLocks noGrp="1"/>
          </p:cNvGraphicFramePr>
          <p:nvPr>
            <p:extLst>
              <p:ext uri="{D42A27DB-BD31-4B8C-83A1-F6EECF244321}">
                <p14:modId xmlns:p14="http://schemas.microsoft.com/office/powerpoint/2010/main" val="1579011935"/>
              </p:ext>
            </p:extLst>
          </p:nvPr>
        </p:nvGraphicFramePr>
        <p:xfrm>
          <a:off x="731520" y="2286000"/>
          <a:ext cx="5074920" cy="914400"/>
        </p:xfrm>
        <a:graphic>
          <a:graphicData uri="http://schemas.openxmlformats.org/drawingml/2006/table">
            <a:tbl>
              <a:tblPr/>
              <a:tblGrid>
                <a:gridCol w="2011680"/>
                <a:gridCol w="1024128"/>
                <a:gridCol w="1024128"/>
                <a:gridCol w="1014984"/>
              </a:tblGrid>
              <a:tr h="342900">
                <a:tc>
                  <a:txBody>
                    <a:bodyPr/>
                    <a:lstStyle/>
                    <a:p>
                      <a:pPr algn="l" indent="0" marL="0">
                        <a:buNone/>
                      </a:pPr>
                      <a:r>
                        <a:rPr lang="en-US" sz="1300" b="1" dirty="0">
                          <a:solidFill>
                            <a:srgbClr val="FFFFFF"/>
                          </a:solidFill>
                        </a:rPr>
                        <a:t>Metric</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BTC</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ETH</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BNB</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r>
              <a:tr h="342900">
                <a:tc>
                  <a:txBody>
                    <a:bodyPr/>
                    <a:lstStyle/>
                    <a:p>
                      <a:pPr algn="l" indent="0" marL="0">
                        <a:buNone/>
                      </a:pPr>
                      <a:r>
                        <a:rPr lang="en-US" sz="1300" dirty="0">
                          <a:solidFill>
                            <a:srgbClr val="13272D"/>
                          </a:solidFill>
                        </a:rPr>
                        <a:t>Mean (per day)</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+0.128%</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+0.131%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+0.195%</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Volatility (per day)</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3.29%</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4.30%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4.39%</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Worst day (12 Mar 2020)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-46.47%</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-55.07%</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-54.31%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Skewness</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-1.07</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-0.99</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-0.17</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Excess kurtosis</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18.92</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14.47</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24.52</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bl>
          </a:graphicData>
        </a:graphic>
      </p:graphicFrame>
      <p:sp>
        <p:nvSpPr>
          <p:cNvPr id="9" name="Moments note"/>
          <p:cNvSpPr txBox="1"/>
          <p:nvPr/>
        </p:nvSpPr>
        <p:spPr>
          <a:xfrm>
            <a:off x="731520" y="4434840"/>
            <a:ext cx="5074920" cy="274320"/>
          </a:xfrm>
          <a:prstGeom prst="rect">
            <a:avLst/>
          </a:prstGeom>
          <a:noFill/>
          <a:ln/>
        </p:spPr>
        <p:txBody>
          <a:bodyPr wrap="square" lIns="0" tIns="0" rIns="0" bIns="0" rtlCol="0" anchor="t"/>
          <a:lstStyle/>
          <a:p>
            <a:pPr indent="0" marL="0">
              <a:buNone/>
            </a:pPr>
            <a:r>
              <a:rPr lang="en-US" sz="1200" dirty="0">
                <a:solidFill>
                  <a:schemeClr val="accent4"/>
                </a:solidFill>
              </a:rPr>
              <a:t>Jarque-Bera rejects normality for all three assets (p &lt; 1e-16).</a:t>
            </a:r>
            <a:endParaRPr lang="en-US" sz="1200" dirty="0"/>
          </a:p>
        </p:txBody>
      </p:sp>
      <p:sp>
        <p:nvSpPr>
          <p:cNvPr id="10" name="Stationarity card"/>
          <p:cNvSpPr/>
          <p:nvPr/>
        </p:nvSpPr>
        <p:spPr>
          <a:xfrm>
            <a:off x="6172200" y="1828800"/>
            <a:ext cx="5440680" cy="2971800"/>
          </a:xfrm>
          <a:prstGeom prst="roundRect">
            <a:avLst>
              <a:gd name="adj" fmla="val 2462"/>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1" name="Stationarity title"/>
          <p:cNvSpPr txBox="1"/>
          <p:nvPr/>
        </p:nvSpPr>
        <p:spPr>
          <a:xfrm>
            <a:off x="6355080" y="1938528"/>
            <a:ext cx="5029200" cy="274320"/>
          </a:xfrm>
          <a:prstGeom prst="rect">
            <a:avLst/>
          </a:prstGeom>
          <a:noFill/>
          <a:ln/>
        </p:spPr>
        <p:txBody>
          <a:bodyPr wrap="square" lIns="0" tIns="0" rIns="0" bIns="0" rtlCol="0" anchor="t"/>
          <a:lstStyle/>
          <a:p>
            <a:pPr indent="0" marL="0">
              <a:buNone/>
            </a:pPr>
            <a:r>
              <a:rPr lang="en-US" sz="1600" b="1" dirty="0">
                <a:solidFill>
                  <a:schemeClr val="tx1"/>
                </a:solidFill>
              </a:rPr>
              <a:t>ADF and KPSS, train sample</a:t>
            </a:r>
            <a:endParaRPr lang="en-US" sz="1600" dirty="0"/>
          </a:p>
        </p:txBody>
      </p:sp>
      <p:graphicFrame>
        <p:nvGraphicFramePr>
          <p:cNvPr id="7" name="Stationarity table"/>
          <p:cNvGraphicFramePr>
            <a:graphicFrameLocks noGrp="1"/>
          </p:cNvGraphicFramePr>
          <p:nvPr>
            <p:extLst>
              <p:ext uri="{D42A27DB-BD31-4B8C-83A1-F6EECF244321}">
                <p14:modId xmlns:p14="http://schemas.microsoft.com/office/powerpoint/2010/main" val="1579011935"/>
              </p:ext>
            </p:extLst>
          </p:nvPr>
        </p:nvGraphicFramePr>
        <p:xfrm>
          <a:off x="6355080" y="2286000"/>
          <a:ext cx="5074920" cy="914400"/>
        </p:xfrm>
        <a:graphic>
          <a:graphicData uri="http://schemas.openxmlformats.org/drawingml/2006/table">
            <a:tbl>
              <a:tblPr/>
              <a:tblGrid>
                <a:gridCol w="2148840"/>
                <a:gridCol w="1005840"/>
                <a:gridCol w="960120"/>
                <a:gridCol w="960120"/>
              </a:tblGrid>
              <a:tr h="342900">
                <a:tc>
                  <a:txBody>
                    <a:bodyPr/>
                    <a:lstStyle/>
                    <a:p>
                      <a:pPr algn="l" indent="0" marL="0">
                        <a:buNone/>
                      </a:pPr>
                      <a:r>
                        <a:rPr lang="en-US" sz="1300" b="1" dirty="0">
                          <a:solidFill>
                            <a:srgbClr val="FFFFFF"/>
                          </a:solidFill>
                        </a:rPr>
                        <a:t>Series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ADF p</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KPSS p</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Order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r>
              <a:tr h="342900">
                <a:tc>
                  <a:txBody>
                    <a:bodyPr/>
                    <a:lstStyle/>
                    <a:p>
                      <a:pPr algn="l" indent="0" marL="0">
                        <a:buNone/>
                      </a:pPr>
                      <a:r>
                        <a:rPr lang="en-US" sz="1300" dirty="0">
                          <a:solidFill>
                            <a:srgbClr val="13272D"/>
                          </a:solidFill>
                        </a:rPr>
                        <a:t>BTC log-price</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0.265</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0.010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rgbClr val="B4574D"/>
                          </a:solidFill>
                        </a:rPr>
                        <a:t>I(1)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ETH log-price</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0.329</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0.010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rgbClr val="B4574D"/>
                          </a:solidFill>
                        </a:rPr>
                        <a:t>I(1)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BNB log-price</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0.391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0.010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rgbClr val="B4574D"/>
                          </a:solidFill>
                        </a:rPr>
                        <a:t>I(1)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2900">
                <a:tc>
                  <a:txBody>
                    <a:bodyPr/>
                    <a:lstStyle/>
                    <a:p>
                      <a:pPr algn="l" indent="0" marL="0">
                        <a:buNone/>
                      </a:pPr>
                      <a:r>
                        <a:rPr lang="en-US" sz="1300" dirty="0">
                          <a:solidFill>
                            <a:srgbClr val="13272D"/>
                          </a:solidFill>
                        </a:rPr>
                        <a:t>BTC, ETH, BNB log-returns</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&lt; 0.0001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&gt; 0.100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rgbClr val="2E7D86"/>
                          </a:solidFill>
                        </a:rPr>
                        <a:t>I(0)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bl>
          </a:graphicData>
        </a:graphic>
      </p:graphicFrame>
      <p:sp>
        <p:nvSpPr>
          <p:cNvPr id="13" name="Stationarity note"/>
          <p:cNvSpPr txBox="1"/>
          <p:nvPr/>
        </p:nvSpPr>
        <p:spPr>
          <a:xfrm>
            <a:off x="6355080" y="4114800"/>
            <a:ext cx="5074920" cy="548640"/>
          </a:xfrm>
          <a:prstGeom prst="rect">
            <a:avLst/>
          </a:prstGeom>
          <a:noFill/>
          <a:ln/>
        </p:spPr>
        <p:txBody>
          <a:bodyPr wrap="square" lIns="0" tIns="0" rIns="0" bIns="0" rtlCol="0" anchor="t"/>
          <a:lstStyle/>
          <a:p>
            <a:pPr indent="0" marL="0">
              <a:buNone/>
            </a:pPr>
            <a:r>
              <a:rPr lang="en-US" sz="1200" dirty="0">
                <a:solidFill>
                  <a:schemeClr val="accent4"/>
                </a:solidFill>
              </a:rPr>
              <a:t>ADF null: unit root. KPSS null: stationarity. Both tests agree on every series.</a:t>
            </a:r>
            <a:endParaRPr lang="en-US" sz="1200" dirty="0"/>
          </a:p>
        </p:txBody>
      </p:sp>
      <p:sp>
        <p:nvSpPr>
          <p:cNvPr id="14" name="Callout card 1"/>
          <p:cNvSpPr/>
          <p:nvPr/>
        </p:nvSpPr>
        <p:spPr>
          <a:xfrm>
            <a:off x="548640" y="5029200"/>
            <a:ext cx="3566160" cy="1188720"/>
          </a:xfrm>
          <a:prstGeom prst="roundRect">
            <a:avLst>
              <a:gd name="adj" fmla="val 615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5" name="Callout value 1"/>
          <p:cNvSpPr txBox="1"/>
          <p:nvPr/>
        </p:nvSpPr>
        <p:spPr>
          <a:xfrm>
            <a:off x="731520" y="5120640"/>
            <a:ext cx="128016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&gt;99%</a:t>
            </a:r>
            <a:endParaRPr lang="en-US" sz="2800" dirty="0"/>
          </a:p>
        </p:txBody>
      </p:sp>
      <p:sp>
        <p:nvSpPr>
          <p:cNvPr id="16" name="Callout text 1"/>
          <p:cNvSpPr txBox="1"/>
          <p:nvPr/>
        </p:nvSpPr>
        <p:spPr>
          <a:xfrm>
            <a:off x="1965960" y="5120640"/>
            <a:ext cx="2011680" cy="1005840"/>
          </a:xfrm>
          <a:prstGeom prst="rect">
            <a:avLst/>
          </a:prstGeom>
          <a:noFill/>
          <a:ln/>
        </p:spPr>
        <p:txBody>
          <a:bodyPr wrap="square" lIns="0" tIns="0" rIns="0" bIns="0" rtlCol="0" anchor="ctr"/>
          <a:lstStyle/>
          <a:p>
            <a:pPr indent="0" marL="0">
              <a:buNone/>
            </a:pPr>
            <a:r>
              <a:rPr lang="en-US" sz="1400" dirty="0">
                <a:solidFill>
                  <a:schemeClr val="tx1"/>
                </a:solidFill>
              </a:rPr>
              <a:t>of log-price dynamics comes from the stochastic trend (STL, weekly period)</a:t>
            </a:r>
            <a:endParaRPr lang="en-US" sz="1400" dirty="0"/>
          </a:p>
        </p:txBody>
      </p:sp>
      <p:sp>
        <p:nvSpPr>
          <p:cNvPr id="17" name="Callout card 2"/>
          <p:cNvSpPr/>
          <p:nvPr/>
        </p:nvSpPr>
        <p:spPr>
          <a:xfrm>
            <a:off x="4297680" y="5029200"/>
            <a:ext cx="3566160" cy="1188720"/>
          </a:xfrm>
          <a:prstGeom prst="roundRect">
            <a:avLst>
              <a:gd name="adj" fmla="val 615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8" name="Callout value 2"/>
          <p:cNvSpPr txBox="1"/>
          <p:nvPr/>
        </p:nvSpPr>
        <p:spPr>
          <a:xfrm>
            <a:off x="4480560" y="5120640"/>
            <a:ext cx="128016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±0.01</a:t>
            </a:r>
            <a:endParaRPr lang="en-US" sz="2800" dirty="0"/>
          </a:p>
        </p:txBody>
      </p:sp>
      <p:sp>
        <p:nvSpPr>
          <p:cNvPr id="19" name="Callout text 2"/>
          <p:cNvSpPr txBox="1"/>
          <p:nvPr/>
        </p:nvSpPr>
        <p:spPr>
          <a:xfrm>
            <a:off x="5715000" y="5120640"/>
            <a:ext cx="2011680" cy="1005840"/>
          </a:xfrm>
          <a:prstGeom prst="rect">
            <a:avLst/>
          </a:prstGeom>
          <a:noFill/>
          <a:ln/>
        </p:spPr>
        <p:txBody>
          <a:bodyPr wrap="square" lIns="0" tIns="0" rIns="0" bIns="0" rtlCol="0" anchor="ctr"/>
          <a:lstStyle/>
          <a:p>
            <a:pPr indent="0" marL="0">
              <a:buNone/>
            </a:pPr>
            <a:r>
              <a:rPr lang="en-US" sz="1400" dirty="0">
                <a:solidFill>
                  <a:schemeClr val="tx1"/>
                </a:solidFill>
              </a:rPr>
              <a:t>log-point weekly seasonal swing: no calendar effect on a 24/7 market</a:t>
            </a:r>
            <a:endParaRPr lang="en-US" sz="1400" dirty="0"/>
          </a:p>
        </p:txBody>
      </p:sp>
      <p:sp>
        <p:nvSpPr>
          <p:cNvPr id="20" name="Callout card 3"/>
          <p:cNvSpPr/>
          <p:nvPr/>
        </p:nvSpPr>
        <p:spPr>
          <a:xfrm>
            <a:off x="8046720" y="5029200"/>
            <a:ext cx="3566160" cy="1188720"/>
          </a:xfrm>
          <a:prstGeom prst="roundRect">
            <a:avLst>
              <a:gd name="adj" fmla="val 615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1" name="Callout value 3"/>
          <p:cNvSpPr txBox="1"/>
          <p:nvPr/>
        </p:nvSpPr>
        <p:spPr>
          <a:xfrm>
            <a:off x="8229600" y="5120640"/>
            <a:ext cx="128016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0.82</a:t>
            </a:r>
            <a:endParaRPr lang="en-US" sz="2800" dirty="0"/>
          </a:p>
        </p:txBody>
      </p:sp>
      <p:sp>
        <p:nvSpPr>
          <p:cNvPr id="22" name="Callout text 3"/>
          <p:cNvSpPr txBox="1"/>
          <p:nvPr/>
        </p:nvSpPr>
        <p:spPr>
          <a:xfrm>
            <a:off x="9464040" y="5120640"/>
            <a:ext cx="2011680" cy="1005840"/>
          </a:xfrm>
          <a:prstGeom prst="rect">
            <a:avLst/>
          </a:prstGeom>
          <a:noFill/>
          <a:ln/>
        </p:spPr>
        <p:txBody>
          <a:bodyPr wrap="square" lIns="0" tIns="0" rIns="0" bIns="0" rtlCol="0" anchor="ctr"/>
          <a:lstStyle/>
          <a:p>
            <a:pPr indent="0" marL="0">
              <a:buNone/>
            </a:pPr>
            <a:r>
              <a:rPr lang="en-US" sz="1400" dirty="0">
                <a:solidFill>
                  <a:schemeClr val="tx1"/>
                </a:solidFill>
              </a:rPr>
              <a:t>BTC-ETH return correlation (BTC-BNB 0.67, ETH-BNB 0.70), yet no cointegration</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UNIVARIATE MODEL</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ARIMA and Residual Diagnostics</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An ARMA(1,1) with drift on Bitcoin returns leaves white-noise residuals but clustered volatility</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Khawla Hawari</a:t>
            </a:r>
            <a:endParaRPr lang="en-US" sz="1100" dirty="0"/>
          </a:p>
        </p:txBody>
      </p:sp>
      <p:sp>
        <p:nvSpPr>
          <p:cNvPr id="6" name="Model card"/>
          <p:cNvSpPr/>
          <p:nvPr/>
        </p:nvSpPr>
        <p:spPr>
          <a:xfrm>
            <a:off x="548640" y="1828800"/>
            <a:ext cx="5394960" cy="4389120"/>
          </a:xfrm>
          <a:prstGeom prst="roundRect">
            <a:avLst>
              <a:gd name="adj" fmla="val 1667"/>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7" name="Model title"/>
          <p:cNvSpPr txBox="1"/>
          <p:nvPr/>
        </p:nvSpPr>
        <p:spPr>
          <a:xfrm>
            <a:off x="777240" y="1965960"/>
            <a:ext cx="4937760" cy="320040"/>
          </a:xfrm>
          <a:prstGeom prst="rect">
            <a:avLst/>
          </a:prstGeom>
          <a:noFill/>
          <a:ln/>
        </p:spPr>
        <p:txBody>
          <a:bodyPr wrap="square" lIns="0" tIns="0" rIns="0" bIns="0" rtlCol="0" anchor="t"/>
          <a:lstStyle/>
          <a:p>
            <a:pPr indent="0" marL="0">
              <a:buNone/>
            </a:pPr>
            <a:r>
              <a:rPr lang="en-US" sz="1800" b="1" dirty="0">
                <a:solidFill>
                  <a:schemeClr val="tx1"/>
                </a:solidFill>
              </a:rPr>
              <a:t>ARMA(1,1) with constant</a:t>
            </a:r>
            <a:endParaRPr lang="en-US" sz="1800" dirty="0"/>
          </a:p>
        </p:txBody>
      </p:sp>
      <p:sp>
        <p:nvSpPr>
          <p:cNvPr id="8" name="Formula box"/>
          <p:cNvSpPr/>
          <p:nvPr/>
        </p:nvSpPr>
        <p:spPr>
          <a:xfrm>
            <a:off x="777240" y="2423160"/>
            <a:ext cx="4937760" cy="822960"/>
          </a:xfrm>
          <a:prstGeom prst="roundRect">
            <a:avLst>
              <a:gd name="adj" fmla="val 6667"/>
            </a:avLst>
          </a:prstGeom>
          <a:solidFill>
            <a:schemeClr val="bg2"/>
          </a:solidFill>
          <a:ln w="6350">
            <a:solidFill>
              <a:schemeClr val="bg2"/>
            </a:solidFill>
            <a:prstDash val="solid"/>
          </a:ln>
        </p:spPr>
        <p:txBody>
          <a:bodyPr/>
          <a:p/>
        </p:txBody>
      </p:sp>
      <p:sp>
        <p:nvSpPr>
          <p:cNvPr id="9" name="Formula"/>
          <p:cNvSpPr txBox="1"/>
          <p:nvPr/>
        </p:nvSpPr>
        <p:spPr>
          <a:xfrm>
            <a:off x="914400" y="2450592"/>
            <a:ext cx="4663440" cy="36576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r(t) = c + φ r(t-1) + θ ε(t-1) + ε(t)</a:t>
            </a:r>
            <a:endParaRPr lang="en-US" sz="1600" dirty="0"/>
          </a:p>
        </p:txBody>
      </p:sp>
      <p:sp>
        <p:nvSpPr>
          <p:cNvPr id="10" name="Formula note"/>
          <p:cNvSpPr txBox="1"/>
          <p:nvPr/>
        </p:nvSpPr>
        <p:spPr>
          <a:xfrm>
            <a:off x="914400" y="2834640"/>
            <a:ext cx="4663440" cy="320040"/>
          </a:xfrm>
          <a:prstGeom prst="rect">
            <a:avLst/>
          </a:prstGeom>
          <a:noFill/>
          <a:ln/>
        </p:spPr>
        <p:txBody>
          <a:bodyPr wrap="square" lIns="0" tIns="0" rIns="0" bIns="0" rtlCol="0" anchor="ctr"/>
          <a:lstStyle/>
          <a:p>
            <a:pPr indent="0" marL="0">
              <a:buNone/>
            </a:pPr>
            <a:r>
              <a:rPr lang="en-US" sz="1400" dirty="0">
                <a:solidFill>
                  <a:schemeClr val="accent4"/>
                </a:solidFill>
              </a:rPr>
              <a:t>Identical to ARIMA(1,1,1) with a linear drift on ln P(t)</a:t>
            </a:r>
            <a:endParaRPr lang="en-US" sz="1400" dirty="0"/>
          </a:p>
        </p:txBody>
      </p:sp>
      <p:graphicFrame>
        <p:nvGraphicFramePr>
          <p:cNvPr id="5" name="Parameter table"/>
          <p:cNvGraphicFramePr>
            <a:graphicFrameLocks noGrp="1"/>
          </p:cNvGraphicFramePr>
          <p:nvPr>
            <p:extLst>
              <p:ext uri="{D42A27DB-BD31-4B8C-83A1-F6EECF244321}">
                <p14:modId xmlns:p14="http://schemas.microsoft.com/office/powerpoint/2010/main" val="1579011935"/>
              </p:ext>
            </p:extLst>
          </p:nvPr>
        </p:nvGraphicFramePr>
        <p:xfrm>
          <a:off x="777240" y="3474720"/>
          <a:ext cx="4937760" cy="914400"/>
        </p:xfrm>
        <a:graphic>
          <a:graphicData uri="http://schemas.openxmlformats.org/drawingml/2006/table">
            <a:tbl>
              <a:tblPr/>
              <a:tblGrid>
                <a:gridCol w="1920240"/>
                <a:gridCol w="1920240"/>
                <a:gridCol w="1097280"/>
              </a:tblGrid>
              <a:tr h="347472">
                <a:tc>
                  <a:txBody>
                    <a:bodyPr/>
                    <a:lstStyle/>
                    <a:p>
                      <a:pPr algn="l" indent="0" marL="0">
                        <a:buNone/>
                      </a:pPr>
                      <a:r>
                        <a:rPr lang="en-US" sz="1300" b="1" dirty="0">
                          <a:solidFill>
                            <a:srgbClr val="FFFFFF"/>
                          </a:solidFill>
                        </a:rPr>
                        <a:t>Parameter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Estimate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c>
                  <a:txBody>
                    <a:bodyPr/>
                    <a:lstStyle/>
                    <a:p>
                      <a:pPr algn="ctr" indent="0" marL="0">
                        <a:buNone/>
                      </a:pPr>
                      <a:r>
                        <a:rPr lang="en-US" sz="1300" b="1" dirty="0">
                          <a:solidFill>
                            <a:srgbClr val="FFFFFF"/>
                          </a:solidFill>
                        </a:rPr>
                        <a:t>p-value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24505A"/>
                    </a:solidFill>
                  </a:tcPr>
                </a:tc>
              </a:tr>
              <a:tr h="347472">
                <a:tc>
                  <a:txBody>
                    <a:bodyPr/>
                    <a:lstStyle/>
                    <a:p>
                      <a:pPr algn="l" indent="0" marL="0">
                        <a:buNone/>
                      </a:pPr>
                      <a:r>
                        <a:rPr lang="en-US" sz="1300" dirty="0">
                          <a:solidFill>
                            <a:srgbClr val="13272D"/>
                          </a:solidFill>
                        </a:rPr>
                        <a:t>Drift c (per day)</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+0.0892%</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0.0304</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7472">
                <a:tc>
                  <a:txBody>
                    <a:bodyPr/>
                    <a:lstStyle/>
                    <a:p>
                      <a:pPr algn="l" indent="0" marL="0">
                        <a:buNone/>
                      </a:pPr>
                      <a:r>
                        <a:rPr lang="en-US" sz="1300" dirty="0">
                          <a:solidFill>
                            <a:srgbClr val="13272D"/>
                          </a:solidFill>
                        </a:rPr>
                        <a:t>AR coefficient φ</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-0.0500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0.0044</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7472">
                <a:tc>
                  <a:txBody>
                    <a:bodyPr/>
                    <a:lstStyle/>
                    <a:p>
                      <a:pPr algn="l" indent="0" marL="0">
                        <a:buNone/>
                      </a:pPr>
                      <a:r>
                        <a:rPr lang="en-US" sz="1300" dirty="0">
                          <a:solidFill>
                            <a:srgbClr val="13272D"/>
                          </a:solidFill>
                        </a:rPr>
                        <a:t>MA coefficient θ</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+0.0124</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0.621</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7472">
                <a:tc>
                  <a:txBody>
                    <a:bodyPr/>
                    <a:lstStyle/>
                    <a:p>
                      <a:pPr algn="l" indent="0" marL="0">
                        <a:buNone/>
                      </a:pPr>
                      <a:r>
                        <a:rPr lang="en-US" sz="1300" dirty="0">
                          <a:solidFill>
                            <a:srgbClr val="13272D"/>
                          </a:solidFill>
                        </a:rPr>
                        <a:t>Residual variance</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3272D"/>
                          </a:solidFill>
                        </a:rPr>
                        <a:t>10.78</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r h="347472">
                <a:tc>
                  <a:txBody>
                    <a:bodyPr/>
                    <a:lstStyle/>
                    <a:p>
                      <a:pPr algn="l" indent="0" marL="0">
                        <a:buNone/>
                      </a:pPr>
                      <a:r>
                        <a:rPr lang="en-US" sz="1300" dirty="0">
                          <a:solidFill>
                            <a:srgbClr val="13272D"/>
                          </a:solidFill>
                        </a:rPr>
                        <a:t>AIC / BIC</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r>
                        <a:rPr lang="en-US" sz="1200" dirty="0">
                          <a:solidFill>
                            <a:srgbClr val="13272D"/>
                          </a:solidFill>
                        </a:rPr>
                        <a:t>13,159.55 / 13,182.88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EDD"/>
                      </a:solidFill>
                      <a:prstDash val="solid"/>
                      <a:round/>
                      <a:headEnd type="none" w="med" len="med"/>
                      <a:tailEnd type="none" w="med" len="med"/>
                    </a:lnB>
                  </a:tcPr>
                </a:tc>
              </a:tr>
            </a:tbl>
          </a:graphicData>
        </a:graphic>
      </p:graphicFrame>
      <p:sp>
        <p:nvSpPr>
          <p:cNvPr id="12" name="Model note"/>
          <p:cNvSpPr txBox="1"/>
          <p:nvPr/>
        </p:nvSpPr>
        <p:spPr>
          <a:xfrm>
            <a:off x="777240" y="5669280"/>
            <a:ext cx="4937760" cy="457200"/>
          </a:xfrm>
          <a:prstGeom prst="rect">
            <a:avLst/>
          </a:prstGeom>
          <a:noFill/>
          <a:ln/>
        </p:spPr>
        <p:txBody>
          <a:bodyPr wrap="square" lIns="0" tIns="0" rIns="0" bIns="0" rtlCol="0" anchor="t"/>
          <a:lstStyle/>
          <a:p>
            <a:pPr indent="0" marL="0">
              <a:buNone/>
            </a:pPr>
            <a:r>
              <a:rPr lang="en-US" sz="1200" dirty="0">
                <a:solidFill>
                  <a:schemeClr val="accent4"/>
                </a:solidFill>
              </a:rPr>
              <a:t>2,522 Bitcoin returns, 2019 to 2025. The drift and the AR term are significant at 5%; the MA term is not.</a:t>
            </a:r>
            <a:endParaRPr lang="en-US" sz="1200" dirty="0"/>
          </a:p>
        </p:txBody>
      </p:sp>
      <p:sp>
        <p:nvSpPr>
          <p:cNvPr id="13" name="Diagnostic card 1"/>
          <p:cNvSpPr/>
          <p:nvPr/>
        </p:nvSpPr>
        <p:spPr>
          <a:xfrm>
            <a:off x="6217920" y="1828800"/>
            <a:ext cx="5394960" cy="1371600"/>
          </a:xfrm>
          <a:prstGeom prst="roundRect">
            <a:avLst>
              <a:gd name="adj" fmla="val 5333"/>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4" name="Status dot 1"/>
          <p:cNvSpPr/>
          <p:nvPr/>
        </p:nvSpPr>
        <p:spPr>
          <a:xfrm>
            <a:off x="6446520" y="2011680"/>
            <a:ext cx="274320" cy="274320"/>
          </a:xfrm>
          <a:prstGeom prst="ellipse">
            <a:avLst/>
          </a:prstGeom>
          <a:solidFill>
            <a:schemeClr val="accent1"/>
          </a:solidFill>
          <a:ln w="6350">
            <a:solidFill>
              <a:schemeClr val="accent1"/>
            </a:solidFill>
            <a:prstDash val="solid"/>
          </a:ln>
        </p:spPr>
        <p:txBody>
          <a:bodyPr/>
          <a:p/>
        </p:txBody>
      </p:sp>
      <p:sp>
        <p:nvSpPr>
          <p:cNvPr id="15" name="Test name 1"/>
          <p:cNvSpPr txBox="1"/>
          <p:nvPr/>
        </p:nvSpPr>
        <p:spPr>
          <a:xfrm>
            <a:off x="6903720" y="1965960"/>
            <a:ext cx="2377440" cy="365760"/>
          </a:xfrm>
          <a:prstGeom prst="rect">
            <a:avLst/>
          </a:prstGeom>
          <a:noFill/>
          <a:ln/>
        </p:spPr>
        <p:txBody>
          <a:bodyPr wrap="square" lIns="0" tIns="0" rIns="0" bIns="0" rtlCol="0" anchor="ctr"/>
          <a:lstStyle/>
          <a:p>
            <a:pPr indent="0" marL="0">
              <a:buNone/>
            </a:pPr>
            <a:r>
              <a:rPr lang="en-US" sz="1800" b="1" dirty="0">
                <a:solidFill>
                  <a:schemeClr val="tx1"/>
                </a:solidFill>
              </a:rPr>
              <a:t>Ljung-Box, lag 7</a:t>
            </a:r>
            <a:endParaRPr lang="en-US" sz="1800" dirty="0"/>
          </a:p>
        </p:txBody>
      </p:sp>
      <p:sp>
        <p:nvSpPr>
          <p:cNvPr id="16" name="Test stat 1"/>
          <p:cNvSpPr txBox="1"/>
          <p:nvPr/>
        </p:nvSpPr>
        <p:spPr>
          <a:xfrm>
            <a:off x="9052560" y="1965960"/>
            <a:ext cx="2377440" cy="365760"/>
          </a:xfrm>
          <a:prstGeom prst="rect">
            <a:avLst/>
          </a:prstGeom>
          <a:noFill/>
          <a:ln/>
        </p:spPr>
        <p:txBody>
          <a:bodyPr wrap="square" lIns="0" tIns="0" rIns="0" bIns="0" rtlCol="0" anchor="ctr"/>
          <a:lstStyle/>
          <a:p>
            <a:pPr algn="r" indent="0" marL="0">
              <a:buNone/>
            </a:pPr>
            <a:r>
              <a:rPr lang="en-US" sz="1400" b="1" dirty="0">
                <a:solidFill>
                  <a:schemeClr val="accent1"/>
                </a:solidFill>
              </a:rPr>
              <a:t>Q = 9.82   p = 0.198</a:t>
            </a:r>
            <a:endParaRPr lang="en-US" sz="1400" dirty="0"/>
          </a:p>
        </p:txBody>
      </p:sp>
      <p:sp>
        <p:nvSpPr>
          <p:cNvPr id="17" name="Test reading 1"/>
          <p:cNvSpPr txBox="1"/>
          <p:nvPr/>
        </p:nvSpPr>
        <p:spPr>
          <a:xfrm>
            <a:off x="6903720" y="2423160"/>
            <a:ext cx="4526280" cy="685800"/>
          </a:xfrm>
          <a:prstGeom prst="rect">
            <a:avLst/>
          </a:prstGeom>
          <a:noFill/>
          <a:ln/>
        </p:spPr>
        <p:txBody>
          <a:bodyPr wrap="square" lIns="0" tIns="0" rIns="0" bIns="0" rtlCol="0" anchor="t"/>
          <a:lstStyle/>
          <a:p>
            <a:pPr indent="0" marL="0">
              <a:buNone/>
            </a:pPr>
            <a:r>
              <a:rPr lang="en-US" sz="1400" dirty="0">
                <a:solidFill>
                  <a:schemeClr val="tx1"/>
                </a:solidFill>
              </a:rPr>
              <a:t>No linear autocorrelation left: the residuals behave as weak white noise.</a:t>
            </a:r>
            <a:endParaRPr lang="en-US" sz="1400" dirty="0"/>
          </a:p>
        </p:txBody>
      </p:sp>
      <p:sp>
        <p:nvSpPr>
          <p:cNvPr id="18" name="Diagnostic card 2"/>
          <p:cNvSpPr/>
          <p:nvPr/>
        </p:nvSpPr>
        <p:spPr>
          <a:xfrm>
            <a:off x="6217920" y="3337560"/>
            <a:ext cx="5394960" cy="1371600"/>
          </a:xfrm>
          <a:prstGeom prst="roundRect">
            <a:avLst>
              <a:gd name="adj" fmla="val 5333"/>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9" name="Status dot 2"/>
          <p:cNvSpPr/>
          <p:nvPr/>
        </p:nvSpPr>
        <p:spPr>
          <a:xfrm>
            <a:off x="6446520" y="3520440"/>
            <a:ext cx="274320" cy="274320"/>
          </a:xfrm>
          <a:prstGeom prst="ellipse">
            <a:avLst/>
          </a:prstGeom>
          <a:solidFill>
            <a:schemeClr val="accent2"/>
          </a:solidFill>
          <a:ln w="6350">
            <a:solidFill>
              <a:schemeClr val="accent2"/>
            </a:solidFill>
            <a:prstDash val="solid"/>
          </a:ln>
        </p:spPr>
        <p:txBody>
          <a:bodyPr/>
          <a:p/>
        </p:txBody>
      </p:sp>
      <p:sp>
        <p:nvSpPr>
          <p:cNvPr id="20" name="Test name 2"/>
          <p:cNvSpPr txBox="1"/>
          <p:nvPr/>
        </p:nvSpPr>
        <p:spPr>
          <a:xfrm>
            <a:off x="6903720" y="3474720"/>
            <a:ext cx="2377440" cy="365760"/>
          </a:xfrm>
          <a:prstGeom prst="rect">
            <a:avLst/>
          </a:prstGeom>
          <a:noFill/>
          <a:ln/>
        </p:spPr>
        <p:txBody>
          <a:bodyPr wrap="square" lIns="0" tIns="0" rIns="0" bIns="0" rtlCol="0" anchor="ctr"/>
          <a:lstStyle/>
          <a:p>
            <a:pPr indent="0" marL="0">
              <a:buNone/>
            </a:pPr>
            <a:r>
              <a:rPr lang="en-US" sz="1800" b="1" dirty="0">
                <a:solidFill>
                  <a:schemeClr val="tx1"/>
                </a:solidFill>
              </a:rPr>
              <a:t>Jarque-Bera</a:t>
            </a:r>
            <a:endParaRPr lang="en-US" sz="1800" dirty="0"/>
          </a:p>
        </p:txBody>
      </p:sp>
      <p:sp>
        <p:nvSpPr>
          <p:cNvPr id="21" name="Test stat 2"/>
          <p:cNvSpPr txBox="1"/>
          <p:nvPr/>
        </p:nvSpPr>
        <p:spPr>
          <a:xfrm>
            <a:off x="9052560" y="3474720"/>
            <a:ext cx="2377440" cy="365760"/>
          </a:xfrm>
          <a:prstGeom prst="rect">
            <a:avLst/>
          </a:prstGeom>
          <a:noFill/>
          <a:ln/>
        </p:spPr>
        <p:txBody>
          <a:bodyPr wrap="square" lIns="0" tIns="0" rIns="0" bIns="0" rtlCol="0" anchor="ctr"/>
          <a:lstStyle/>
          <a:p>
            <a:pPr algn="r" indent="0" marL="0">
              <a:buNone/>
            </a:pPr>
            <a:r>
              <a:rPr lang="en-US" sz="1400" b="1" dirty="0">
                <a:solidFill>
                  <a:schemeClr val="accent2"/>
                </a:solidFill>
              </a:rPr>
              <a:t>JB = 38,272   p &lt; 1e-16</a:t>
            </a:r>
            <a:endParaRPr lang="en-US" sz="1400" dirty="0"/>
          </a:p>
        </p:txBody>
      </p:sp>
      <p:sp>
        <p:nvSpPr>
          <p:cNvPr id="22" name="Test reading 2"/>
          <p:cNvSpPr txBox="1"/>
          <p:nvPr/>
        </p:nvSpPr>
        <p:spPr>
          <a:xfrm>
            <a:off x="6903720" y="3931920"/>
            <a:ext cx="4526280" cy="685800"/>
          </a:xfrm>
          <a:prstGeom prst="rect">
            <a:avLst/>
          </a:prstGeom>
          <a:noFill/>
          <a:ln/>
        </p:spPr>
        <p:txBody>
          <a:bodyPr wrap="square" lIns="0" tIns="0" rIns="0" bIns="0" rtlCol="0" anchor="t"/>
          <a:lstStyle/>
          <a:p>
            <a:pPr indent="0" marL="0">
              <a:buNone/>
            </a:pPr>
            <a:r>
              <a:rPr lang="en-US" sz="1400" dirty="0">
                <a:solidFill>
                  <a:schemeClr val="tx1"/>
                </a:solidFill>
              </a:rPr>
              <a:t>Residuals are not Normal: extreme shocks and fat tails.</a:t>
            </a:r>
            <a:endParaRPr lang="en-US" sz="1400" dirty="0"/>
          </a:p>
        </p:txBody>
      </p:sp>
      <p:sp>
        <p:nvSpPr>
          <p:cNvPr id="23" name="Diagnostic card 3"/>
          <p:cNvSpPr/>
          <p:nvPr/>
        </p:nvSpPr>
        <p:spPr>
          <a:xfrm>
            <a:off x="6217920" y="4846320"/>
            <a:ext cx="5394960" cy="1371600"/>
          </a:xfrm>
          <a:prstGeom prst="roundRect">
            <a:avLst>
              <a:gd name="adj" fmla="val 5333"/>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4" name="Status dot 3"/>
          <p:cNvSpPr/>
          <p:nvPr/>
        </p:nvSpPr>
        <p:spPr>
          <a:xfrm>
            <a:off x="6446520" y="5029200"/>
            <a:ext cx="274320" cy="274320"/>
          </a:xfrm>
          <a:prstGeom prst="ellipse">
            <a:avLst/>
          </a:prstGeom>
          <a:solidFill>
            <a:schemeClr val="accent2"/>
          </a:solidFill>
          <a:ln w="6350">
            <a:solidFill>
              <a:schemeClr val="accent2"/>
            </a:solidFill>
            <a:prstDash val="solid"/>
          </a:ln>
        </p:spPr>
        <p:txBody>
          <a:bodyPr/>
          <a:p/>
        </p:txBody>
      </p:sp>
      <p:sp>
        <p:nvSpPr>
          <p:cNvPr id="25" name="Test name 3"/>
          <p:cNvSpPr txBox="1"/>
          <p:nvPr/>
        </p:nvSpPr>
        <p:spPr>
          <a:xfrm>
            <a:off x="6903720" y="4983480"/>
            <a:ext cx="2377440" cy="365760"/>
          </a:xfrm>
          <a:prstGeom prst="rect">
            <a:avLst/>
          </a:prstGeom>
          <a:noFill/>
          <a:ln/>
        </p:spPr>
        <p:txBody>
          <a:bodyPr wrap="square" lIns="0" tIns="0" rIns="0" bIns="0" rtlCol="0" anchor="ctr"/>
          <a:lstStyle/>
          <a:p>
            <a:pPr indent="0" marL="0">
              <a:buNone/>
            </a:pPr>
            <a:r>
              <a:rPr lang="en-US" sz="1800" b="1" dirty="0">
                <a:solidFill>
                  <a:schemeClr val="tx1"/>
                </a:solidFill>
              </a:rPr>
              <a:t>Engle ARCH-LM</a:t>
            </a:r>
            <a:endParaRPr lang="en-US" sz="1800" dirty="0"/>
          </a:p>
        </p:txBody>
      </p:sp>
      <p:sp>
        <p:nvSpPr>
          <p:cNvPr id="26" name="Test stat 3"/>
          <p:cNvSpPr txBox="1"/>
          <p:nvPr/>
        </p:nvSpPr>
        <p:spPr>
          <a:xfrm>
            <a:off x="9052560" y="4983480"/>
            <a:ext cx="2377440" cy="365760"/>
          </a:xfrm>
          <a:prstGeom prst="rect">
            <a:avLst/>
          </a:prstGeom>
          <a:noFill/>
          <a:ln/>
        </p:spPr>
        <p:txBody>
          <a:bodyPr wrap="square" lIns="0" tIns="0" rIns="0" bIns="0" rtlCol="0" anchor="ctr"/>
          <a:lstStyle/>
          <a:p>
            <a:pPr algn="r" indent="0" marL="0">
              <a:buNone/>
            </a:pPr>
            <a:r>
              <a:rPr lang="en-US" sz="1400" b="1" dirty="0">
                <a:solidFill>
                  <a:schemeClr val="accent2"/>
                </a:solidFill>
              </a:rPr>
              <a:t>LM = 124.5   p &lt; 1e-16</a:t>
            </a:r>
            <a:endParaRPr lang="en-US" sz="1400" dirty="0"/>
          </a:p>
        </p:txBody>
      </p:sp>
      <p:sp>
        <p:nvSpPr>
          <p:cNvPr id="27" name="Test reading 3"/>
          <p:cNvSpPr txBox="1"/>
          <p:nvPr/>
        </p:nvSpPr>
        <p:spPr>
          <a:xfrm>
            <a:off x="6903720" y="5440680"/>
            <a:ext cx="4526280" cy="685800"/>
          </a:xfrm>
          <a:prstGeom prst="rect">
            <a:avLst/>
          </a:prstGeom>
          <a:noFill/>
          <a:ln/>
        </p:spPr>
        <p:txBody>
          <a:bodyPr wrap="square" lIns="0" tIns="0" rIns="0" bIns="0" rtlCol="0" anchor="t"/>
          <a:lstStyle/>
          <a:p>
            <a:pPr indent="0" marL="0">
              <a:buNone/>
            </a:pPr>
            <a:r>
              <a:rPr lang="en-US" sz="1400" dirty="0">
                <a:solidFill>
                  <a:schemeClr val="tx1"/>
                </a:solidFill>
              </a:rPr>
              <a:t>Squared residuals are strongly dependent: volatility clustering, which motivates GARCH.</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5</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MULTIVARIATE SYSTEM</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VAR, Granger and Johansen</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Return transmission exists, but there is no long-run equilibrium between the three prices</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t>Presented by Amine Benfadhel</a:t>
            </a:r>
            <a:endParaRPr lang="en-US" sz="1100" dirty="0"/>
          </a:p>
        </p:txBody>
      </p:sp>
      <p:sp>
        <p:nvSpPr>
          <p:cNvPr id="6" name="Column card 1"/>
          <p:cNvSpPr/>
          <p:nvPr/>
        </p:nvSpPr>
        <p:spPr>
          <a:xfrm>
            <a:off x="548640" y="1828800"/>
            <a:ext cx="3383280" cy="4389120"/>
          </a:xfrm>
          <a:prstGeom prst="roundRect">
            <a:avLst>
              <a:gd name="adj" fmla="val 2162"/>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7" name="Column card 2"/>
          <p:cNvSpPr/>
          <p:nvPr/>
        </p:nvSpPr>
        <p:spPr>
          <a:xfrm>
            <a:off x="4389120" y="1828800"/>
            <a:ext cx="3383280" cy="4389120"/>
          </a:xfrm>
          <a:prstGeom prst="roundRect">
            <a:avLst>
              <a:gd name="adj" fmla="val 2162"/>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8" name="Column card 3"/>
          <p:cNvSpPr/>
          <p:nvPr/>
        </p:nvSpPr>
        <p:spPr>
          <a:xfrm>
            <a:off x="8229600" y="1828800"/>
            <a:ext cx="3383280" cy="4389120"/>
          </a:xfrm>
          <a:prstGeom prst="roundRect">
            <a:avLst>
              <a:gd name="adj" fmla="val 2162"/>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9" name="VAR title"/>
          <p:cNvSpPr txBox="1"/>
          <p:nvPr/>
        </p:nvSpPr>
        <p:spPr>
          <a:xfrm>
            <a:off x="731520" y="1965960"/>
            <a:ext cx="3017520" cy="320040"/>
          </a:xfrm>
          <a:prstGeom prst="rect">
            <a:avLst/>
          </a:prstGeom>
          <a:noFill/>
          <a:ln/>
        </p:spPr>
        <p:txBody>
          <a:bodyPr wrap="square" lIns="0" tIns="0" rIns="0" bIns="0" rtlCol="0" anchor="t"/>
          <a:lstStyle/>
          <a:p>
            <a:pPr indent="0" marL="0">
              <a:buNone/>
            </a:pPr>
            <a:r>
              <a:rPr lang="en-US" sz="1800" b="1" dirty="0">
                <a:solidFill>
                  <a:schemeClr val="tx1"/>
                </a:solidFill>
              </a:rPr>
              <a:t>VAR(5) on returns</a:t>
            </a:r>
            <a:endParaRPr lang="en-US" sz="1800" dirty="0"/>
          </a:p>
        </p:txBody>
      </p:sp>
      <p:sp>
        <p:nvSpPr>
          <p:cNvPr id="10" name="VAR formula box"/>
          <p:cNvSpPr/>
          <p:nvPr/>
        </p:nvSpPr>
        <p:spPr>
          <a:xfrm>
            <a:off x="731520" y="2423160"/>
            <a:ext cx="3017520" cy="777240"/>
          </a:xfrm>
          <a:prstGeom prst="roundRect">
            <a:avLst>
              <a:gd name="adj" fmla="val 7059"/>
            </a:avLst>
          </a:prstGeom>
          <a:solidFill>
            <a:schemeClr val="bg2"/>
          </a:solidFill>
          <a:ln w="6350">
            <a:solidFill>
              <a:schemeClr val="bg2"/>
            </a:solidFill>
            <a:prstDash val="solid"/>
          </a:ln>
        </p:spPr>
        <p:txBody>
          <a:bodyPr/>
          <a:p/>
        </p:txBody>
      </p:sp>
      <p:sp>
        <p:nvSpPr>
          <p:cNvPr id="11" name="VAR formula"/>
          <p:cNvSpPr txBox="1"/>
          <p:nvPr/>
        </p:nvSpPr>
        <p:spPr>
          <a:xfrm>
            <a:off x="841248" y="2450592"/>
            <a:ext cx="2798064" cy="731520"/>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Y(t) = c + Σ A(j) Y(t-j) + U(t),  j = 1 to 5</a:t>
            </a:r>
            <a:endParaRPr lang="en-US" sz="1400" dirty="0"/>
          </a:p>
        </p:txBody>
      </p:sp>
      <p:sp>
        <p:nvSpPr>
          <p:cNvPr id="12" name="VAR bullets"/>
          <p:cNvSpPr txBox="1"/>
          <p:nvPr/>
        </p:nvSpPr>
        <p:spPr>
          <a:xfrm>
            <a:off x="731520" y="3429000"/>
            <a:ext cx="3017520" cy="15544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Y(t) stacks the I(0) log-returns of BTC, ETH and BNB</a:t>
            </a:r>
            <a:endParaRPr lang="en-US" sz="1400" dirty="0"/>
          </a:p>
          <a:p>
            <a:pPr marL="177800" indent="-177800">
              <a:spcAft>
                <a:spcPts val="800"/>
              </a:spcAft>
              <a:buSzPct val="100000"/>
              <a:buChar char="•"/>
            </a:pPr>
            <a:r>
              <a:rPr lang="en-US" sz="1400" dirty="0">
                <a:solidFill>
                  <a:schemeClr val="tx1"/>
                </a:solidFill>
              </a:rPr>
              <a:t>AIC selects 5 daily lags (BIC and HQIC select 1)</a:t>
            </a:r>
            <a:endParaRPr lang="en-US" sz="1400" dirty="0"/>
          </a:p>
          <a:p>
            <a:pPr marL="177800" indent="-177800">
              <a:spcAft>
                <a:spcPts val="800"/>
              </a:spcAft>
              <a:buSzPct val="100000"/>
              <a:buChar char="•"/>
            </a:pPr>
            <a:r>
              <a:rPr lang="en-US" sz="1400" dirty="0">
                <a:solidFill>
                  <a:schemeClr val="tx1"/>
                </a:solidFill>
              </a:rPr>
              <a:t>Estimated on the train sample only</a:t>
            </a:r>
            <a:endParaRPr lang="en-US" sz="1400" dirty="0"/>
          </a:p>
        </p:txBody>
      </p:sp>
      <p:sp>
        <p:nvSpPr>
          <p:cNvPr id="13" name="VAR lag value"/>
          <p:cNvSpPr txBox="1"/>
          <p:nvPr/>
        </p:nvSpPr>
        <p:spPr>
          <a:xfrm>
            <a:off x="731520" y="5166360"/>
            <a:ext cx="1371600" cy="7315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 lags</a:t>
            </a:r>
            <a:endParaRPr lang="en-US" sz="2800" dirty="0"/>
          </a:p>
        </p:txBody>
      </p:sp>
      <p:sp>
        <p:nvSpPr>
          <p:cNvPr id="14" name="VAR lag label"/>
          <p:cNvSpPr txBox="1"/>
          <p:nvPr/>
        </p:nvSpPr>
        <p:spPr>
          <a:xfrm>
            <a:off x="2194560" y="5166360"/>
            <a:ext cx="1554480" cy="731520"/>
          </a:xfrm>
          <a:prstGeom prst="rect">
            <a:avLst/>
          </a:prstGeom>
          <a:noFill/>
          <a:ln/>
        </p:spPr>
        <p:txBody>
          <a:bodyPr wrap="square" lIns="0" tIns="0" rIns="0" bIns="0" rtlCol="0" anchor="ctr"/>
          <a:lstStyle/>
          <a:p>
            <a:pPr indent="0" marL="0">
              <a:buNone/>
            </a:pPr>
            <a:r>
              <a:rPr lang="en-US" sz="1400" dirty="0">
                <a:solidFill>
                  <a:schemeClr val="tx1"/>
                </a:solidFill>
              </a:rPr>
              <a:t>selected by AIC (14.28)</a:t>
            </a:r>
            <a:endParaRPr lang="en-US" sz="1400" dirty="0"/>
          </a:p>
        </p:txBody>
      </p:sp>
      <p:sp>
        <p:nvSpPr>
          <p:cNvPr id="15" name="Granger title"/>
          <p:cNvSpPr txBox="1"/>
          <p:nvPr/>
        </p:nvSpPr>
        <p:spPr>
          <a:xfrm>
            <a:off x="4572000" y="1965960"/>
            <a:ext cx="3017520" cy="320040"/>
          </a:xfrm>
          <a:prstGeom prst="rect">
            <a:avLst/>
          </a:prstGeom>
          <a:noFill/>
          <a:ln/>
        </p:spPr>
        <p:txBody>
          <a:bodyPr wrap="square" lIns="0" tIns="0" rIns="0" bIns="0" rtlCol="0" anchor="t"/>
          <a:lstStyle/>
          <a:p>
            <a:pPr indent="0" marL="0">
              <a:buNone/>
            </a:pPr>
            <a:r>
              <a:rPr lang="en-US" sz="1800" b="1" dirty="0">
                <a:solidFill>
                  <a:schemeClr val="tx1"/>
                </a:solidFill>
              </a:rPr>
              <a:t>Granger precedence</a:t>
            </a:r>
            <a:endParaRPr lang="en-US" sz="1800" dirty="0"/>
          </a:p>
        </p:txBody>
      </p:sp>
      <p:sp>
        <p:nvSpPr>
          <p:cNvPr id="16" name="Node BTC"/>
          <p:cNvSpPr/>
          <p:nvPr/>
        </p:nvSpPr>
        <p:spPr>
          <a:xfrm>
            <a:off x="4617720" y="2606040"/>
            <a:ext cx="868680" cy="868680"/>
          </a:xfrm>
          <a:prstGeom prst="ellipse">
            <a:avLst/>
          </a:prstGeom>
          <a:solidFill>
            <a:schemeClr val="accent1"/>
          </a:solidFill>
          <a:ln w="6350">
            <a:solidFill>
              <a:schemeClr val="accent1"/>
            </a:solidFill>
            <a:prstDash val="solid"/>
          </a:ln>
        </p:spPr>
        <p:txBody>
          <a:bodyPr/>
          <a:p/>
        </p:txBody>
      </p:sp>
      <p:sp>
        <p:nvSpPr>
          <p:cNvPr id="17" name="Node BTC label"/>
          <p:cNvSpPr txBox="1"/>
          <p:nvPr/>
        </p:nvSpPr>
        <p:spPr>
          <a:xfrm>
            <a:off x="4617720" y="2606040"/>
            <a:ext cx="868680" cy="868680"/>
          </a:xfrm>
          <a:prstGeom prst="rect">
            <a:avLst/>
          </a:prstGeom>
          <a:noFill/>
          <a:ln/>
        </p:spPr>
        <p:txBody>
          <a:bodyPr wrap="square" lIns="0" tIns="0" rIns="0" bIns="0" rtlCol="0" anchor="ctr"/>
          <a:lstStyle/>
          <a:p>
            <a:pPr algn="ctr" indent="0" marL="0">
              <a:buNone/>
            </a:pPr>
            <a:r>
              <a:rPr lang="en-US" sz="1600" b="1" dirty="0">
                <a:solidFill>
                  <a:schemeClr val="bg1"/>
                </a:solidFill>
              </a:rPr>
              <a:t>BTC</a:t>
            </a:r>
            <a:endParaRPr lang="en-US" sz="1600" dirty="0"/>
          </a:p>
        </p:txBody>
      </p:sp>
      <p:sp>
        <p:nvSpPr>
          <p:cNvPr id="18" name="Node ETH"/>
          <p:cNvSpPr/>
          <p:nvPr/>
        </p:nvSpPr>
        <p:spPr>
          <a:xfrm>
            <a:off x="6583680" y="2606040"/>
            <a:ext cx="868680" cy="868680"/>
          </a:xfrm>
          <a:prstGeom prst="ellipse">
            <a:avLst/>
          </a:prstGeom>
          <a:solidFill>
            <a:schemeClr val="accent1"/>
          </a:solidFill>
          <a:ln w="6350">
            <a:solidFill>
              <a:schemeClr val="accent1"/>
            </a:solidFill>
            <a:prstDash val="solid"/>
          </a:ln>
        </p:spPr>
        <p:txBody>
          <a:bodyPr/>
          <a:p/>
        </p:txBody>
      </p:sp>
      <p:sp>
        <p:nvSpPr>
          <p:cNvPr id="19" name="Node ETH label"/>
          <p:cNvSpPr txBox="1"/>
          <p:nvPr/>
        </p:nvSpPr>
        <p:spPr>
          <a:xfrm>
            <a:off x="6583680" y="2606040"/>
            <a:ext cx="868680" cy="868680"/>
          </a:xfrm>
          <a:prstGeom prst="rect">
            <a:avLst/>
          </a:prstGeom>
          <a:noFill/>
          <a:ln/>
        </p:spPr>
        <p:txBody>
          <a:bodyPr wrap="square" lIns="0" tIns="0" rIns="0" bIns="0" rtlCol="0" anchor="ctr"/>
          <a:lstStyle/>
          <a:p>
            <a:pPr algn="ctr" indent="0" marL="0">
              <a:buNone/>
            </a:pPr>
            <a:r>
              <a:rPr lang="en-US" sz="1600" b="1" dirty="0">
                <a:solidFill>
                  <a:schemeClr val="bg1"/>
                </a:solidFill>
              </a:rPr>
              <a:t>ETH</a:t>
            </a:r>
            <a:endParaRPr lang="en-US" sz="1600" dirty="0"/>
          </a:p>
        </p:txBody>
      </p:sp>
      <p:sp>
        <p:nvSpPr>
          <p:cNvPr id="20" name="Node BNB"/>
          <p:cNvSpPr/>
          <p:nvPr/>
        </p:nvSpPr>
        <p:spPr>
          <a:xfrm>
            <a:off x="5596128" y="4160520"/>
            <a:ext cx="868680" cy="868680"/>
          </a:xfrm>
          <a:prstGeom prst="ellipse">
            <a:avLst/>
          </a:prstGeom>
          <a:solidFill>
            <a:schemeClr val="accent1"/>
          </a:solidFill>
          <a:ln w="6350">
            <a:solidFill>
              <a:schemeClr val="accent1"/>
            </a:solidFill>
            <a:prstDash val="solid"/>
          </a:ln>
        </p:spPr>
        <p:txBody>
          <a:bodyPr/>
          <a:p/>
        </p:txBody>
      </p:sp>
      <p:sp>
        <p:nvSpPr>
          <p:cNvPr id="21" name="Node BNB label"/>
          <p:cNvSpPr txBox="1"/>
          <p:nvPr/>
        </p:nvSpPr>
        <p:spPr>
          <a:xfrm>
            <a:off x="5596128" y="4160520"/>
            <a:ext cx="868680" cy="868680"/>
          </a:xfrm>
          <a:prstGeom prst="rect">
            <a:avLst/>
          </a:prstGeom>
          <a:noFill/>
          <a:ln/>
        </p:spPr>
        <p:txBody>
          <a:bodyPr wrap="square" lIns="0" tIns="0" rIns="0" bIns="0" rtlCol="0" anchor="ctr"/>
          <a:lstStyle/>
          <a:p>
            <a:pPr algn="ctr" indent="0" marL="0">
              <a:buNone/>
            </a:pPr>
            <a:r>
              <a:rPr lang="en-US" sz="1600" b="1" dirty="0">
                <a:solidFill>
                  <a:schemeClr val="bg1"/>
                </a:solidFill>
              </a:rPr>
              <a:t>BNB</a:t>
            </a:r>
            <a:endParaRPr lang="en-US" sz="1600" dirty="0"/>
          </a:p>
        </p:txBody>
      </p:sp>
      <p:sp>
        <p:nvSpPr>
          <p:cNvPr id="22" name="Arrow BTC-ETH"/>
          <p:cNvSpPr/>
          <p:nvPr/>
        </p:nvSpPr>
        <p:spPr>
          <a:xfrm>
            <a:off x="5532120" y="3040380"/>
            <a:ext cx="1005840" cy="0"/>
          </a:xfrm>
          <a:prstGeom prst="line">
            <a:avLst/>
          </a:prstGeom>
          <a:noFill/>
          <a:ln w="25400">
            <a:solidFill>
              <a:schemeClr val="accent2"/>
            </a:solidFill>
            <a:prstDash val="solid"/>
            <a:headEnd type="triangle"/>
            <a:tailEnd type="triangle"/>
          </a:ln>
        </p:spPr>
        <p:txBody>
          <a:bodyPr/>
          <a:p/>
        </p:txBody>
      </p:sp>
      <p:sp>
        <p:nvSpPr>
          <p:cNvPr id="23" name="Arrow ETH-BNB"/>
          <p:cNvSpPr/>
          <p:nvPr/>
        </p:nvSpPr>
        <p:spPr>
          <a:xfrm flipH="1">
            <a:off x="6334506" y="3370478"/>
            <a:ext cx="379476" cy="894283"/>
          </a:xfrm>
          <a:prstGeom prst="line">
            <a:avLst/>
          </a:prstGeom>
          <a:noFill/>
          <a:ln w="25400">
            <a:solidFill>
              <a:schemeClr val="accent2"/>
            </a:solidFill>
            <a:prstDash val="solid"/>
            <a:tailEnd type="triangle"/>
          </a:ln>
        </p:spPr>
        <p:txBody>
          <a:bodyPr/>
          <a:p/>
        </p:txBody>
      </p:sp>
      <p:sp>
        <p:nvSpPr>
          <p:cNvPr id="24" name="Label BTC-ETH"/>
          <p:cNvSpPr txBox="1"/>
          <p:nvPr/>
        </p:nvSpPr>
        <p:spPr>
          <a:xfrm>
            <a:off x="4480560" y="3547872"/>
            <a:ext cx="2194560" cy="502920"/>
          </a:xfrm>
          <a:prstGeom prst="rect">
            <a:avLst/>
          </a:prstGeom>
          <a:noFill/>
          <a:ln/>
        </p:spPr>
        <p:txBody>
          <a:bodyPr wrap="square" lIns="0" tIns="0" rIns="0" bIns="0" rtlCol="0" anchor="t"/>
          <a:lstStyle/>
          <a:p>
            <a:pPr algn="ctr" indent="0" marL="0">
              <a:buNone/>
            </a:pPr>
            <a:r>
              <a:rPr lang="en-US" sz="1200" dirty="0">
                <a:solidFill>
                  <a:schemeClr val="accent4"/>
                </a:solidFill>
              </a:rPr>
              <a:t>ETH to BTC  p = 0.0033</a:t>
            </a:r>
            <a:endParaRPr lang="en-US" sz="1200" dirty="0"/>
          </a:p>
          <a:p>
            <a:pPr algn="ctr" indent="0" marL="0">
              <a:buNone/>
            </a:pPr>
            <a:r>
              <a:rPr lang="en-US" sz="1200" dirty="0">
                <a:solidFill>
                  <a:schemeClr val="accent4"/>
                </a:solidFill>
              </a:rPr>
              <a:t>BTC to ETH  p = 0.0423</a:t>
            </a:r>
            <a:endParaRPr lang="en-US" sz="1200" dirty="0"/>
          </a:p>
        </p:txBody>
      </p:sp>
      <p:sp>
        <p:nvSpPr>
          <p:cNvPr id="25" name="Label ETH-BNB"/>
          <p:cNvSpPr txBox="1"/>
          <p:nvPr/>
        </p:nvSpPr>
        <p:spPr>
          <a:xfrm>
            <a:off x="6812280" y="3840480"/>
            <a:ext cx="1097280" cy="457200"/>
          </a:xfrm>
          <a:prstGeom prst="rect">
            <a:avLst/>
          </a:prstGeom>
          <a:noFill/>
          <a:ln/>
        </p:spPr>
        <p:txBody>
          <a:bodyPr wrap="square" lIns="0" tIns="0" rIns="0" bIns="0" rtlCol="0" anchor="t"/>
          <a:lstStyle/>
          <a:p>
            <a:pPr algn="l" indent="0" marL="0">
              <a:buNone/>
            </a:pPr>
            <a:r>
              <a:rPr lang="en-US" sz="1200" dirty="0">
                <a:solidFill>
                  <a:schemeClr val="accent4"/>
                </a:solidFill>
              </a:rPr>
              <a:t>ETH to BNB</a:t>
            </a:r>
            <a:endParaRPr lang="en-US" sz="1200" dirty="0"/>
          </a:p>
          <a:p>
            <a:pPr algn="l" indent="0" marL="0">
              <a:buNone/>
            </a:pPr>
            <a:r>
              <a:rPr lang="en-US" sz="1200" dirty="0">
                <a:solidFill>
                  <a:schemeClr val="accent4"/>
                </a:solidFill>
              </a:rPr>
              <a:t>p = 0.0090</a:t>
            </a:r>
            <a:endParaRPr lang="en-US" sz="1200" dirty="0"/>
          </a:p>
        </p:txBody>
      </p:sp>
      <p:sp>
        <p:nvSpPr>
          <p:cNvPr id="26" name="Granger note"/>
          <p:cNvSpPr txBox="1"/>
          <p:nvPr/>
        </p:nvSpPr>
        <p:spPr>
          <a:xfrm>
            <a:off x="4572000" y="5212080"/>
            <a:ext cx="3017520" cy="914400"/>
          </a:xfrm>
          <a:prstGeom prst="rect">
            <a:avLst/>
          </a:prstGeom>
          <a:noFill/>
          <a:ln/>
        </p:spPr>
        <p:txBody>
          <a:bodyPr wrap="square" lIns="0" tIns="0" rIns="0" bIns="0" rtlCol="0" anchor="t"/>
          <a:lstStyle/>
          <a:p>
            <a:pPr indent="0" marL="0">
              <a:buNone/>
            </a:pPr>
            <a:r>
              <a:rPr lang="en-US" sz="1300" dirty="0">
                <a:solidFill>
                  <a:schemeClr val="tx1"/>
                </a:solidFill>
              </a:rPr>
              <a:t>Predictive precedence, not economic causality. BNB adds no marginal power for BTC or ETH (p = 0.164, 0.265).</a:t>
            </a:r>
            <a:endParaRPr lang="en-US" sz="1300" dirty="0"/>
          </a:p>
        </p:txBody>
      </p:sp>
      <p:sp>
        <p:nvSpPr>
          <p:cNvPr id="27" name="Johansen title"/>
          <p:cNvSpPr txBox="1"/>
          <p:nvPr/>
        </p:nvSpPr>
        <p:spPr>
          <a:xfrm>
            <a:off x="8412480" y="1965960"/>
            <a:ext cx="3017520" cy="320040"/>
          </a:xfrm>
          <a:prstGeom prst="rect">
            <a:avLst/>
          </a:prstGeom>
          <a:noFill/>
          <a:ln/>
        </p:spPr>
        <p:txBody>
          <a:bodyPr wrap="square" lIns="0" tIns="0" rIns="0" bIns="0" rtlCol="0" anchor="t"/>
          <a:lstStyle/>
          <a:p>
            <a:pPr indent="0" marL="0">
              <a:buNone/>
            </a:pPr>
            <a:r>
              <a:rPr lang="en-US" sz="1800" b="1" dirty="0">
                <a:solidFill>
                  <a:schemeClr val="tx1"/>
                </a:solidFill>
              </a:rPr>
              <a:t>Johansen trace test</a:t>
            </a:r>
            <a:endParaRPr lang="en-US" sz="1800" dirty="0"/>
          </a:p>
        </p:txBody>
      </p:sp>
      <p:graphicFrame>
        <p:nvGraphicFramePr>
          <p:cNvPr id="28" name="Johansen chart" descr=""/>
          <p:cNvGraphicFramePr/>
          <p:nvPr/>
        </p:nvGraphicFramePr>
        <p:xfrm>
          <a:off x="8321040" y="2331720"/>
          <a:ext cx="3200400" cy="2743200"/>
        </p:xfrm>
        <a:graphic xmlns:a="http://schemas.openxmlformats.org/drawingml/2006/main">
          <a:graphicData uri="http://schemas.openxmlformats.org/drawingml/2006/chart">
            <c:chart xmlns:c="http://schemas.openxmlformats.org/drawingml/2006/chart" r:id="rId1"/>
          </a:graphicData>
        </a:graphic>
      </p:graphicFrame>
      <p:sp>
        <p:nvSpPr>
          <p:cNvPr id="29" name="Johansen note"/>
          <p:cNvSpPr txBox="1"/>
          <p:nvPr/>
        </p:nvSpPr>
        <p:spPr>
          <a:xfrm>
            <a:off x="8412480" y="5212080"/>
            <a:ext cx="3017520" cy="914400"/>
          </a:xfrm>
          <a:prstGeom prst="rect">
            <a:avLst/>
          </a:prstGeom>
          <a:noFill/>
          <a:ln/>
        </p:spPr>
        <p:txBody>
          <a:bodyPr wrap="square" lIns="0" tIns="0" rIns="0" bIns="0" rtlCol="0" anchor="t"/>
          <a:lstStyle/>
          <a:p>
            <a:pPr indent="0" marL="0">
              <a:buNone/>
            </a:pPr>
            <a:r>
              <a:rPr lang="en-US" sz="1300" dirty="0">
                <a:solidFill>
                  <a:schemeClr val="tx1"/>
                </a:solidFill>
              </a:rPr>
              <a:t>Trace stays below the critical value at every rank, so r = 0. R (urca) agrees: 30.27 &lt; 34.91.</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6</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VOLATILITY</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GARCH(1,1) Volatility Dynamics</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Bitcoin volatility is clustered, extremely persistent and symmetric</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Amine Benfadhel</a:t>
            </a:r>
            <a:endParaRPr lang="en-US" sz="1100" dirty="0"/>
          </a:p>
        </p:txBody>
      </p:sp>
      <p:sp>
        <p:nvSpPr>
          <p:cNvPr id="6" name="Volatility chart card"/>
          <p:cNvSpPr/>
          <p:nvPr/>
        </p:nvSpPr>
        <p:spPr>
          <a:xfrm>
            <a:off x="548640" y="1828800"/>
            <a:ext cx="6949440" cy="4389120"/>
          </a:xfrm>
          <a:prstGeom prst="roundRect">
            <a:avLst>
              <a:gd name="adj" fmla="val 1667"/>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8" name="IGARCH note"/>
          <p:cNvSpPr txBox="1"/>
          <p:nvPr/>
        </p:nvSpPr>
        <p:spPr>
          <a:xfrm>
            <a:off x="777240" y="5257800"/>
            <a:ext cx="6400800" cy="868680"/>
          </a:xfrm>
          <a:prstGeom prst="rect">
            <a:avLst/>
          </a:prstGeom>
          <a:noFill/>
          <a:ln/>
        </p:spPr>
        <p:txBody>
          <a:bodyPr wrap="square" lIns="0" tIns="0" rIns="0" bIns="0" rtlCol="0" anchor="t"/>
          <a:lstStyle/>
          <a:p>
            <a:pPr indent="0" marL="0">
              <a:buNone/>
            </a:pPr>
            <a:r>
              <a:rPr lang="en-US" sz="1400" b="1" dirty="0">
                <a:solidFill>
                  <a:schemeClr val="tx1"/>
                </a:solidFill>
              </a:rPr>
              <a:t>α + β = 1.0000 sits on the IGARCH boundary. </a:t>
            </a:r>
            <a:pPr indent="0" marL="0">
              <a:buNone/>
            </a:pPr>
            <a:r>
              <a:rPr lang="en-US" sz="1400" dirty="0">
                <a:solidFill>
                  <a:schemeClr val="tx1"/>
                </a:solidFill>
              </a:rPr>
              <a:t>Shocks never fade and the unconditional variance is undefined. Strict stationarity then requires E[ln(α z² + β)] &lt; 0 (Nelson, 1990). The March 2020 crash peaks near 245%.</a:t>
            </a:r>
            <a:endParaRPr lang="en-US" sz="1400" dirty="0"/>
          </a:p>
        </p:txBody>
      </p:sp>
      <p:sp>
        <p:nvSpPr>
          <p:cNvPr id="9" name="Parameter card"/>
          <p:cNvSpPr/>
          <p:nvPr/>
        </p:nvSpPr>
        <p:spPr>
          <a:xfrm>
            <a:off x="7772400" y="1828800"/>
            <a:ext cx="3840480" cy="2148840"/>
          </a:xfrm>
          <a:prstGeom prst="roundRect">
            <a:avLst>
              <a:gd name="adj" fmla="val 340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0" name="Parameter title"/>
          <p:cNvSpPr txBox="1"/>
          <p:nvPr/>
        </p:nvSpPr>
        <p:spPr>
          <a:xfrm>
            <a:off x="7955280" y="1938528"/>
            <a:ext cx="3474720" cy="320040"/>
          </a:xfrm>
          <a:prstGeom prst="rect">
            <a:avLst/>
          </a:prstGeom>
          <a:noFill/>
          <a:ln/>
        </p:spPr>
        <p:txBody>
          <a:bodyPr wrap="square" lIns="0" tIns="0" rIns="0" bIns="0" rtlCol="0" anchor="t"/>
          <a:lstStyle/>
          <a:p>
            <a:pPr indent="0" marL="0">
              <a:buNone/>
            </a:pPr>
            <a:r>
              <a:rPr lang="en-US" sz="1600" b="1" dirty="0">
                <a:solidFill>
                  <a:schemeClr val="tx1"/>
                </a:solidFill>
              </a:rPr>
              <a:t>AR(1)-GARCH(1,1), Student-t</a:t>
            </a:r>
            <a:endParaRPr lang="en-US" sz="1600" dirty="0"/>
          </a:p>
        </p:txBody>
      </p:sp>
      <p:sp>
        <p:nvSpPr>
          <p:cNvPr id="11" name="Param name 1"/>
          <p:cNvSpPr txBox="1"/>
          <p:nvPr/>
        </p:nvSpPr>
        <p:spPr>
          <a:xfrm>
            <a:off x="7955280" y="2377440"/>
            <a:ext cx="2377440" cy="329184"/>
          </a:xfrm>
          <a:prstGeom prst="rect">
            <a:avLst/>
          </a:prstGeom>
          <a:noFill/>
          <a:ln/>
        </p:spPr>
        <p:txBody>
          <a:bodyPr wrap="square" lIns="0" tIns="0" rIns="0" bIns="0" rtlCol="0" anchor="ctr"/>
          <a:lstStyle/>
          <a:p>
            <a:pPr indent="0" marL="0">
              <a:buNone/>
            </a:pPr>
            <a:r>
              <a:rPr lang="en-US" sz="1400" dirty="0">
                <a:solidFill>
                  <a:schemeClr val="tx1"/>
                </a:solidFill>
              </a:rPr>
              <a:t>ω</a:t>
            </a:r>
            <a:endParaRPr lang="en-US" sz="1400" dirty="0"/>
          </a:p>
        </p:txBody>
      </p:sp>
      <p:sp>
        <p:nvSpPr>
          <p:cNvPr id="12" name="Param value 1"/>
          <p:cNvSpPr txBox="1"/>
          <p:nvPr/>
        </p:nvSpPr>
        <p:spPr>
          <a:xfrm>
            <a:off x="10241280" y="2377440"/>
            <a:ext cx="1188720" cy="329184"/>
          </a:xfrm>
          <a:prstGeom prst="rect">
            <a:avLst/>
          </a:prstGeom>
          <a:noFill/>
          <a:ln/>
        </p:spPr>
        <p:txBody>
          <a:bodyPr wrap="square" lIns="0" tIns="0" rIns="0" bIns="0" rtlCol="0" anchor="ctr"/>
          <a:lstStyle/>
          <a:p>
            <a:pPr algn="r" indent="0" marL="0">
              <a:buNone/>
            </a:pPr>
            <a:r>
              <a:rPr lang="en-US" sz="1400" b="1" dirty="0">
                <a:solidFill>
                  <a:schemeClr val="accent1"/>
                </a:solidFill>
              </a:rPr>
              <a:t>0.1752</a:t>
            </a:r>
            <a:endParaRPr lang="en-US" sz="1400" dirty="0"/>
          </a:p>
        </p:txBody>
      </p:sp>
      <p:sp>
        <p:nvSpPr>
          <p:cNvPr id="13" name="Param name 2"/>
          <p:cNvSpPr txBox="1"/>
          <p:nvPr/>
        </p:nvSpPr>
        <p:spPr>
          <a:xfrm>
            <a:off x="7955280" y="2761488"/>
            <a:ext cx="2377440" cy="329184"/>
          </a:xfrm>
          <a:prstGeom prst="rect">
            <a:avLst/>
          </a:prstGeom>
          <a:noFill/>
          <a:ln/>
        </p:spPr>
        <p:txBody>
          <a:bodyPr wrap="square" lIns="0" tIns="0" rIns="0" bIns="0" rtlCol="0" anchor="ctr"/>
          <a:lstStyle/>
          <a:p>
            <a:pPr indent="0" marL="0">
              <a:buNone/>
            </a:pPr>
            <a:r>
              <a:rPr lang="en-US" sz="1400" dirty="0">
                <a:solidFill>
                  <a:schemeClr val="tx1"/>
                </a:solidFill>
              </a:rPr>
              <a:t>α₁ (shock reaction)</a:t>
            </a:r>
            <a:endParaRPr lang="en-US" sz="1400" dirty="0"/>
          </a:p>
        </p:txBody>
      </p:sp>
      <p:sp>
        <p:nvSpPr>
          <p:cNvPr id="14" name="Param value 2"/>
          <p:cNvSpPr txBox="1"/>
          <p:nvPr/>
        </p:nvSpPr>
        <p:spPr>
          <a:xfrm>
            <a:off x="10241280" y="2761488"/>
            <a:ext cx="1188720" cy="329184"/>
          </a:xfrm>
          <a:prstGeom prst="rect">
            <a:avLst/>
          </a:prstGeom>
          <a:noFill/>
          <a:ln/>
        </p:spPr>
        <p:txBody>
          <a:bodyPr wrap="square" lIns="0" tIns="0" rIns="0" bIns="0" rtlCol="0" anchor="ctr"/>
          <a:lstStyle/>
          <a:p>
            <a:pPr algn="r" indent="0" marL="0">
              <a:buNone/>
            </a:pPr>
            <a:r>
              <a:rPr lang="en-US" sz="1400" b="1" dirty="0">
                <a:solidFill>
                  <a:schemeClr val="accent1"/>
                </a:solidFill>
              </a:rPr>
              <a:t>0.0697</a:t>
            </a:r>
            <a:endParaRPr lang="en-US" sz="1400" dirty="0"/>
          </a:p>
        </p:txBody>
      </p:sp>
      <p:sp>
        <p:nvSpPr>
          <p:cNvPr id="15" name="Param name 3"/>
          <p:cNvSpPr txBox="1"/>
          <p:nvPr/>
        </p:nvSpPr>
        <p:spPr>
          <a:xfrm>
            <a:off x="7955280" y="3145536"/>
            <a:ext cx="2377440" cy="329184"/>
          </a:xfrm>
          <a:prstGeom prst="rect">
            <a:avLst/>
          </a:prstGeom>
          <a:noFill/>
          <a:ln/>
        </p:spPr>
        <p:txBody>
          <a:bodyPr wrap="square" lIns="0" tIns="0" rIns="0" bIns="0" rtlCol="0" anchor="ctr"/>
          <a:lstStyle/>
          <a:p>
            <a:pPr indent="0" marL="0">
              <a:buNone/>
            </a:pPr>
            <a:r>
              <a:rPr lang="en-US" sz="1400" dirty="0">
                <a:solidFill>
                  <a:schemeClr val="tx1"/>
                </a:solidFill>
              </a:rPr>
              <a:t>β₁ (persistence)</a:t>
            </a:r>
            <a:endParaRPr lang="en-US" sz="1400" dirty="0"/>
          </a:p>
        </p:txBody>
      </p:sp>
      <p:sp>
        <p:nvSpPr>
          <p:cNvPr id="16" name="Param value 3"/>
          <p:cNvSpPr txBox="1"/>
          <p:nvPr/>
        </p:nvSpPr>
        <p:spPr>
          <a:xfrm>
            <a:off x="10241280" y="3145536"/>
            <a:ext cx="1188720" cy="329184"/>
          </a:xfrm>
          <a:prstGeom prst="rect">
            <a:avLst/>
          </a:prstGeom>
          <a:noFill/>
          <a:ln/>
        </p:spPr>
        <p:txBody>
          <a:bodyPr wrap="square" lIns="0" tIns="0" rIns="0" bIns="0" rtlCol="0" anchor="ctr"/>
          <a:lstStyle/>
          <a:p>
            <a:pPr algn="r" indent="0" marL="0">
              <a:buNone/>
            </a:pPr>
            <a:r>
              <a:rPr lang="en-US" sz="1400" b="1" dirty="0">
                <a:solidFill>
                  <a:schemeClr val="accent1"/>
                </a:solidFill>
              </a:rPr>
              <a:t>0.9303</a:t>
            </a:r>
            <a:endParaRPr lang="en-US" sz="1400" dirty="0"/>
          </a:p>
        </p:txBody>
      </p:sp>
      <p:sp>
        <p:nvSpPr>
          <p:cNvPr id="17" name="Param name 4"/>
          <p:cNvSpPr txBox="1"/>
          <p:nvPr/>
        </p:nvSpPr>
        <p:spPr>
          <a:xfrm>
            <a:off x="7955280" y="3529584"/>
            <a:ext cx="2377440" cy="329184"/>
          </a:xfrm>
          <a:prstGeom prst="rect">
            <a:avLst/>
          </a:prstGeom>
          <a:noFill/>
          <a:ln/>
        </p:spPr>
        <p:txBody>
          <a:bodyPr wrap="square" lIns="0" tIns="0" rIns="0" bIns="0" rtlCol="0" anchor="ctr"/>
          <a:lstStyle/>
          <a:p>
            <a:pPr indent="0" marL="0">
              <a:buNone/>
            </a:pPr>
            <a:r>
              <a:rPr lang="en-US" sz="1400" dirty="0">
                <a:solidFill>
                  <a:schemeClr val="tx1"/>
                </a:solidFill>
              </a:rPr>
              <a:t>ν (degrees of freedom)</a:t>
            </a:r>
            <a:endParaRPr lang="en-US" sz="1400" dirty="0"/>
          </a:p>
        </p:txBody>
      </p:sp>
      <p:sp>
        <p:nvSpPr>
          <p:cNvPr id="18" name="Param value 4"/>
          <p:cNvSpPr txBox="1"/>
          <p:nvPr/>
        </p:nvSpPr>
        <p:spPr>
          <a:xfrm>
            <a:off x="10241280" y="3529584"/>
            <a:ext cx="1188720" cy="329184"/>
          </a:xfrm>
          <a:prstGeom prst="rect">
            <a:avLst/>
          </a:prstGeom>
          <a:noFill/>
          <a:ln/>
        </p:spPr>
        <p:txBody>
          <a:bodyPr wrap="square" lIns="0" tIns="0" rIns="0" bIns="0" rtlCol="0" anchor="ctr"/>
          <a:lstStyle/>
          <a:p>
            <a:pPr algn="r" indent="0" marL="0">
              <a:buNone/>
            </a:pPr>
            <a:r>
              <a:rPr lang="en-US" sz="1400" b="1" dirty="0">
                <a:solidFill>
                  <a:schemeClr val="accent1"/>
                </a:solidFill>
              </a:rPr>
              <a:t>2.98</a:t>
            </a:r>
            <a:endParaRPr lang="en-US" sz="1400" dirty="0"/>
          </a:p>
        </p:txBody>
      </p:sp>
      <p:sp>
        <p:nvSpPr>
          <p:cNvPr id="19" name="Check card 1"/>
          <p:cNvSpPr/>
          <p:nvPr/>
        </p:nvSpPr>
        <p:spPr>
          <a:xfrm>
            <a:off x="7772400" y="4160520"/>
            <a:ext cx="3840480" cy="960120"/>
          </a:xfrm>
          <a:prstGeom prst="roundRect">
            <a:avLst>
              <a:gd name="adj" fmla="val 7619"/>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0" name="Check name 1"/>
          <p:cNvSpPr txBox="1"/>
          <p:nvPr/>
        </p:nvSpPr>
        <p:spPr>
          <a:xfrm>
            <a:off x="7955280" y="4251960"/>
            <a:ext cx="2011680" cy="274320"/>
          </a:xfrm>
          <a:prstGeom prst="rect">
            <a:avLst/>
          </a:prstGeom>
          <a:noFill/>
          <a:ln/>
        </p:spPr>
        <p:txBody>
          <a:bodyPr wrap="square" lIns="0" tIns="0" rIns="0" bIns="0" rtlCol="0" anchor="t"/>
          <a:lstStyle/>
          <a:p>
            <a:pPr indent="0" marL="0">
              <a:buNone/>
            </a:pPr>
            <a:r>
              <a:rPr lang="en-US" sz="1400" b="1" dirty="0">
                <a:solidFill>
                  <a:schemeClr val="tx1"/>
                </a:solidFill>
              </a:rPr>
              <a:t>GJR-GARCH leverage term</a:t>
            </a:r>
            <a:endParaRPr lang="en-US" sz="1400" dirty="0"/>
          </a:p>
        </p:txBody>
      </p:sp>
      <p:sp>
        <p:nvSpPr>
          <p:cNvPr id="21" name="Check stat 1"/>
          <p:cNvSpPr txBox="1"/>
          <p:nvPr/>
        </p:nvSpPr>
        <p:spPr>
          <a:xfrm>
            <a:off x="9692640" y="4251960"/>
            <a:ext cx="1783080" cy="274320"/>
          </a:xfrm>
          <a:prstGeom prst="rect">
            <a:avLst/>
          </a:prstGeom>
          <a:noFill/>
          <a:ln/>
        </p:spPr>
        <p:txBody>
          <a:bodyPr wrap="square" lIns="0" tIns="0" rIns="0" bIns="0" rtlCol="0" anchor="t"/>
          <a:lstStyle/>
          <a:p>
            <a:pPr algn="r" indent="0" marL="0">
              <a:buNone/>
            </a:pPr>
            <a:r>
              <a:rPr lang="en-US" sz="1200" b="1" dirty="0">
                <a:solidFill>
                  <a:schemeClr val="accent1"/>
                </a:solidFill>
              </a:rPr>
              <a:t>γ = -0.0029,  p = 0.895</a:t>
            </a:r>
            <a:endParaRPr lang="en-US" sz="1200" dirty="0"/>
          </a:p>
        </p:txBody>
      </p:sp>
      <p:sp>
        <p:nvSpPr>
          <p:cNvPr id="22" name="Check text 1"/>
          <p:cNvSpPr txBox="1"/>
          <p:nvPr/>
        </p:nvSpPr>
        <p:spPr>
          <a:xfrm>
            <a:off x="7955280" y="4572000"/>
            <a:ext cx="3520440" cy="502920"/>
          </a:xfrm>
          <a:prstGeom prst="rect">
            <a:avLst/>
          </a:prstGeom>
          <a:noFill/>
          <a:ln/>
        </p:spPr>
        <p:txBody>
          <a:bodyPr wrap="square" lIns="0" tIns="0" rIns="0" bIns="0" rtlCol="0" anchor="t"/>
          <a:lstStyle/>
          <a:p>
            <a:pPr indent="0" marL="0">
              <a:buNone/>
            </a:pPr>
            <a:r>
              <a:rPr lang="en-US" sz="1300" dirty="0">
                <a:solidFill>
                  <a:schemeClr val="tx1"/>
                </a:solidFill>
              </a:rPr>
              <a:t>No asymmetry: the symmetric GARCH is the parsimonious model.</a:t>
            </a:r>
            <a:endParaRPr lang="en-US" sz="1300" dirty="0"/>
          </a:p>
        </p:txBody>
      </p:sp>
      <p:sp>
        <p:nvSpPr>
          <p:cNvPr id="23" name="Check card 2"/>
          <p:cNvSpPr/>
          <p:nvPr/>
        </p:nvSpPr>
        <p:spPr>
          <a:xfrm>
            <a:off x="7772400" y="5212080"/>
            <a:ext cx="3840480" cy="960120"/>
          </a:xfrm>
          <a:prstGeom prst="roundRect">
            <a:avLst>
              <a:gd name="adj" fmla="val 7619"/>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4" name="Check name 2"/>
          <p:cNvSpPr txBox="1"/>
          <p:nvPr/>
        </p:nvSpPr>
        <p:spPr>
          <a:xfrm>
            <a:off x="7955280" y="5303520"/>
            <a:ext cx="2011680" cy="274320"/>
          </a:xfrm>
          <a:prstGeom prst="rect">
            <a:avLst/>
          </a:prstGeom>
          <a:noFill/>
          <a:ln/>
        </p:spPr>
        <p:txBody>
          <a:bodyPr wrap="square" lIns="0" tIns="0" rIns="0" bIns="0" rtlCol="0" anchor="t"/>
          <a:lstStyle/>
          <a:p>
            <a:pPr indent="0" marL="0">
              <a:buNone/>
            </a:pPr>
            <a:r>
              <a:rPr lang="en-US" sz="1400" b="1" dirty="0">
                <a:solidFill>
                  <a:schemeClr val="tx1"/>
                </a:solidFill>
              </a:rPr>
              <a:t>ARCH-LM after the fit</a:t>
            </a:r>
            <a:endParaRPr lang="en-US" sz="1400" dirty="0"/>
          </a:p>
        </p:txBody>
      </p:sp>
      <p:sp>
        <p:nvSpPr>
          <p:cNvPr id="25" name="Check stat 2"/>
          <p:cNvSpPr txBox="1"/>
          <p:nvPr/>
        </p:nvSpPr>
        <p:spPr>
          <a:xfrm>
            <a:off x="9692640" y="5303520"/>
            <a:ext cx="1783080" cy="274320"/>
          </a:xfrm>
          <a:prstGeom prst="rect">
            <a:avLst/>
          </a:prstGeom>
          <a:noFill/>
          <a:ln/>
        </p:spPr>
        <p:txBody>
          <a:bodyPr wrap="square" lIns="0" tIns="0" rIns="0" bIns="0" rtlCol="0" anchor="t"/>
          <a:lstStyle/>
          <a:p>
            <a:pPr algn="r" indent="0" marL="0">
              <a:buNone/>
            </a:pPr>
            <a:r>
              <a:rPr lang="en-US" sz="1200" b="1" dirty="0">
                <a:solidFill>
                  <a:schemeClr val="accent1"/>
                </a:solidFill>
              </a:rPr>
              <a:t>LM = 5.03,  p = 0.8889</a:t>
            </a:r>
            <a:endParaRPr lang="en-US" sz="1200" dirty="0"/>
          </a:p>
        </p:txBody>
      </p:sp>
      <p:sp>
        <p:nvSpPr>
          <p:cNvPr id="26" name="Check text 2"/>
          <p:cNvSpPr txBox="1"/>
          <p:nvPr/>
        </p:nvSpPr>
        <p:spPr>
          <a:xfrm>
            <a:off x="7955280" y="5623560"/>
            <a:ext cx="3520440" cy="502920"/>
          </a:xfrm>
          <a:prstGeom prst="rect">
            <a:avLst/>
          </a:prstGeom>
          <a:noFill/>
          <a:ln/>
        </p:spPr>
        <p:txBody>
          <a:bodyPr wrap="square" lIns="0" tIns="0" rIns="0" bIns="0" rtlCol="0" anchor="t"/>
          <a:lstStyle/>
          <a:p>
            <a:pPr indent="0" marL="0">
              <a:buNone/>
            </a:pPr>
            <a:r>
              <a:rPr lang="en-US" sz="1300" dirty="0">
                <a:solidFill>
                  <a:schemeClr val="tx1"/>
                </a:solidFill>
              </a:rPr>
              <a:t>No ARCH effect remains in the standardized residuals.</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8</a:t>
            </a:r>
            <a:endParaRPr lang="en-US"/>
          </a:p>
        </p:txBody>
      </p:sp>
      <p:pic>
        <p:nvPicPr>
          <p:cNvPr id="27" name="Picture 26" descr="fig4_garch_volatility_events.png"/>
          <p:cNvPicPr>
            <a:picLocks noChangeAspect="1"/>
          </p:cNvPicPr>
          <p:nvPr/>
        </p:nvPicPr>
        <p:blipFill>
          <a:blip r:embed="rId4"/>
          <a:stretch>
            <a:fillRect/>
          </a:stretch>
        </p:blipFill>
        <p:spPr>
          <a:xfrm>
            <a:off x="548640" y="1828800"/>
            <a:ext cx="6949440" cy="434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DEEP LEARNING</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LSTM and GRU Architectures</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Two recurrent networks trained in PyTorch on the same multivariate window</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Amine Benfadhel</a:t>
            </a:r>
            <a:endParaRPr lang="en-US" sz="1100" dirty="0"/>
          </a:p>
        </p:txBody>
      </p:sp>
      <p:sp>
        <p:nvSpPr>
          <p:cNvPr id="6" name="Flow box 1"/>
          <p:cNvSpPr/>
          <p:nvPr/>
        </p:nvSpPr>
        <p:spPr>
          <a:xfrm>
            <a:off x="548640" y="1828800"/>
            <a:ext cx="3200400" cy="1463040"/>
          </a:xfrm>
          <a:prstGeom prst="roundRect">
            <a:avLst>
              <a:gd name="adj" fmla="val 5000"/>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7" name="Flow label 1"/>
          <p:cNvSpPr txBox="1"/>
          <p:nvPr/>
        </p:nvSpPr>
        <p:spPr>
          <a:xfrm>
            <a:off x="777240" y="20116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INPUT</a:t>
            </a:r>
            <a:endParaRPr lang="en-US" sz="1200" dirty="0"/>
          </a:p>
        </p:txBody>
      </p:sp>
      <p:sp>
        <p:nvSpPr>
          <p:cNvPr id="8" name="Flow text 1"/>
          <p:cNvSpPr txBox="1"/>
          <p:nvPr/>
        </p:nvSpPr>
        <p:spPr>
          <a:xfrm>
            <a:off x="777240" y="2331720"/>
            <a:ext cx="2743200" cy="822960"/>
          </a:xfrm>
          <a:prstGeom prst="rect">
            <a:avLst/>
          </a:prstGeom>
          <a:noFill/>
          <a:ln/>
        </p:spPr>
        <p:txBody>
          <a:bodyPr wrap="square" lIns="0" tIns="0" rIns="0" bIns="0" rtlCol="0" anchor="t"/>
          <a:lstStyle/>
          <a:p>
            <a:pPr indent="0" marL="0">
              <a:buNone/>
            </a:pPr>
            <a:r>
              <a:rPr lang="en-US" sz="1800" b="1" dirty="0">
                <a:solidFill>
                  <a:schemeClr val="tx1"/>
                </a:solidFill>
              </a:rPr>
              <a:t>14 days x 9 variables</a:t>
            </a:r>
            <a:endParaRPr lang="en-US" sz="1800" dirty="0"/>
          </a:p>
        </p:txBody>
      </p:sp>
      <p:sp>
        <p:nvSpPr>
          <p:cNvPr id="9" name="Flow arrow 1"/>
          <p:cNvSpPr/>
          <p:nvPr/>
        </p:nvSpPr>
        <p:spPr>
          <a:xfrm>
            <a:off x="3858768" y="2560320"/>
            <a:ext cx="512064" cy="0"/>
          </a:xfrm>
          <a:prstGeom prst="line">
            <a:avLst/>
          </a:prstGeom>
          <a:noFill/>
          <a:ln w="25400">
            <a:solidFill>
              <a:schemeClr val="accent4"/>
            </a:solidFill>
            <a:prstDash val="solid"/>
            <a:tailEnd type="triangle"/>
          </a:ln>
        </p:spPr>
        <p:txBody>
          <a:bodyPr/>
          <a:p/>
        </p:txBody>
      </p:sp>
      <p:sp>
        <p:nvSpPr>
          <p:cNvPr id="10" name="Flow box 2"/>
          <p:cNvSpPr/>
          <p:nvPr/>
        </p:nvSpPr>
        <p:spPr>
          <a:xfrm>
            <a:off x="4480560" y="1828800"/>
            <a:ext cx="3200400" cy="1463040"/>
          </a:xfrm>
          <a:prstGeom prst="roundRect">
            <a:avLst>
              <a:gd name="adj" fmla="val 5000"/>
            </a:avLst>
          </a:prstGeom>
          <a:solidFill>
            <a:schemeClr val="accent1"/>
          </a:solidFill>
          <a:ln w="6350">
            <a:solidFill>
              <a:schemeClr val="accent1"/>
            </a:solidFill>
            <a:prstDash val="solid"/>
          </a:ln>
          <a:effectLst>
            <a:outerShdw sx="100000" sy="100000" kx="0" ky="0" algn="bl" rotWithShape="0" blurRad="127000" dist="25400" dir="5400000">
              <a:srgbClr val="13272D">
                <a:alpha val="10000"/>
              </a:srgbClr>
            </a:outerShdw>
          </a:effectLst>
        </p:spPr>
        <p:txBody>
          <a:bodyPr/>
          <a:p/>
        </p:txBody>
      </p:sp>
      <p:sp>
        <p:nvSpPr>
          <p:cNvPr id="11" name="Flow label 2"/>
          <p:cNvSpPr txBox="1"/>
          <p:nvPr/>
        </p:nvSpPr>
        <p:spPr>
          <a:xfrm>
            <a:off x="4709160" y="2011680"/>
            <a:ext cx="2743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RECURRENT STACK</a:t>
            </a:r>
            <a:endParaRPr lang="en-US" sz="1200" dirty="0"/>
          </a:p>
        </p:txBody>
      </p:sp>
      <p:sp>
        <p:nvSpPr>
          <p:cNvPr id="12" name="Flow text 2"/>
          <p:cNvSpPr txBox="1"/>
          <p:nvPr/>
        </p:nvSpPr>
        <p:spPr>
          <a:xfrm>
            <a:off x="4709160" y="2331720"/>
            <a:ext cx="2743200" cy="822960"/>
          </a:xfrm>
          <a:prstGeom prst="rect">
            <a:avLst/>
          </a:prstGeom>
          <a:noFill/>
          <a:ln/>
        </p:spPr>
        <p:txBody>
          <a:bodyPr wrap="square" lIns="0" tIns="0" rIns="0" bIns="0" rtlCol="0" anchor="t"/>
          <a:lstStyle/>
          <a:p>
            <a:pPr indent="0" marL="0">
              <a:buNone/>
            </a:pPr>
            <a:r>
              <a:rPr lang="en-US" sz="1800" b="1" dirty="0">
                <a:solidFill>
                  <a:schemeClr val="bg1"/>
                </a:solidFill>
              </a:rPr>
              <a:t>LSTM or GRU, 2 layers, 64 units, dropout 0.20</a:t>
            </a:r>
            <a:endParaRPr lang="en-US" sz="1800" dirty="0"/>
          </a:p>
        </p:txBody>
      </p:sp>
      <p:sp>
        <p:nvSpPr>
          <p:cNvPr id="13" name="Flow arrow 2"/>
          <p:cNvSpPr/>
          <p:nvPr/>
        </p:nvSpPr>
        <p:spPr>
          <a:xfrm>
            <a:off x="7790688" y="2560320"/>
            <a:ext cx="512064" cy="0"/>
          </a:xfrm>
          <a:prstGeom prst="line">
            <a:avLst/>
          </a:prstGeom>
          <a:noFill/>
          <a:ln w="25400">
            <a:solidFill>
              <a:schemeClr val="accent4"/>
            </a:solidFill>
            <a:prstDash val="solid"/>
            <a:tailEnd type="triangle"/>
          </a:ln>
        </p:spPr>
        <p:txBody>
          <a:bodyPr/>
          <a:p/>
        </p:txBody>
      </p:sp>
      <p:sp>
        <p:nvSpPr>
          <p:cNvPr id="14" name="Flow box 3"/>
          <p:cNvSpPr/>
          <p:nvPr/>
        </p:nvSpPr>
        <p:spPr>
          <a:xfrm>
            <a:off x="8412480" y="1828800"/>
            <a:ext cx="3200400" cy="1463040"/>
          </a:xfrm>
          <a:prstGeom prst="roundRect">
            <a:avLst>
              <a:gd name="adj" fmla="val 5000"/>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5" name="Flow label 3"/>
          <p:cNvSpPr txBox="1"/>
          <p:nvPr/>
        </p:nvSpPr>
        <p:spPr>
          <a:xfrm>
            <a:off x="8641080" y="20116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OUTPUT</a:t>
            </a:r>
            <a:endParaRPr lang="en-US" sz="1200" dirty="0"/>
          </a:p>
        </p:txBody>
      </p:sp>
      <p:sp>
        <p:nvSpPr>
          <p:cNvPr id="16" name="Flow text 3"/>
          <p:cNvSpPr txBox="1"/>
          <p:nvPr/>
        </p:nvSpPr>
        <p:spPr>
          <a:xfrm>
            <a:off x="8641080" y="2331720"/>
            <a:ext cx="2743200" cy="822960"/>
          </a:xfrm>
          <a:prstGeom prst="rect">
            <a:avLst/>
          </a:prstGeom>
          <a:noFill/>
          <a:ln/>
        </p:spPr>
        <p:txBody>
          <a:bodyPr wrap="square" lIns="0" tIns="0" rIns="0" bIns="0" rtlCol="0" anchor="t"/>
          <a:lstStyle/>
          <a:p>
            <a:pPr indent="0" marL="0">
              <a:buNone/>
            </a:pPr>
            <a:r>
              <a:rPr lang="en-US" sz="1800" b="1" dirty="0">
                <a:solidFill>
                  <a:schemeClr val="tx1"/>
                </a:solidFill>
              </a:rPr>
              <a:t>Next-day BTC price from a rolling one-step forecast</a:t>
            </a:r>
            <a:endParaRPr lang="en-US" sz="1800" dirty="0"/>
          </a:p>
        </p:txBody>
      </p:sp>
      <p:sp>
        <p:nvSpPr>
          <p:cNvPr id="17" name="Detail card 1"/>
          <p:cNvSpPr/>
          <p:nvPr/>
        </p:nvSpPr>
        <p:spPr>
          <a:xfrm>
            <a:off x="548640" y="3566160"/>
            <a:ext cx="3566160" cy="1783080"/>
          </a:xfrm>
          <a:prstGeom prst="roundRect">
            <a:avLst>
              <a:gd name="adj" fmla="val 4103"/>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8" name="Detail title 1"/>
          <p:cNvSpPr txBox="1"/>
          <p:nvPr/>
        </p:nvSpPr>
        <p:spPr>
          <a:xfrm>
            <a:off x="777240" y="3675888"/>
            <a:ext cx="3108960" cy="365760"/>
          </a:xfrm>
          <a:prstGeom prst="rect">
            <a:avLst/>
          </a:prstGeom>
          <a:noFill/>
          <a:ln/>
        </p:spPr>
        <p:txBody>
          <a:bodyPr wrap="square" lIns="0" tIns="0" rIns="0" bIns="0" rtlCol="0" anchor="t"/>
          <a:lstStyle/>
          <a:p>
            <a:pPr indent="0" marL="0">
              <a:buNone/>
            </a:pPr>
            <a:r>
              <a:rPr lang="en-US" sz="1800" b="1" dirty="0">
                <a:solidFill>
                  <a:schemeClr val="tx1"/>
                </a:solidFill>
              </a:rPr>
              <a:t>Nine input variables</a:t>
            </a:r>
            <a:endParaRPr lang="en-US" sz="1800" dirty="0"/>
          </a:p>
        </p:txBody>
      </p:sp>
      <p:sp>
        <p:nvSpPr>
          <p:cNvPr id="19" name="Detail bullets 1"/>
          <p:cNvSpPr txBox="1"/>
          <p:nvPr/>
        </p:nvSpPr>
        <p:spPr>
          <a:xfrm>
            <a:off x="777240" y="4114800"/>
            <a:ext cx="310896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3 log-prices (BTC, ETH, BNB)</a:t>
            </a:r>
            <a:endParaRPr lang="en-US" sz="1400" dirty="0"/>
          </a:p>
          <a:p>
            <a:pPr marL="177800" indent="-177800">
              <a:spcAft>
                <a:spcPts val="600"/>
              </a:spcAft>
              <a:buSzPct val="100000"/>
              <a:buChar char="•"/>
            </a:pPr>
            <a:r>
              <a:rPr lang="en-US" sz="1400" dirty="0">
                <a:solidFill>
                  <a:schemeClr val="tx1"/>
                </a:solidFill>
              </a:rPr>
              <a:t>3 log-returns</a:t>
            </a:r>
            <a:endParaRPr lang="en-US" sz="1400" dirty="0"/>
          </a:p>
          <a:p>
            <a:pPr marL="177800" indent="-177800">
              <a:spcAft>
                <a:spcPts val="600"/>
              </a:spcAft>
              <a:buSzPct val="100000"/>
              <a:buChar char="•"/>
            </a:pPr>
            <a:r>
              <a:rPr lang="en-US" sz="1400" dirty="0">
                <a:solidFill>
                  <a:schemeClr val="tx1"/>
                </a:solidFill>
              </a:rPr>
              <a:t>3 realized volatilities over 30 days</a:t>
            </a:r>
            <a:endParaRPr lang="en-US" sz="1400" dirty="0"/>
          </a:p>
        </p:txBody>
      </p:sp>
      <p:sp>
        <p:nvSpPr>
          <p:cNvPr id="20" name="Detail card 2"/>
          <p:cNvSpPr/>
          <p:nvPr/>
        </p:nvSpPr>
        <p:spPr>
          <a:xfrm>
            <a:off x="4297680" y="3566160"/>
            <a:ext cx="3566160" cy="1783080"/>
          </a:xfrm>
          <a:prstGeom prst="roundRect">
            <a:avLst>
              <a:gd name="adj" fmla="val 4103"/>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1" name="Detail title 2"/>
          <p:cNvSpPr txBox="1"/>
          <p:nvPr/>
        </p:nvSpPr>
        <p:spPr>
          <a:xfrm>
            <a:off x="4526280" y="3675888"/>
            <a:ext cx="3108960" cy="365760"/>
          </a:xfrm>
          <a:prstGeom prst="rect">
            <a:avLst/>
          </a:prstGeom>
          <a:noFill/>
          <a:ln/>
        </p:spPr>
        <p:txBody>
          <a:bodyPr wrap="square" lIns="0" tIns="0" rIns="0" bIns="0" rtlCol="0" anchor="t"/>
          <a:lstStyle/>
          <a:p>
            <a:pPr indent="0" marL="0">
              <a:buNone/>
            </a:pPr>
            <a:r>
              <a:rPr lang="en-US" sz="1800" b="1" dirty="0">
                <a:solidFill>
                  <a:schemeClr val="tx1"/>
                </a:solidFill>
              </a:rPr>
              <a:t>Leakage control</a:t>
            </a:r>
            <a:endParaRPr lang="en-US" sz="1800" dirty="0"/>
          </a:p>
        </p:txBody>
      </p:sp>
      <p:sp>
        <p:nvSpPr>
          <p:cNvPr id="22" name="Detail bullets 2"/>
          <p:cNvSpPr txBox="1"/>
          <p:nvPr/>
        </p:nvSpPr>
        <p:spPr>
          <a:xfrm>
            <a:off x="4526280" y="4114800"/>
            <a:ext cx="310896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MinMax scaling to [0, 1], fitted on train only</a:t>
            </a:r>
            <a:endParaRPr lang="en-US" sz="1400" dirty="0"/>
          </a:p>
          <a:p>
            <a:pPr marL="177800" indent="-177800">
              <a:spcAft>
                <a:spcPts val="600"/>
              </a:spcAft>
              <a:buSzPct val="100000"/>
              <a:buChar char="•"/>
            </a:pPr>
            <a:r>
              <a:rPr lang="en-US" sz="1400" dirty="0">
                <a:solidFill>
                  <a:schemeClr val="tx1"/>
                </a:solidFill>
              </a:rPr>
              <a:t>Validation: last 10% of train, in time order, no shuffle</a:t>
            </a:r>
            <a:endParaRPr lang="en-US" sz="1400" dirty="0"/>
          </a:p>
        </p:txBody>
      </p:sp>
      <p:sp>
        <p:nvSpPr>
          <p:cNvPr id="23" name="Detail card 3"/>
          <p:cNvSpPr/>
          <p:nvPr/>
        </p:nvSpPr>
        <p:spPr>
          <a:xfrm>
            <a:off x="8046720" y="3566160"/>
            <a:ext cx="3566160" cy="1783080"/>
          </a:xfrm>
          <a:prstGeom prst="roundRect">
            <a:avLst>
              <a:gd name="adj" fmla="val 4103"/>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4" name="Detail title 3"/>
          <p:cNvSpPr txBox="1"/>
          <p:nvPr/>
        </p:nvSpPr>
        <p:spPr>
          <a:xfrm>
            <a:off x="8275320" y="3675888"/>
            <a:ext cx="3108960" cy="365760"/>
          </a:xfrm>
          <a:prstGeom prst="rect">
            <a:avLst/>
          </a:prstGeom>
          <a:noFill/>
          <a:ln/>
        </p:spPr>
        <p:txBody>
          <a:bodyPr wrap="square" lIns="0" tIns="0" rIns="0" bIns="0" rtlCol="0" anchor="t"/>
          <a:lstStyle/>
          <a:p>
            <a:pPr indent="0" marL="0">
              <a:buNone/>
            </a:pPr>
            <a:r>
              <a:rPr lang="en-US" sz="1800" b="1" dirty="0">
                <a:solidFill>
                  <a:schemeClr val="tx1"/>
                </a:solidFill>
              </a:rPr>
              <a:t>Optimization</a:t>
            </a:r>
            <a:endParaRPr lang="en-US" sz="1800" dirty="0"/>
          </a:p>
        </p:txBody>
      </p:sp>
      <p:sp>
        <p:nvSpPr>
          <p:cNvPr id="25" name="Detail bullets 3"/>
          <p:cNvSpPr txBox="1"/>
          <p:nvPr/>
        </p:nvSpPr>
        <p:spPr>
          <a:xfrm>
            <a:off x="8275320" y="4114800"/>
            <a:ext cx="310896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Adam, learning rate 0.002</a:t>
            </a:r>
            <a:endParaRPr lang="en-US" sz="1400" dirty="0"/>
          </a:p>
          <a:p>
            <a:pPr marL="177800" indent="-177800">
              <a:spcAft>
                <a:spcPts val="600"/>
              </a:spcAft>
              <a:buSzPct val="100000"/>
              <a:buChar char="•"/>
            </a:pPr>
            <a:r>
              <a:rPr lang="en-US" sz="1400" dirty="0">
                <a:solidFill>
                  <a:schemeClr val="tx1"/>
                </a:solidFill>
              </a:rPr>
              <a:t>40 epochs</a:t>
            </a:r>
            <a:endParaRPr lang="en-US" sz="1400" dirty="0"/>
          </a:p>
          <a:p>
            <a:pPr marL="177800" indent="-177800">
              <a:spcAft>
                <a:spcPts val="600"/>
              </a:spcAft>
              <a:buSzPct val="100000"/>
              <a:buChar char="•"/>
            </a:pPr>
            <a:r>
              <a:rPr lang="en-US" sz="1400" dirty="0">
                <a:solidFill>
                  <a:schemeClr val="tx1"/>
                </a:solidFill>
              </a:rPr>
              <a:t>LSTM and GRU trained with identical settings</a:t>
            </a:r>
            <a:endParaRPr lang="en-US" sz="1400" dirty="0"/>
          </a:p>
        </p:txBody>
      </p:sp>
      <p:sp>
        <p:nvSpPr>
          <p:cNvPr id="26" name="Result strip"/>
          <p:cNvSpPr/>
          <p:nvPr/>
        </p:nvSpPr>
        <p:spPr>
          <a:xfrm>
            <a:off x="548640" y="5623560"/>
            <a:ext cx="11064240" cy="594360"/>
          </a:xfrm>
          <a:prstGeom prst="roundRect">
            <a:avLst>
              <a:gd name="adj" fmla="val 12308"/>
            </a:avLst>
          </a:prstGeom>
          <a:solidFill>
            <a:schemeClr val="accent1"/>
          </a:solidFill>
          <a:ln w="6350">
            <a:solidFill>
              <a:schemeClr val="accent1"/>
            </a:solidFill>
            <a:prstDash val="solid"/>
          </a:ln>
          <a:effectLst>
            <a:outerShdw sx="100000" sy="100000" kx="0" ky="0" algn="bl" rotWithShape="0" blurRad="127000" dist="25400" dir="5400000">
              <a:srgbClr val="13272D">
                <a:alpha val="10000"/>
              </a:srgbClr>
            </a:outerShdw>
          </a:effectLst>
        </p:spPr>
        <p:txBody>
          <a:bodyPr/>
          <a:p/>
        </p:txBody>
      </p:sp>
      <p:sp>
        <p:nvSpPr>
          <p:cNvPr id="27" name="Result strip text"/>
          <p:cNvSpPr txBox="1"/>
          <p:nvPr/>
        </p:nvSpPr>
        <p:spPr>
          <a:xfrm>
            <a:off x="777240" y="5623560"/>
            <a:ext cx="10607040" cy="594360"/>
          </a:xfrm>
          <a:prstGeom prst="rect">
            <a:avLst/>
          </a:prstGeom>
          <a:noFill/>
          <a:ln/>
        </p:spPr>
        <p:txBody>
          <a:bodyPr wrap="square" lIns="0" tIns="0" rIns="0" bIns="0" rtlCol="0" anchor="ctr"/>
          <a:lstStyle/>
          <a:p>
            <a:pPr indent="0" marL="0">
              <a:buNone/>
            </a:pPr>
            <a:r>
              <a:rPr lang="en-US" sz="1400" dirty="0">
                <a:solidFill>
                  <a:schemeClr val="bg1"/>
                </a:solidFill>
              </a:rPr>
              <a:t>Result on the 281 test days (rolling 1-step RMSE):  GRU $2,468.90  |  LSTM $3,776.48  |  compared with the baselines on the next slide</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9</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OUT-OF-SAMPLE FORECASTING</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Forecast Benchmark and Diebold-Mariano</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Over 281 test days, no model beats the random walk at one step ahead</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Khalil Ayeb</a:t>
            </a:r>
            <a:endParaRPr lang="en-US" sz="1100" dirty="0"/>
          </a:p>
        </p:txBody>
      </p:sp>
      <p:sp>
        <p:nvSpPr>
          <p:cNvPr id="6" name="RMSE chart card"/>
          <p:cNvSpPr/>
          <p:nvPr/>
        </p:nvSpPr>
        <p:spPr>
          <a:xfrm>
            <a:off x="548640" y="1828800"/>
            <a:ext cx="4846320" cy="2514600"/>
          </a:xfrm>
          <a:prstGeom prst="roundRect">
            <a:avLst>
              <a:gd name="adj" fmla="val 2909"/>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graphicFrame>
        <p:nvGraphicFramePr>
          <p:cNvPr id="7" name="RMSE ranking chart" descr=""/>
          <p:cNvGraphicFramePr/>
          <p:nvPr/>
        </p:nvGraphicFramePr>
        <p:xfrm>
          <a:off x="640080" y="1874520"/>
          <a:ext cx="4663440" cy="2423160"/>
        </p:xfrm>
        <a:graphic xmlns:a="http://schemas.openxmlformats.org/drawingml/2006/main">
          <a:graphicData uri="http://schemas.openxmlformats.org/drawingml/2006/chart">
            <c:chart xmlns:c="http://schemas.openxmlformats.org/drawingml/2006/chart" r:id="rId1"/>
          </a:graphicData>
        </a:graphic>
      </p:graphicFrame>
      <p:sp>
        <p:nvSpPr>
          <p:cNvPr id="8" name="Forecast chart card"/>
          <p:cNvSpPr/>
          <p:nvPr/>
        </p:nvSpPr>
        <p:spPr>
          <a:xfrm>
            <a:off x="5577840" y="1828800"/>
            <a:ext cx="6035040" cy="2514600"/>
          </a:xfrm>
          <a:prstGeom prst="roundRect">
            <a:avLst>
              <a:gd name="adj" fmla="val 2909"/>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graphicFrame>
        <p:nvGraphicFramePr>
          <p:cNvPr id="9" name="Forecast trajectories chart" descr=""/>
          <p:cNvGraphicFramePr/>
          <p:nvPr/>
        </p:nvGraphicFramePr>
        <p:xfrm>
          <a:off x="5669280" y="1874520"/>
          <a:ext cx="5852160" cy="2423160"/>
        </p:xfrm>
        <a:graphic xmlns:a="http://schemas.openxmlformats.org/drawingml/2006/main">
          <a:graphicData uri="http://schemas.openxmlformats.org/drawingml/2006/chart">
            <c:chart xmlns:c="http://schemas.openxmlformats.org/drawingml/2006/chart" r:id="rId2"/>
          </a:graphicData>
        </a:graphic>
      </p:graphicFrame>
      <p:sp>
        <p:nvSpPr>
          <p:cNvPr id="10" name="DM card 1"/>
          <p:cNvSpPr/>
          <p:nvPr/>
        </p:nvSpPr>
        <p:spPr>
          <a:xfrm>
            <a:off x="548640" y="4526280"/>
            <a:ext cx="3566160" cy="1691640"/>
          </a:xfrm>
          <a:prstGeom prst="roundRect">
            <a:avLst>
              <a:gd name="adj" fmla="val 432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1" name="DM pair 1"/>
          <p:cNvSpPr txBox="1"/>
          <p:nvPr/>
        </p:nvSpPr>
        <p:spPr>
          <a:xfrm>
            <a:off x="777240" y="4645152"/>
            <a:ext cx="3108960" cy="320040"/>
          </a:xfrm>
          <a:prstGeom prst="rect">
            <a:avLst/>
          </a:prstGeom>
          <a:noFill/>
          <a:ln/>
        </p:spPr>
        <p:txBody>
          <a:bodyPr wrap="square" lIns="0" tIns="0" rIns="0" bIns="0" rtlCol="0" anchor="t"/>
          <a:lstStyle/>
          <a:p>
            <a:pPr indent="0" marL="0">
              <a:buNone/>
            </a:pPr>
            <a:r>
              <a:rPr lang="en-US" sz="1600" b="1" dirty="0">
                <a:solidFill>
                  <a:schemeClr val="tx1"/>
                </a:solidFill>
              </a:rPr>
              <a:t>Naive vs rolling ARIMA</a:t>
            </a:r>
            <a:endParaRPr lang="en-US" sz="1600" dirty="0"/>
          </a:p>
        </p:txBody>
      </p:sp>
      <p:sp>
        <p:nvSpPr>
          <p:cNvPr id="12" name="DM stats 1"/>
          <p:cNvSpPr txBox="1"/>
          <p:nvPr/>
        </p:nvSpPr>
        <p:spPr>
          <a:xfrm>
            <a:off x="777240" y="5029200"/>
            <a:ext cx="3108960" cy="274320"/>
          </a:xfrm>
          <a:prstGeom prst="rect">
            <a:avLst/>
          </a:prstGeom>
          <a:noFill/>
          <a:ln/>
        </p:spPr>
        <p:txBody>
          <a:bodyPr wrap="square" lIns="0" tIns="0" rIns="0" bIns="0" rtlCol="0" anchor="t"/>
          <a:lstStyle/>
          <a:p>
            <a:pPr indent="0" marL="0">
              <a:buNone/>
            </a:pPr>
            <a:r>
              <a:rPr lang="en-US" sz="1400" dirty="0">
                <a:solidFill>
                  <a:schemeClr val="accent4"/>
                </a:solidFill>
              </a:rPr>
              <a:t>DM = -1.243   p = 0.2137</a:t>
            </a:r>
            <a:endParaRPr lang="en-US" sz="1400" dirty="0"/>
          </a:p>
        </p:txBody>
      </p:sp>
      <p:sp>
        <p:nvSpPr>
          <p:cNvPr id="13" name="DM verdict 1"/>
          <p:cNvSpPr txBox="1"/>
          <p:nvPr/>
        </p:nvSpPr>
        <p:spPr>
          <a:xfrm>
            <a:off x="777240" y="5440680"/>
            <a:ext cx="310896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Predictive tie</a:t>
            </a:r>
            <a:endParaRPr lang="en-US" sz="2200" dirty="0"/>
          </a:p>
        </p:txBody>
      </p:sp>
      <p:sp>
        <p:nvSpPr>
          <p:cNvPr id="14" name="DM footnote 1"/>
          <p:cNvSpPr txBox="1"/>
          <p:nvPr/>
        </p:nvSpPr>
        <p:spPr>
          <a:xfrm>
            <a:off x="777240" y="5897880"/>
            <a:ext cx="3108960" cy="228600"/>
          </a:xfrm>
          <a:prstGeom prst="rect">
            <a:avLst/>
          </a:prstGeom>
          <a:noFill/>
          <a:ln/>
        </p:spPr>
        <p:txBody>
          <a:bodyPr wrap="square" lIns="0" tIns="0" rIns="0" bIns="0" rtlCol="0" anchor="t"/>
          <a:lstStyle/>
          <a:p>
            <a:pPr indent="0" marL="0">
              <a:buNone/>
            </a:pPr>
            <a:r>
              <a:rPr lang="en-US" sz="1100" dirty="0">
                <a:solidFill>
                  <a:schemeClr val="accent4"/>
                </a:solidFill>
              </a:rPr>
              <a:t>HAC Newey-West standard errors</a:t>
            </a:r>
            <a:endParaRPr lang="en-US" sz="1100" dirty="0"/>
          </a:p>
        </p:txBody>
      </p:sp>
      <p:sp>
        <p:nvSpPr>
          <p:cNvPr id="15" name="DM card 2"/>
          <p:cNvSpPr/>
          <p:nvPr/>
        </p:nvSpPr>
        <p:spPr>
          <a:xfrm>
            <a:off x="4297680" y="4526280"/>
            <a:ext cx="3566160" cy="1691640"/>
          </a:xfrm>
          <a:prstGeom prst="roundRect">
            <a:avLst>
              <a:gd name="adj" fmla="val 432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6" name="DM pair 2"/>
          <p:cNvSpPr txBox="1"/>
          <p:nvPr/>
        </p:nvSpPr>
        <p:spPr>
          <a:xfrm>
            <a:off x="4526280" y="4645152"/>
            <a:ext cx="3108960" cy="320040"/>
          </a:xfrm>
          <a:prstGeom prst="rect">
            <a:avLst/>
          </a:prstGeom>
          <a:noFill/>
          <a:ln/>
        </p:spPr>
        <p:txBody>
          <a:bodyPr wrap="square" lIns="0" tIns="0" rIns="0" bIns="0" rtlCol="0" anchor="t"/>
          <a:lstStyle/>
          <a:p>
            <a:pPr indent="0" marL="0">
              <a:buNone/>
            </a:pPr>
            <a:r>
              <a:rPr lang="en-US" sz="1600" b="1" dirty="0">
                <a:solidFill>
                  <a:schemeClr val="tx1"/>
                </a:solidFill>
              </a:rPr>
              <a:t>Naive vs GRU</a:t>
            </a:r>
            <a:endParaRPr lang="en-US" sz="1600" dirty="0"/>
          </a:p>
        </p:txBody>
      </p:sp>
      <p:sp>
        <p:nvSpPr>
          <p:cNvPr id="17" name="DM stats 2"/>
          <p:cNvSpPr txBox="1"/>
          <p:nvPr/>
        </p:nvSpPr>
        <p:spPr>
          <a:xfrm>
            <a:off x="4526280" y="5029200"/>
            <a:ext cx="3108960" cy="274320"/>
          </a:xfrm>
          <a:prstGeom prst="rect">
            <a:avLst/>
          </a:prstGeom>
          <a:noFill/>
          <a:ln/>
        </p:spPr>
        <p:txBody>
          <a:bodyPr wrap="square" lIns="0" tIns="0" rIns="0" bIns="0" rtlCol="0" anchor="t"/>
          <a:lstStyle/>
          <a:p>
            <a:pPr indent="0" marL="0">
              <a:buNone/>
            </a:pPr>
            <a:r>
              <a:rPr lang="en-US" sz="1400" dirty="0">
                <a:solidFill>
                  <a:schemeClr val="accent4"/>
                </a:solidFill>
              </a:rPr>
              <a:t>DM = -5.001   p = 5.71e-7</a:t>
            </a:r>
            <a:endParaRPr lang="en-US" sz="1400" dirty="0"/>
          </a:p>
        </p:txBody>
      </p:sp>
      <p:sp>
        <p:nvSpPr>
          <p:cNvPr id="18" name="DM verdict 2"/>
          <p:cNvSpPr txBox="1"/>
          <p:nvPr/>
        </p:nvSpPr>
        <p:spPr>
          <a:xfrm>
            <a:off x="4526280" y="5440680"/>
            <a:ext cx="310896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Naive is superior</a:t>
            </a:r>
            <a:endParaRPr lang="en-US" sz="2200" dirty="0"/>
          </a:p>
        </p:txBody>
      </p:sp>
      <p:sp>
        <p:nvSpPr>
          <p:cNvPr id="19" name="DM footnote 2"/>
          <p:cNvSpPr txBox="1"/>
          <p:nvPr/>
        </p:nvSpPr>
        <p:spPr>
          <a:xfrm>
            <a:off x="4526280" y="5897880"/>
            <a:ext cx="3108960" cy="228600"/>
          </a:xfrm>
          <a:prstGeom prst="rect">
            <a:avLst/>
          </a:prstGeom>
          <a:noFill/>
          <a:ln/>
        </p:spPr>
        <p:txBody>
          <a:bodyPr wrap="square" lIns="0" tIns="0" rIns="0" bIns="0" rtlCol="0" anchor="t"/>
          <a:lstStyle/>
          <a:p>
            <a:pPr indent="0" marL="0">
              <a:buNone/>
            </a:pPr>
            <a:r>
              <a:rPr lang="en-US" sz="1100" dirty="0">
                <a:solidFill>
                  <a:schemeClr val="accent4"/>
                </a:solidFill>
              </a:rPr>
              <a:t>HAC Newey-West standard errors</a:t>
            </a:r>
            <a:endParaRPr lang="en-US" sz="1100" dirty="0"/>
          </a:p>
        </p:txBody>
      </p:sp>
      <p:sp>
        <p:nvSpPr>
          <p:cNvPr id="20" name="DM card 3"/>
          <p:cNvSpPr/>
          <p:nvPr/>
        </p:nvSpPr>
        <p:spPr>
          <a:xfrm>
            <a:off x="8046720" y="4526280"/>
            <a:ext cx="3566160" cy="1691640"/>
          </a:xfrm>
          <a:prstGeom prst="roundRect">
            <a:avLst>
              <a:gd name="adj" fmla="val 4324"/>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1" name="DM pair 3"/>
          <p:cNvSpPr txBox="1"/>
          <p:nvPr/>
        </p:nvSpPr>
        <p:spPr>
          <a:xfrm>
            <a:off x="8275320" y="4645152"/>
            <a:ext cx="3108960" cy="320040"/>
          </a:xfrm>
          <a:prstGeom prst="rect">
            <a:avLst/>
          </a:prstGeom>
          <a:noFill/>
          <a:ln/>
        </p:spPr>
        <p:txBody>
          <a:bodyPr wrap="square" lIns="0" tIns="0" rIns="0" bIns="0" rtlCol="0" anchor="t"/>
          <a:lstStyle/>
          <a:p>
            <a:pPr indent="0" marL="0">
              <a:buNone/>
            </a:pPr>
            <a:r>
              <a:rPr lang="en-US" sz="1600" b="1" dirty="0">
                <a:solidFill>
                  <a:schemeClr val="tx1"/>
                </a:solidFill>
              </a:rPr>
              <a:t>Naive vs LSTM</a:t>
            </a:r>
            <a:endParaRPr lang="en-US" sz="1600" dirty="0"/>
          </a:p>
        </p:txBody>
      </p:sp>
      <p:sp>
        <p:nvSpPr>
          <p:cNvPr id="22" name="DM stats 3"/>
          <p:cNvSpPr txBox="1"/>
          <p:nvPr/>
        </p:nvSpPr>
        <p:spPr>
          <a:xfrm>
            <a:off x="8275320" y="5029200"/>
            <a:ext cx="3108960" cy="274320"/>
          </a:xfrm>
          <a:prstGeom prst="rect">
            <a:avLst/>
          </a:prstGeom>
          <a:noFill/>
          <a:ln/>
        </p:spPr>
        <p:txBody>
          <a:bodyPr wrap="square" lIns="0" tIns="0" rIns="0" bIns="0" rtlCol="0" anchor="t"/>
          <a:lstStyle/>
          <a:p>
            <a:pPr indent="0" marL="0">
              <a:buNone/>
            </a:pPr>
            <a:r>
              <a:rPr lang="en-US" sz="1400" dirty="0">
                <a:solidFill>
                  <a:schemeClr val="accent4"/>
                </a:solidFill>
              </a:rPr>
              <a:t>DM = -13.149   p &lt; 1e-16</a:t>
            </a:r>
            <a:endParaRPr lang="en-US" sz="1400" dirty="0"/>
          </a:p>
        </p:txBody>
      </p:sp>
      <p:sp>
        <p:nvSpPr>
          <p:cNvPr id="23" name="DM verdict 3"/>
          <p:cNvSpPr txBox="1"/>
          <p:nvPr/>
        </p:nvSpPr>
        <p:spPr>
          <a:xfrm>
            <a:off x="8275320" y="5440680"/>
            <a:ext cx="310896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Naive is superior</a:t>
            </a:r>
            <a:endParaRPr lang="en-US" sz="2200" dirty="0"/>
          </a:p>
        </p:txBody>
      </p:sp>
      <p:sp>
        <p:nvSpPr>
          <p:cNvPr id="24" name="DM footnote 3"/>
          <p:cNvSpPr txBox="1"/>
          <p:nvPr/>
        </p:nvSpPr>
        <p:spPr>
          <a:xfrm>
            <a:off x="8275320" y="5897880"/>
            <a:ext cx="3108960" cy="228600"/>
          </a:xfrm>
          <a:prstGeom prst="rect">
            <a:avLst/>
          </a:prstGeom>
          <a:noFill/>
          <a:ln/>
        </p:spPr>
        <p:txBody>
          <a:bodyPr wrap="square" lIns="0" tIns="0" rIns="0" bIns="0" rtlCol="0" anchor="t"/>
          <a:lstStyle/>
          <a:p>
            <a:pPr indent="0" marL="0">
              <a:buNone/>
            </a:pPr>
            <a:r>
              <a:rPr lang="en-US" sz="1100" dirty="0">
                <a:solidFill>
                  <a:schemeClr val="accent4"/>
                </a:solidFill>
              </a:rPr>
              <a:t>HAC Newey-West standard errors</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11</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GENERATIVE AI AUDIT</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tx1"/>
                </a:solidFill>
              </a:rPr>
              <a:t>Auditing Three LLMs</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4"/>
                </a:solidFill>
              </a:rPr>
              <a:t>Three methodological hallucinations caught and refuted with the project's own results</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4"/>
                </a:solidFill>
              </a:rPr>
              <a:t>Presented by Khalil Ayeb</a:t>
            </a:r>
            <a:endParaRPr lang="en-US" sz="1100" dirty="0"/>
          </a:p>
        </p:txBody>
      </p:sp>
      <p:sp>
        <p:nvSpPr>
          <p:cNvPr id="6" name="Audit card 1"/>
          <p:cNvSpPr/>
          <p:nvPr/>
        </p:nvSpPr>
        <p:spPr>
          <a:xfrm>
            <a:off x="548640" y="1828800"/>
            <a:ext cx="3566160" cy="3611880"/>
          </a:xfrm>
          <a:prstGeom prst="roundRect">
            <a:avLst>
              <a:gd name="adj" fmla="val 2051"/>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7" name="Audit number circle 1"/>
          <p:cNvSpPr/>
          <p:nvPr/>
        </p:nvSpPr>
        <p:spPr>
          <a:xfrm>
            <a:off x="777240" y="1984248"/>
            <a:ext cx="384048" cy="384048"/>
          </a:xfrm>
          <a:prstGeom prst="ellipse">
            <a:avLst/>
          </a:prstGeom>
          <a:solidFill>
            <a:schemeClr val="accent1"/>
          </a:solidFill>
          <a:ln w="6350">
            <a:solidFill>
              <a:schemeClr val="accent1"/>
            </a:solidFill>
            <a:prstDash val="solid"/>
          </a:ln>
        </p:spPr>
        <p:txBody>
          <a:bodyPr/>
          <a:p/>
        </p:txBody>
      </p:sp>
      <p:sp>
        <p:nvSpPr>
          <p:cNvPr id="8" name="Audit number 1"/>
          <p:cNvSpPr txBox="1"/>
          <p:nvPr/>
        </p:nvSpPr>
        <p:spPr>
          <a:xfrm>
            <a:off x="777240" y="1984248"/>
            <a:ext cx="384048" cy="384048"/>
          </a:xfrm>
          <a:prstGeom prst="rect">
            <a:avLst/>
          </a:prstGeom>
          <a:noFill/>
          <a:ln/>
        </p:spPr>
        <p:txBody>
          <a:bodyPr wrap="square" lIns="0" tIns="0" rIns="0" bIns="0" rtlCol="0" anchor="ctr"/>
          <a:lstStyle/>
          <a:p>
            <a:pPr algn="ctr" indent="0" marL="0">
              <a:buNone/>
            </a:pPr>
            <a:r>
              <a:t>12</a:t>
            </a:r>
            <a:endParaRPr lang="en-US" sz="1400" dirty="0"/>
          </a:p>
        </p:txBody>
      </p:sp>
      <p:sp>
        <p:nvSpPr>
          <p:cNvPr id="9" name="Audit title 1"/>
          <p:cNvSpPr txBox="1"/>
          <p:nvPr/>
        </p:nvSpPr>
        <p:spPr>
          <a:xfrm>
            <a:off x="1298448" y="1938528"/>
            <a:ext cx="2697480" cy="320040"/>
          </a:xfrm>
          <a:prstGeom prst="rect">
            <a:avLst/>
          </a:prstGeom>
          <a:noFill/>
          <a:ln/>
        </p:spPr>
        <p:txBody>
          <a:bodyPr wrap="square" lIns="0" tIns="0" rIns="0" bIns="0" rtlCol="0" anchor="ctr"/>
          <a:lstStyle/>
          <a:p>
            <a:pPr indent="0" marL="0">
              <a:buNone/>
            </a:pPr>
            <a:r>
              <a:rPr lang="en-US" sz="1800" b="1" dirty="0">
                <a:solidFill>
                  <a:schemeClr val="tx1"/>
                </a:solidFill>
              </a:rPr>
              <a:t>Cointegration mirage</a:t>
            </a:r>
            <a:endParaRPr lang="en-US" sz="1800" dirty="0"/>
          </a:p>
        </p:txBody>
      </p:sp>
      <p:sp>
        <p:nvSpPr>
          <p:cNvPr id="10" name="Audit source 1"/>
          <p:cNvSpPr txBox="1"/>
          <p:nvPr/>
        </p:nvSpPr>
        <p:spPr>
          <a:xfrm>
            <a:off x="1298448" y="2258568"/>
            <a:ext cx="2697480" cy="228600"/>
          </a:xfrm>
          <a:prstGeom prst="rect">
            <a:avLst/>
          </a:prstGeom>
          <a:noFill/>
          <a:ln/>
        </p:spPr>
        <p:txBody>
          <a:bodyPr wrap="square" lIns="0" tIns="0" rIns="0" bIns="0" rtlCol="0" anchor="t"/>
          <a:lstStyle/>
          <a:p>
            <a:pPr indent="0" marL="0">
              <a:buNone/>
            </a:pPr>
            <a:r>
              <a:rPr lang="en-US" sz="1200" dirty="0">
                <a:solidFill>
                  <a:schemeClr val="accent4"/>
                </a:solidFill>
              </a:rPr>
              <a:t>DeepSeek-R1, Experiment 3</a:t>
            </a:r>
            <a:endParaRPr lang="en-US" sz="1200" dirty="0"/>
          </a:p>
        </p:txBody>
      </p:sp>
      <p:sp>
        <p:nvSpPr>
          <p:cNvPr id="11" name="Audit label 1-1"/>
          <p:cNvSpPr txBox="1"/>
          <p:nvPr/>
        </p:nvSpPr>
        <p:spPr>
          <a:xfrm>
            <a:off x="777240" y="265176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CLAIM</a:t>
            </a:r>
            <a:endParaRPr lang="en-US" sz="1100" dirty="0"/>
          </a:p>
        </p:txBody>
      </p:sp>
      <p:sp>
        <p:nvSpPr>
          <p:cNvPr id="12" name="Audit text 1-1"/>
          <p:cNvSpPr txBox="1"/>
          <p:nvPr/>
        </p:nvSpPr>
        <p:spPr>
          <a:xfrm>
            <a:off x="777240" y="2871216"/>
            <a:ext cx="3108960" cy="822960"/>
          </a:xfrm>
          <a:prstGeom prst="rect">
            <a:avLst/>
          </a:prstGeom>
          <a:noFill/>
          <a:ln/>
        </p:spPr>
        <p:txBody>
          <a:bodyPr wrap="square" lIns="0" tIns="0" rIns="0" bIns="0" rtlCol="0" anchor="t"/>
          <a:lstStyle/>
          <a:p>
            <a:pPr indent="0" marL="0">
              <a:buNone/>
            </a:pPr>
            <a:r>
              <a:rPr lang="en-US" sz="1400" dirty="0">
                <a:solidFill>
                  <a:schemeClr val="tx1"/>
                </a:solidFill>
              </a:rPr>
              <a:t>Trade a cointegrated BTC, ETH, BNB spread, entering at 2 standard deviations.</a:t>
            </a:r>
            <a:endParaRPr lang="en-US" sz="1400" dirty="0"/>
          </a:p>
        </p:txBody>
      </p:sp>
      <p:sp>
        <p:nvSpPr>
          <p:cNvPr id="13" name="Audit label 1-2"/>
          <p:cNvSpPr txBox="1"/>
          <p:nvPr/>
        </p:nvSpPr>
        <p:spPr>
          <a:xfrm>
            <a:off x="777240" y="365760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EVIDENCE</a:t>
            </a:r>
            <a:endParaRPr lang="en-US" sz="1100" dirty="0"/>
          </a:p>
        </p:txBody>
      </p:sp>
      <p:sp>
        <p:nvSpPr>
          <p:cNvPr id="14" name="Audit text 1-2"/>
          <p:cNvSpPr txBox="1"/>
          <p:nvPr/>
        </p:nvSpPr>
        <p:spPr>
          <a:xfrm>
            <a:off x="777240" y="3877056"/>
            <a:ext cx="3108960" cy="914400"/>
          </a:xfrm>
          <a:prstGeom prst="rect">
            <a:avLst/>
          </a:prstGeom>
          <a:noFill/>
          <a:ln/>
        </p:spPr>
        <p:txBody>
          <a:bodyPr wrap="square" lIns="0" tIns="0" rIns="0" bIns="0" rtlCol="0" anchor="t"/>
          <a:lstStyle/>
          <a:p>
            <a:pPr indent="0" marL="0">
              <a:buNone/>
            </a:pPr>
            <a:r>
              <a:rPr lang="en-US" sz="1400" dirty="0">
                <a:solidFill>
                  <a:schemeClr val="tx1"/>
                </a:solidFill>
              </a:rPr>
              <a:t>Johansen gives r = 0 (trace 25.53 &lt; 29.80). The spread is I(1) and never reverts.</a:t>
            </a:r>
            <a:endParaRPr lang="en-US" sz="1400" dirty="0"/>
          </a:p>
        </p:txBody>
      </p:sp>
      <p:sp>
        <p:nvSpPr>
          <p:cNvPr id="15" name="Audit label 1-3"/>
          <p:cNvSpPr txBox="1"/>
          <p:nvPr/>
        </p:nvSpPr>
        <p:spPr>
          <a:xfrm>
            <a:off x="777240" y="470916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IMPACT</a:t>
            </a:r>
            <a:endParaRPr lang="en-US" sz="1100" dirty="0"/>
          </a:p>
        </p:txBody>
      </p:sp>
      <p:sp>
        <p:nvSpPr>
          <p:cNvPr id="16" name="Audit text 1-3"/>
          <p:cNvSpPr txBox="1"/>
          <p:nvPr/>
        </p:nvSpPr>
        <p:spPr>
          <a:xfrm>
            <a:off x="777240" y="4928616"/>
            <a:ext cx="3108960" cy="685800"/>
          </a:xfrm>
          <a:prstGeom prst="rect">
            <a:avLst/>
          </a:prstGeom>
          <a:noFill/>
          <a:ln/>
        </p:spPr>
        <p:txBody>
          <a:bodyPr wrap="square" lIns="0" tIns="0" rIns="0" bIns="0" rtlCol="0" anchor="t"/>
          <a:lstStyle/>
          <a:p>
            <a:pPr indent="0" marL="0">
              <a:buNone/>
            </a:pPr>
            <a:r>
              <a:rPr lang="en-US" sz="1400" dirty="0">
                <a:solidFill>
                  <a:schemeClr val="tx1"/>
                </a:solidFill>
              </a:rPr>
              <a:t>The spread diverges and the fund takes losses.</a:t>
            </a:r>
            <a:endParaRPr lang="en-US" sz="1400" dirty="0"/>
          </a:p>
        </p:txBody>
      </p:sp>
      <p:sp>
        <p:nvSpPr>
          <p:cNvPr id="17" name="Audit card 2"/>
          <p:cNvSpPr/>
          <p:nvPr/>
        </p:nvSpPr>
        <p:spPr>
          <a:xfrm>
            <a:off x="4297680" y="1828800"/>
            <a:ext cx="3566160" cy="3611880"/>
          </a:xfrm>
          <a:prstGeom prst="roundRect">
            <a:avLst>
              <a:gd name="adj" fmla="val 2051"/>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18" name="Audit number circle 2"/>
          <p:cNvSpPr/>
          <p:nvPr/>
        </p:nvSpPr>
        <p:spPr>
          <a:xfrm>
            <a:off x="4526280" y="1984248"/>
            <a:ext cx="384048" cy="384048"/>
          </a:xfrm>
          <a:prstGeom prst="ellipse">
            <a:avLst/>
          </a:prstGeom>
          <a:solidFill>
            <a:schemeClr val="accent1"/>
          </a:solidFill>
          <a:ln w="6350">
            <a:solidFill>
              <a:schemeClr val="accent1"/>
            </a:solidFill>
            <a:prstDash val="solid"/>
          </a:ln>
        </p:spPr>
        <p:txBody>
          <a:bodyPr/>
          <a:p/>
        </p:txBody>
      </p:sp>
      <p:sp>
        <p:nvSpPr>
          <p:cNvPr id="19" name="Audit number 2"/>
          <p:cNvSpPr txBox="1"/>
          <p:nvPr/>
        </p:nvSpPr>
        <p:spPr>
          <a:xfrm>
            <a:off x="4526280" y="1984248"/>
            <a:ext cx="384048" cy="384048"/>
          </a:xfrm>
          <a:prstGeom prst="rect">
            <a:avLst/>
          </a:prstGeom>
          <a:noFill/>
          <a:ln/>
        </p:spPr>
        <p:txBody>
          <a:bodyPr wrap="square" lIns="0" tIns="0" rIns="0" bIns="0" rtlCol="0" anchor="ctr"/>
          <a:lstStyle/>
          <a:p>
            <a:pPr algn="ctr" indent="0" marL="0">
              <a:buNone/>
            </a:pPr>
            <a:r>
              <a:t>12</a:t>
            </a:r>
            <a:endParaRPr lang="en-US" sz="1400" dirty="0"/>
          </a:p>
        </p:txBody>
      </p:sp>
      <p:sp>
        <p:nvSpPr>
          <p:cNvPr id="20" name="Audit title 2"/>
          <p:cNvSpPr txBox="1"/>
          <p:nvPr/>
        </p:nvSpPr>
        <p:spPr>
          <a:xfrm>
            <a:off x="5047488" y="1938528"/>
            <a:ext cx="2697480" cy="320040"/>
          </a:xfrm>
          <a:prstGeom prst="rect">
            <a:avLst/>
          </a:prstGeom>
          <a:noFill/>
          <a:ln/>
        </p:spPr>
        <p:txBody>
          <a:bodyPr wrap="square" lIns="0" tIns="0" rIns="0" bIns="0" rtlCol="0" anchor="ctr"/>
          <a:lstStyle/>
          <a:p>
            <a:pPr indent="0" marL="0">
              <a:buNone/>
            </a:pPr>
            <a:r>
              <a:rPr lang="en-US" sz="1800" b="1" dirty="0">
                <a:solidFill>
                  <a:schemeClr val="tx1"/>
                </a:solidFill>
              </a:rPr>
              <a:t>Causality fallacy</a:t>
            </a:r>
            <a:endParaRPr lang="en-US" sz="1800" dirty="0"/>
          </a:p>
        </p:txBody>
      </p:sp>
      <p:sp>
        <p:nvSpPr>
          <p:cNvPr id="21" name="Audit source 2"/>
          <p:cNvSpPr txBox="1"/>
          <p:nvPr/>
        </p:nvSpPr>
        <p:spPr>
          <a:xfrm>
            <a:off x="5047488" y="2258568"/>
            <a:ext cx="2697480" cy="228600"/>
          </a:xfrm>
          <a:prstGeom prst="rect">
            <a:avLst/>
          </a:prstGeom>
          <a:noFill/>
          <a:ln/>
        </p:spPr>
        <p:txBody>
          <a:bodyPr wrap="square" lIns="0" tIns="0" rIns="0" bIns="0" rtlCol="0" anchor="t"/>
          <a:lstStyle/>
          <a:p>
            <a:pPr indent="0" marL="0">
              <a:buNone/>
            </a:pPr>
            <a:r>
              <a:rPr lang="en-US" sz="1200" dirty="0">
                <a:solidFill>
                  <a:schemeClr val="accent4"/>
                </a:solidFill>
              </a:rPr>
              <a:t>Claude 3.5 Sonnet, Experiment 2</a:t>
            </a:r>
            <a:endParaRPr lang="en-US" sz="1200" dirty="0"/>
          </a:p>
        </p:txBody>
      </p:sp>
      <p:sp>
        <p:nvSpPr>
          <p:cNvPr id="22" name="Audit label 2-1"/>
          <p:cNvSpPr txBox="1"/>
          <p:nvPr/>
        </p:nvSpPr>
        <p:spPr>
          <a:xfrm>
            <a:off x="4526280" y="265176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CLAIM</a:t>
            </a:r>
            <a:endParaRPr lang="en-US" sz="1100" dirty="0"/>
          </a:p>
        </p:txBody>
      </p:sp>
      <p:sp>
        <p:nvSpPr>
          <p:cNvPr id="23" name="Audit text 2-1"/>
          <p:cNvSpPr txBox="1"/>
          <p:nvPr/>
        </p:nvSpPr>
        <p:spPr>
          <a:xfrm>
            <a:off x="4526280" y="2871216"/>
            <a:ext cx="3108960" cy="822960"/>
          </a:xfrm>
          <a:prstGeom prst="rect">
            <a:avLst/>
          </a:prstGeom>
          <a:noFill/>
          <a:ln/>
        </p:spPr>
        <p:txBody>
          <a:bodyPr wrap="square" lIns="0" tIns="0" rIns="0" bIns="0" rtlCol="0" anchor="t"/>
          <a:lstStyle/>
          <a:p>
            <a:pPr indent="0" marL="0">
              <a:buNone/>
            </a:pPr>
            <a:r>
              <a:rPr lang="en-US" sz="1400" dirty="0">
                <a:solidFill>
                  <a:schemeClr val="tx1"/>
                </a:solidFill>
              </a:rPr>
              <a:t>Granger precedence presented as structural causation, with BNB a pure price-taker.</a:t>
            </a:r>
            <a:endParaRPr lang="en-US" sz="1400" dirty="0"/>
          </a:p>
        </p:txBody>
      </p:sp>
      <p:sp>
        <p:nvSpPr>
          <p:cNvPr id="24" name="Audit label 2-2"/>
          <p:cNvSpPr txBox="1"/>
          <p:nvPr/>
        </p:nvSpPr>
        <p:spPr>
          <a:xfrm>
            <a:off x="4526280" y="365760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EVIDENCE</a:t>
            </a:r>
            <a:endParaRPr lang="en-US" sz="1100" dirty="0"/>
          </a:p>
        </p:txBody>
      </p:sp>
      <p:sp>
        <p:nvSpPr>
          <p:cNvPr id="25" name="Audit text 2-2"/>
          <p:cNvSpPr txBox="1"/>
          <p:nvPr/>
        </p:nvSpPr>
        <p:spPr>
          <a:xfrm>
            <a:off x="4526280" y="3877056"/>
            <a:ext cx="3108960" cy="914400"/>
          </a:xfrm>
          <a:prstGeom prst="rect">
            <a:avLst/>
          </a:prstGeom>
          <a:noFill/>
          <a:ln/>
        </p:spPr>
        <p:txBody>
          <a:bodyPr wrap="square" lIns="0" tIns="0" rIns="0" bIns="0" rtlCol="0" anchor="t"/>
          <a:lstStyle/>
          <a:p>
            <a:pPr indent="0" marL="0">
              <a:buNone/>
            </a:pPr>
            <a:r>
              <a:rPr lang="en-US" sz="1400" dirty="0">
                <a:solidFill>
                  <a:schemeClr val="tx1"/>
                </a:solidFill>
              </a:rPr>
              <a:t>Granger measures linear predictive precedence in a reduced-form VAR only.</a:t>
            </a:r>
            <a:endParaRPr lang="en-US" sz="1400" dirty="0"/>
          </a:p>
        </p:txBody>
      </p:sp>
      <p:sp>
        <p:nvSpPr>
          <p:cNvPr id="26" name="Audit label 2-3"/>
          <p:cNvSpPr txBox="1"/>
          <p:nvPr/>
        </p:nvSpPr>
        <p:spPr>
          <a:xfrm>
            <a:off x="4526280" y="470916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IMPACT</a:t>
            </a:r>
            <a:endParaRPr lang="en-US" sz="1100" dirty="0"/>
          </a:p>
        </p:txBody>
      </p:sp>
      <p:sp>
        <p:nvSpPr>
          <p:cNvPr id="27" name="Audit text 2-3"/>
          <p:cNvSpPr txBox="1"/>
          <p:nvPr/>
        </p:nvSpPr>
        <p:spPr>
          <a:xfrm>
            <a:off x="4526280" y="4928616"/>
            <a:ext cx="3108960" cy="685800"/>
          </a:xfrm>
          <a:prstGeom prst="rect">
            <a:avLst/>
          </a:prstGeom>
          <a:noFill/>
          <a:ln/>
        </p:spPr>
        <p:txBody>
          <a:bodyPr wrap="square" lIns="0" tIns="0" rIns="0" bIns="0" rtlCol="0" anchor="t"/>
          <a:lstStyle/>
          <a:p>
            <a:pPr indent="0" marL="0">
              <a:buNone/>
            </a:pPr>
            <a:r>
              <a:rPr lang="en-US" sz="1400" dirty="0">
                <a:solidFill>
                  <a:schemeClr val="tx1"/>
                </a:solidFill>
              </a:rPr>
              <a:t>Decisions rest on a control variable that does not exist.</a:t>
            </a:r>
            <a:endParaRPr lang="en-US" sz="1400" dirty="0"/>
          </a:p>
        </p:txBody>
      </p:sp>
      <p:sp>
        <p:nvSpPr>
          <p:cNvPr id="28" name="Audit card 3"/>
          <p:cNvSpPr/>
          <p:nvPr/>
        </p:nvSpPr>
        <p:spPr>
          <a:xfrm>
            <a:off x="8046720" y="1828800"/>
            <a:ext cx="3566160" cy="3611880"/>
          </a:xfrm>
          <a:prstGeom prst="roundRect">
            <a:avLst>
              <a:gd name="adj" fmla="val 2051"/>
            </a:avLst>
          </a:prstGeom>
          <a:solidFill>
            <a:schemeClr val="bg1"/>
          </a:solidFill>
          <a:ln w="6350">
            <a:solidFill>
              <a:schemeClr val="bg1"/>
            </a:solidFill>
            <a:prstDash val="solid"/>
          </a:ln>
          <a:effectLst>
            <a:outerShdw sx="100000" sy="100000" kx="0" ky="0" algn="bl" rotWithShape="0" blurRad="127000" dist="25400" dir="5400000">
              <a:srgbClr val="13272D">
                <a:alpha val="10000"/>
              </a:srgbClr>
            </a:outerShdw>
          </a:effectLst>
        </p:spPr>
        <p:txBody>
          <a:bodyPr/>
          <a:p/>
        </p:txBody>
      </p:sp>
      <p:sp>
        <p:nvSpPr>
          <p:cNvPr id="29" name="Audit number circle 3"/>
          <p:cNvSpPr/>
          <p:nvPr/>
        </p:nvSpPr>
        <p:spPr>
          <a:xfrm>
            <a:off x="8275320" y="1984248"/>
            <a:ext cx="384048" cy="384048"/>
          </a:xfrm>
          <a:prstGeom prst="ellipse">
            <a:avLst/>
          </a:prstGeom>
          <a:solidFill>
            <a:schemeClr val="accent1"/>
          </a:solidFill>
          <a:ln w="6350">
            <a:solidFill>
              <a:schemeClr val="accent1"/>
            </a:solidFill>
            <a:prstDash val="solid"/>
          </a:ln>
        </p:spPr>
        <p:txBody>
          <a:bodyPr/>
          <a:p/>
        </p:txBody>
      </p:sp>
      <p:sp>
        <p:nvSpPr>
          <p:cNvPr id="30" name="Audit number 3"/>
          <p:cNvSpPr txBox="1"/>
          <p:nvPr/>
        </p:nvSpPr>
        <p:spPr>
          <a:xfrm>
            <a:off x="8275320" y="1984248"/>
            <a:ext cx="384048" cy="384048"/>
          </a:xfrm>
          <a:prstGeom prst="rect">
            <a:avLst/>
          </a:prstGeom>
          <a:noFill/>
          <a:ln/>
        </p:spPr>
        <p:txBody>
          <a:bodyPr wrap="square" lIns="0" tIns="0" rIns="0" bIns="0" rtlCol="0" anchor="ctr"/>
          <a:lstStyle/>
          <a:p>
            <a:pPr algn="ctr" indent="0" marL="0">
              <a:buNone/>
            </a:pPr>
            <a:r>
              <a:t>12</a:t>
            </a:r>
            <a:endParaRPr lang="en-US" sz="1400" dirty="0"/>
          </a:p>
        </p:txBody>
      </p:sp>
      <p:sp>
        <p:nvSpPr>
          <p:cNvPr id="31" name="Audit title 3"/>
          <p:cNvSpPr txBox="1"/>
          <p:nvPr/>
        </p:nvSpPr>
        <p:spPr>
          <a:xfrm>
            <a:off x="8796528" y="1938528"/>
            <a:ext cx="2697480" cy="320040"/>
          </a:xfrm>
          <a:prstGeom prst="rect">
            <a:avLst/>
          </a:prstGeom>
          <a:noFill/>
          <a:ln/>
        </p:spPr>
        <p:txBody>
          <a:bodyPr wrap="square" lIns="0" tIns="0" rIns="0" bIns="0" rtlCol="0" anchor="ctr"/>
          <a:lstStyle/>
          <a:p>
            <a:pPr indent="0" marL="0">
              <a:buNone/>
            </a:pPr>
            <a:r>
              <a:rPr lang="en-US" sz="1800" b="1" dirty="0">
                <a:solidFill>
                  <a:schemeClr val="tx1"/>
                </a:solidFill>
              </a:rPr>
              <a:t>Fictitious Sharpe</a:t>
            </a:r>
            <a:endParaRPr lang="en-US" sz="1800" dirty="0"/>
          </a:p>
        </p:txBody>
      </p:sp>
      <p:sp>
        <p:nvSpPr>
          <p:cNvPr id="32" name="Audit source 3"/>
          <p:cNvSpPr txBox="1"/>
          <p:nvPr/>
        </p:nvSpPr>
        <p:spPr>
          <a:xfrm>
            <a:off x="8796528" y="2258568"/>
            <a:ext cx="2697480" cy="228600"/>
          </a:xfrm>
          <a:prstGeom prst="rect">
            <a:avLst/>
          </a:prstGeom>
          <a:noFill/>
          <a:ln/>
        </p:spPr>
        <p:txBody>
          <a:bodyPr wrap="square" lIns="0" tIns="0" rIns="0" bIns="0" rtlCol="0" anchor="t"/>
          <a:lstStyle/>
          <a:p>
            <a:pPr indent="0" marL="0">
              <a:buNone/>
            </a:pPr>
            <a:r>
              <a:rPr lang="en-US" sz="1200" dirty="0">
                <a:solidFill>
                  <a:schemeClr val="accent4"/>
                </a:solidFill>
              </a:rPr>
              <a:t>DeepSeek-R1, Experiment 3</a:t>
            </a:r>
            <a:endParaRPr lang="en-US" sz="1200" dirty="0"/>
          </a:p>
        </p:txBody>
      </p:sp>
      <p:sp>
        <p:nvSpPr>
          <p:cNvPr id="33" name="Audit label 3-1"/>
          <p:cNvSpPr txBox="1"/>
          <p:nvPr/>
        </p:nvSpPr>
        <p:spPr>
          <a:xfrm>
            <a:off x="8275320" y="265176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CLAIM</a:t>
            </a:r>
            <a:endParaRPr lang="en-US" sz="1100" dirty="0"/>
          </a:p>
        </p:txBody>
      </p:sp>
      <p:sp>
        <p:nvSpPr>
          <p:cNvPr id="34" name="Audit text 3-1"/>
          <p:cNvSpPr txBox="1"/>
          <p:nvPr/>
        </p:nvSpPr>
        <p:spPr>
          <a:xfrm>
            <a:off x="8275320" y="2871216"/>
            <a:ext cx="3108960" cy="822960"/>
          </a:xfrm>
          <a:prstGeom prst="rect">
            <a:avLst/>
          </a:prstGeom>
          <a:noFill/>
          <a:ln/>
        </p:spPr>
        <p:txBody>
          <a:bodyPr wrap="square" lIns="0" tIns="0" rIns="0" bIns="0" rtlCol="0" anchor="t"/>
          <a:lstStyle/>
          <a:p>
            <a:pPr indent="0" marL="0">
              <a:buNone/>
            </a:pPr>
            <a:r>
              <a:rPr lang="en-US" sz="1400" dirty="0">
                <a:solidFill>
                  <a:schemeClr val="tx1"/>
                </a:solidFill>
              </a:rPr>
              <a:t>Annualized Sharpe ratio of 2.1 to 2.8 with zero beta to Bitcoin.</a:t>
            </a:r>
            <a:endParaRPr lang="en-US" sz="1400" dirty="0"/>
          </a:p>
        </p:txBody>
      </p:sp>
      <p:sp>
        <p:nvSpPr>
          <p:cNvPr id="35" name="Audit label 3-2"/>
          <p:cNvSpPr txBox="1"/>
          <p:nvPr/>
        </p:nvSpPr>
        <p:spPr>
          <a:xfrm>
            <a:off x="8275320" y="365760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EVIDENCE</a:t>
            </a:r>
            <a:endParaRPr lang="en-US" sz="1100" dirty="0"/>
          </a:p>
        </p:txBody>
      </p:sp>
      <p:sp>
        <p:nvSpPr>
          <p:cNvPr id="36" name="Audit text 3-2"/>
          <p:cNvSpPr txBox="1"/>
          <p:nvPr/>
        </p:nvSpPr>
        <p:spPr>
          <a:xfrm>
            <a:off x="8275320" y="3877056"/>
            <a:ext cx="3108960" cy="914400"/>
          </a:xfrm>
          <a:prstGeom prst="rect">
            <a:avLst/>
          </a:prstGeom>
          <a:noFill/>
          <a:ln/>
        </p:spPr>
        <p:txBody>
          <a:bodyPr wrap="square" lIns="0" tIns="0" rIns="0" bIns="0" rtlCol="0" anchor="t"/>
          <a:lstStyle/>
          <a:p>
            <a:pPr indent="0" marL="0">
              <a:buNone/>
            </a:pPr>
            <a:r>
              <a:rPr lang="en-US" sz="1400" dirty="0">
                <a:solidFill>
                  <a:schemeClr val="tx1"/>
                </a:solidFill>
              </a:rPr>
              <a:t>No fees, slippage or funding costs modeled. Out of sample, the random walk dominates complex models.</a:t>
            </a:r>
            <a:endParaRPr lang="en-US" sz="1400" dirty="0"/>
          </a:p>
        </p:txBody>
      </p:sp>
      <p:sp>
        <p:nvSpPr>
          <p:cNvPr id="37" name="Audit label 3-3"/>
          <p:cNvSpPr txBox="1"/>
          <p:nvPr/>
        </p:nvSpPr>
        <p:spPr>
          <a:xfrm>
            <a:off x="8275320" y="4709160"/>
            <a:ext cx="310896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IMPACT</a:t>
            </a:r>
            <a:endParaRPr lang="en-US" sz="1100" dirty="0"/>
          </a:p>
        </p:txBody>
      </p:sp>
      <p:sp>
        <p:nvSpPr>
          <p:cNvPr id="38" name="Audit text 3-3"/>
          <p:cNvSpPr txBox="1"/>
          <p:nvPr/>
        </p:nvSpPr>
        <p:spPr>
          <a:xfrm>
            <a:off x="8275320" y="4928616"/>
            <a:ext cx="3108960" cy="685800"/>
          </a:xfrm>
          <a:prstGeom prst="rect">
            <a:avLst/>
          </a:prstGeom>
          <a:noFill/>
          <a:ln/>
        </p:spPr>
        <p:txBody>
          <a:bodyPr wrap="square" lIns="0" tIns="0" rIns="0" bIns="0" rtlCol="0" anchor="t"/>
          <a:lstStyle/>
          <a:p>
            <a:pPr indent="0" marL="0">
              <a:buNone/>
            </a:pPr>
            <a:r>
              <a:rPr lang="en-US" sz="1400" dirty="0">
                <a:solidFill>
                  <a:schemeClr val="tx1"/>
                </a:solidFill>
              </a:rPr>
              <a:t>Misleading optimism for institutional investors.</a:t>
            </a:r>
            <a:endParaRPr lang="en-US" sz="1400" dirty="0"/>
          </a:p>
        </p:txBody>
      </p:sp>
      <p:sp>
        <p:nvSpPr>
          <p:cNvPr id="39" name="Audit summary card"/>
          <p:cNvSpPr/>
          <p:nvPr/>
        </p:nvSpPr>
        <p:spPr>
          <a:xfrm>
            <a:off x="548640" y="5623560"/>
            <a:ext cx="11064240" cy="548640"/>
          </a:xfrm>
          <a:prstGeom prst="roundRect">
            <a:avLst>
              <a:gd name="adj" fmla="val 13333"/>
            </a:avLst>
          </a:prstGeom>
          <a:solidFill>
            <a:schemeClr val="accent1"/>
          </a:solidFill>
          <a:ln w="6350">
            <a:solidFill>
              <a:schemeClr val="accent1"/>
            </a:solidFill>
            <a:prstDash val="solid"/>
          </a:ln>
          <a:effectLst>
            <a:outerShdw sx="100000" sy="100000" kx="0" ky="0" algn="bl" rotWithShape="0" blurRad="127000" dist="25400" dir="5400000">
              <a:srgbClr val="13272D">
                <a:alpha val="10000"/>
              </a:srgbClr>
            </a:outerShdw>
          </a:effectLst>
        </p:spPr>
        <p:txBody>
          <a:bodyPr/>
          <a:p/>
        </p:txBody>
      </p:sp>
      <p:sp>
        <p:nvSpPr>
          <p:cNvPr id="40" name="Audit summary text"/>
          <p:cNvSpPr txBox="1"/>
          <p:nvPr/>
        </p:nvSpPr>
        <p:spPr>
          <a:xfrm>
            <a:off x="777240" y="5623560"/>
            <a:ext cx="10607040" cy="548640"/>
          </a:xfrm>
          <a:prstGeom prst="rect">
            <a:avLst/>
          </a:prstGeom>
          <a:noFill/>
          <a:ln/>
        </p:spPr>
        <p:txBody>
          <a:bodyPr wrap="square" lIns="0" tIns="0" rIns="0" bIns="0" rtlCol="0" anchor="ctr"/>
          <a:lstStyle/>
          <a:p>
            <a:pPr indent="0" marL="0">
              <a:buNone/>
            </a:pPr>
            <a:r>
              <a:rPr lang="en-US" sz="1400" dirty="0">
                <a:solidFill>
                  <a:schemeClr val="bg1"/>
                </a:solidFill>
              </a:rPr>
              <a:t>Experiments 1 and 2 also produced sound work: hypothesis framing by ChatGPT-4o and a clear CIO briefing by Claude 3.5 Sonnet.</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E6F78"/>
                </a:solidFill>
              </a:defRPr>
            </a:lvl1pPr>
          </a:lstStyle>
          <a:p>
            <a:pPr algn="r"/>
            <a:r>
              <a:t>12</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CONCLUSION</a:t>
            </a:r>
            <a:endParaRPr lang="en-US" sz="12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Conclusions and Lessons</a:t>
            </a:r>
            <a:endParaRPr lang="en-US" sz="3600" dirty="0"/>
          </a:p>
        </p:txBody>
      </p:sp>
      <p:sp>
        <p:nvSpPr>
          <p:cNvPr id="4" name="Text 0"/>
          <p:cNvSpPr/>
          <p:nvPr>
            <p:ph idx="102" type="body" hasCustomPrompt="1"/>
          </p:nvPr>
        </p:nvSpPr>
        <p:spPr>
          <a:xfrm>
            <a:off x="548640" y="1307592"/>
            <a:ext cx="11064240" cy="365760"/>
          </a:xfrm>
          <a:prstGeom prst="rect">
            <a:avLst/>
          </a:prstGeom>
          <a:noFill/>
          <a:ln/>
        </p:spPr>
        <p:txBody>
          <a:bodyPr wrap="square" lIns="0" tIns="0" rIns="0" bIns="0" rtlCol="0" anchor="ctr"/>
          <a:lstStyle/>
          <a:p>
            <a:pPr indent="0" marL="0">
              <a:buNone/>
            </a:pPr>
            <a:r>
              <a:rPr lang="en-US" sz="1600" dirty="0">
                <a:solidFill>
                  <a:schemeClr val="accent6"/>
                </a:solidFill>
              </a:rPr>
              <a:t>What the econometrics, the neural networks and the audit tell us together</a:t>
            </a:r>
            <a:endParaRPr lang="en-US" sz="1600" dirty="0"/>
          </a:p>
        </p:txBody>
      </p:sp>
      <p:sp>
        <p:nvSpPr>
          <p:cNvPr id="5" name="Presenter"/>
          <p:cNvSpPr txBox="1"/>
          <p:nvPr/>
        </p:nvSpPr>
        <p:spPr>
          <a:xfrm>
            <a:off x="5852160" y="6419088"/>
            <a:ext cx="5120640" cy="256032"/>
          </a:xfrm>
          <a:prstGeom prst="rect">
            <a:avLst/>
          </a:prstGeom>
          <a:noFill/>
          <a:ln/>
        </p:spPr>
        <p:txBody>
          <a:bodyPr wrap="square" lIns="0" tIns="0" rIns="0" bIns="0" rtlCol="0" anchor="ctr"/>
          <a:lstStyle/>
          <a:p>
            <a:pPr algn="r" indent="0" marL="0">
              <a:buNone/>
            </a:pPr>
            <a:r>
              <a:rPr lang="en-US" sz="1100" dirty="0">
                <a:solidFill>
                  <a:schemeClr val="accent6"/>
                </a:solidFill>
              </a:rPr>
              <a:t>Presented by the whole team</a:t>
            </a:r>
            <a:endParaRPr lang="en-US" sz="1100" dirty="0"/>
          </a:p>
        </p:txBody>
      </p:sp>
      <p:sp>
        <p:nvSpPr>
          <p:cNvPr id="6" name="Lesson card 1"/>
          <p:cNvSpPr/>
          <p:nvPr/>
        </p:nvSpPr>
        <p:spPr>
          <a:xfrm>
            <a:off x="548640" y="1920240"/>
            <a:ext cx="5440680" cy="1508760"/>
          </a:xfrm>
          <a:prstGeom prst="roundRect">
            <a:avLst>
              <a:gd name="adj" fmla="val 4848"/>
            </a:avLst>
          </a:prstGeom>
          <a:solidFill>
            <a:schemeClr val="tx2"/>
          </a:solidFill>
          <a:ln w="6350">
            <a:solidFill>
              <a:schemeClr val="tx2"/>
            </a:solidFill>
            <a:prstDash val="solid"/>
          </a:ln>
          <a:effectLst>
            <a:outerShdw sx="100000" sy="100000" kx="0" ky="0" algn="bl" rotWithShape="0" blurRad="127000" dist="25400" dir="5400000">
              <a:srgbClr val="13272D">
                <a:alpha val="10000"/>
              </a:srgbClr>
            </a:outerShdw>
          </a:effectLst>
        </p:spPr>
        <p:txBody>
          <a:bodyPr/>
          <a:p/>
        </p:txBody>
      </p:sp>
      <p:sp>
        <p:nvSpPr>
          <p:cNvPr id="7" name="Lesson number 1"/>
          <p:cNvSpPr txBox="1"/>
          <p:nvPr/>
        </p:nvSpPr>
        <p:spPr>
          <a:xfrm>
            <a:off x="822960" y="2148840"/>
            <a:ext cx="731520" cy="548640"/>
          </a:xfrm>
          <a:prstGeom prst="rect">
            <a:avLst/>
          </a:prstGeom>
          <a:noFill/>
          <a:ln/>
        </p:spPr>
        <p:txBody>
          <a:bodyPr wrap="square" lIns="0" tIns="0" rIns="0" bIns="0" rtlCol="0" anchor="t"/>
          <a:lstStyle/>
          <a:p>
            <a:pPr indent="0" marL="0">
              <a:buNone/>
            </a:pPr>
            <a:r>
              <a:t>13</a:t>
            </a:r>
            <a:endParaRPr lang="en-US" sz="2800" dirty="0"/>
          </a:p>
        </p:txBody>
      </p:sp>
      <p:sp>
        <p:nvSpPr>
          <p:cNvPr id="8" name="Lesson title 1"/>
          <p:cNvSpPr txBox="1"/>
          <p:nvPr/>
        </p:nvSpPr>
        <p:spPr>
          <a:xfrm>
            <a:off x="1600200" y="2121408"/>
            <a:ext cx="4114800" cy="365760"/>
          </a:xfrm>
          <a:prstGeom prst="rect">
            <a:avLst/>
          </a:prstGeom>
          <a:noFill/>
          <a:ln/>
        </p:spPr>
        <p:txBody>
          <a:bodyPr wrap="square" lIns="0" tIns="0" rIns="0" bIns="0" rtlCol="0" anchor="ctr"/>
          <a:lstStyle/>
          <a:p>
            <a:pPr indent="0" marL="0">
              <a:buNone/>
            </a:pPr>
            <a:r>
              <a:rPr lang="en-US" sz="1800" b="1" dirty="0">
                <a:solidFill>
                  <a:schemeClr val="bg1"/>
                </a:solidFill>
              </a:rPr>
              <a:t>Weak-form efficiency</a:t>
            </a:r>
            <a:endParaRPr lang="en-US" sz="1800" dirty="0"/>
          </a:p>
        </p:txBody>
      </p:sp>
      <p:sp>
        <p:nvSpPr>
          <p:cNvPr id="9" name="Lesson text 1"/>
          <p:cNvSpPr txBox="1"/>
          <p:nvPr/>
        </p:nvSpPr>
        <p:spPr>
          <a:xfrm>
            <a:off x="1600200" y="2560320"/>
            <a:ext cx="4114800" cy="822960"/>
          </a:xfrm>
          <a:prstGeom prst="rect">
            <a:avLst/>
          </a:prstGeom>
          <a:noFill/>
          <a:ln/>
        </p:spPr>
        <p:txBody>
          <a:bodyPr wrap="square" lIns="0" tIns="0" rIns="0" bIns="0" rtlCol="0" anchor="t"/>
          <a:lstStyle/>
          <a:p>
            <a:pPr indent="0" marL="0">
              <a:buNone/>
            </a:pPr>
            <a:r>
              <a:rPr lang="en-US" sz="1400" dirty="0">
                <a:solidFill>
                  <a:schemeClr val="bg2"/>
                </a:solidFill>
              </a:rPr>
              <a:t>Prices are I(1) and daily returns carry no exploitable linear autocorrelation.</a:t>
            </a:r>
            <a:endParaRPr lang="en-US" sz="1400" dirty="0"/>
          </a:p>
        </p:txBody>
      </p:sp>
      <p:sp>
        <p:nvSpPr>
          <p:cNvPr id="10" name="Lesson card 2"/>
          <p:cNvSpPr/>
          <p:nvPr/>
        </p:nvSpPr>
        <p:spPr>
          <a:xfrm>
            <a:off x="6172200" y="1920240"/>
            <a:ext cx="5440680" cy="1508760"/>
          </a:xfrm>
          <a:prstGeom prst="roundRect">
            <a:avLst>
              <a:gd name="adj" fmla="val 4848"/>
            </a:avLst>
          </a:prstGeom>
          <a:solidFill>
            <a:schemeClr val="tx2"/>
          </a:solidFill>
          <a:ln w="6350">
            <a:solidFill>
              <a:schemeClr val="tx2"/>
            </a:solidFill>
            <a:prstDash val="solid"/>
          </a:ln>
          <a:effectLst>
            <a:outerShdw sx="100000" sy="100000" kx="0" ky="0" algn="bl" rotWithShape="0" blurRad="127000" dist="25400" dir="5400000">
              <a:srgbClr val="13272D">
                <a:alpha val="10000"/>
              </a:srgbClr>
            </a:outerShdw>
          </a:effectLst>
        </p:spPr>
        <p:txBody>
          <a:bodyPr/>
          <a:p/>
        </p:txBody>
      </p:sp>
      <p:sp>
        <p:nvSpPr>
          <p:cNvPr id="11" name="Lesson number 2"/>
          <p:cNvSpPr txBox="1"/>
          <p:nvPr/>
        </p:nvSpPr>
        <p:spPr>
          <a:xfrm>
            <a:off x="6446520" y="2148840"/>
            <a:ext cx="731520" cy="548640"/>
          </a:xfrm>
          <a:prstGeom prst="rect">
            <a:avLst/>
          </a:prstGeom>
          <a:noFill/>
          <a:ln/>
        </p:spPr>
        <p:txBody>
          <a:bodyPr wrap="square" lIns="0" tIns="0" rIns="0" bIns="0" rtlCol="0" anchor="t"/>
          <a:lstStyle/>
          <a:p>
            <a:pPr indent="0" marL="0">
              <a:buNone/>
            </a:pPr>
            <a:r>
              <a:t>13</a:t>
            </a:r>
            <a:endParaRPr lang="en-US" sz="2800" dirty="0"/>
          </a:p>
        </p:txBody>
      </p:sp>
      <p:sp>
        <p:nvSpPr>
          <p:cNvPr id="12" name="Lesson title 2"/>
          <p:cNvSpPr txBox="1"/>
          <p:nvPr/>
        </p:nvSpPr>
        <p:spPr>
          <a:xfrm>
            <a:off x="7223760" y="2121408"/>
            <a:ext cx="4114800" cy="365760"/>
          </a:xfrm>
          <a:prstGeom prst="rect">
            <a:avLst/>
          </a:prstGeom>
          <a:noFill/>
          <a:ln/>
        </p:spPr>
        <p:txBody>
          <a:bodyPr wrap="square" lIns="0" tIns="0" rIns="0" bIns="0" rtlCol="0" anchor="ctr"/>
          <a:lstStyle/>
          <a:p>
            <a:pPr indent="0" marL="0">
              <a:buNone/>
            </a:pPr>
            <a:r>
              <a:rPr lang="en-US" sz="1800" b="1" dirty="0">
                <a:solidFill>
                  <a:schemeClr val="bg1"/>
                </a:solidFill>
              </a:rPr>
              <a:t>No statistical arbitrage</a:t>
            </a:r>
            <a:endParaRPr lang="en-US" sz="1800" dirty="0"/>
          </a:p>
        </p:txBody>
      </p:sp>
      <p:sp>
        <p:nvSpPr>
          <p:cNvPr id="13" name="Lesson text 2"/>
          <p:cNvSpPr txBox="1"/>
          <p:nvPr/>
        </p:nvSpPr>
        <p:spPr>
          <a:xfrm>
            <a:off x="7223760" y="2560320"/>
            <a:ext cx="4114800" cy="822960"/>
          </a:xfrm>
          <a:prstGeom prst="rect">
            <a:avLst/>
          </a:prstGeom>
          <a:noFill/>
          <a:ln/>
        </p:spPr>
        <p:txBody>
          <a:bodyPr wrap="square" lIns="0" tIns="0" rIns="0" bIns="0" rtlCol="0" anchor="t"/>
          <a:lstStyle/>
          <a:p>
            <a:pPr indent="0" marL="0">
              <a:buNone/>
            </a:pPr>
            <a:r>
              <a:rPr lang="en-US" sz="1400" dirty="0">
                <a:solidFill>
                  <a:schemeClr val="bg2"/>
                </a:solidFill>
              </a:rPr>
              <a:t>Johansen finds r = 0: no stable long-run link between BTC, ETH and BNB, so naive pairs trading fails.</a:t>
            </a:r>
            <a:endParaRPr lang="en-US" sz="1400" dirty="0"/>
          </a:p>
        </p:txBody>
      </p:sp>
      <p:sp>
        <p:nvSpPr>
          <p:cNvPr id="14" name="Lesson card 3"/>
          <p:cNvSpPr/>
          <p:nvPr/>
        </p:nvSpPr>
        <p:spPr>
          <a:xfrm>
            <a:off x="548640" y="3611880"/>
            <a:ext cx="5440680" cy="1508760"/>
          </a:xfrm>
          <a:prstGeom prst="roundRect">
            <a:avLst>
              <a:gd name="adj" fmla="val 4848"/>
            </a:avLst>
          </a:prstGeom>
          <a:solidFill>
            <a:schemeClr val="tx2"/>
          </a:solidFill>
          <a:ln w="6350">
            <a:solidFill>
              <a:schemeClr val="tx2"/>
            </a:solidFill>
            <a:prstDash val="solid"/>
          </a:ln>
          <a:effectLst>
            <a:outerShdw sx="100000" sy="100000" kx="0" ky="0" algn="bl" rotWithShape="0" blurRad="127000" dist="25400" dir="5400000">
              <a:srgbClr val="13272D">
                <a:alpha val="10000"/>
              </a:srgbClr>
            </a:outerShdw>
          </a:effectLst>
        </p:spPr>
        <p:txBody>
          <a:bodyPr/>
          <a:p/>
        </p:txBody>
      </p:sp>
      <p:sp>
        <p:nvSpPr>
          <p:cNvPr id="15" name="Lesson number 3"/>
          <p:cNvSpPr txBox="1"/>
          <p:nvPr/>
        </p:nvSpPr>
        <p:spPr>
          <a:xfrm>
            <a:off x="822960" y="3840480"/>
            <a:ext cx="731520" cy="548640"/>
          </a:xfrm>
          <a:prstGeom prst="rect">
            <a:avLst/>
          </a:prstGeom>
          <a:noFill/>
          <a:ln/>
        </p:spPr>
        <p:txBody>
          <a:bodyPr wrap="square" lIns="0" tIns="0" rIns="0" bIns="0" rtlCol="0" anchor="t"/>
          <a:lstStyle/>
          <a:p>
            <a:pPr indent="0" marL="0">
              <a:buNone/>
            </a:pPr>
            <a:r>
              <a:t>13</a:t>
            </a:r>
            <a:endParaRPr lang="en-US" sz="2800" dirty="0"/>
          </a:p>
        </p:txBody>
      </p:sp>
      <p:sp>
        <p:nvSpPr>
          <p:cNvPr id="16" name="Lesson title 3"/>
          <p:cNvSpPr txBox="1"/>
          <p:nvPr/>
        </p:nvSpPr>
        <p:spPr>
          <a:xfrm>
            <a:off x="1600200" y="3813048"/>
            <a:ext cx="4114800" cy="365760"/>
          </a:xfrm>
          <a:prstGeom prst="rect">
            <a:avLst/>
          </a:prstGeom>
          <a:noFill/>
          <a:ln/>
        </p:spPr>
        <p:txBody>
          <a:bodyPr wrap="square" lIns="0" tIns="0" rIns="0" bIns="0" rtlCol="0" anchor="ctr"/>
          <a:lstStyle/>
          <a:p>
            <a:pPr indent="0" marL="0">
              <a:buNone/>
            </a:pPr>
            <a:r>
              <a:rPr lang="en-US" sz="1800" b="1" dirty="0">
                <a:solidFill>
                  <a:schemeClr val="bg1"/>
                </a:solidFill>
              </a:rPr>
              <a:t>Volatility is modelable</a:t>
            </a:r>
            <a:endParaRPr lang="en-US" sz="1800" dirty="0"/>
          </a:p>
        </p:txBody>
      </p:sp>
      <p:sp>
        <p:nvSpPr>
          <p:cNvPr id="17" name="Lesson text 3"/>
          <p:cNvSpPr txBox="1"/>
          <p:nvPr/>
        </p:nvSpPr>
        <p:spPr>
          <a:xfrm>
            <a:off x="1600200" y="4251960"/>
            <a:ext cx="4114800" cy="822960"/>
          </a:xfrm>
          <a:prstGeom prst="rect">
            <a:avLst/>
          </a:prstGeom>
          <a:noFill/>
          <a:ln/>
        </p:spPr>
        <p:txBody>
          <a:bodyPr wrap="square" lIns="0" tIns="0" rIns="0" bIns="0" rtlCol="0" anchor="t"/>
          <a:lstStyle/>
          <a:p>
            <a:pPr indent="0" marL="0">
              <a:buNone/>
            </a:pPr>
            <a:r>
              <a:rPr lang="en-US" sz="1400" dirty="0">
                <a:solidFill>
                  <a:schemeClr val="bg2"/>
                </a:solidFill>
              </a:rPr>
              <a:t>GARCH(1,1) with Student-t captures the clustering (post-fit ARCH-LM p = 0.8889) at unit persistence.</a:t>
            </a:r>
            <a:endParaRPr lang="en-US" sz="1400" dirty="0"/>
          </a:p>
        </p:txBody>
      </p:sp>
      <p:sp>
        <p:nvSpPr>
          <p:cNvPr id="18" name="Lesson card 4"/>
          <p:cNvSpPr/>
          <p:nvPr/>
        </p:nvSpPr>
        <p:spPr>
          <a:xfrm>
            <a:off x="6172200" y="3611880"/>
            <a:ext cx="5440680" cy="1508760"/>
          </a:xfrm>
          <a:prstGeom prst="roundRect">
            <a:avLst>
              <a:gd name="adj" fmla="val 4848"/>
            </a:avLst>
          </a:prstGeom>
          <a:solidFill>
            <a:schemeClr val="tx2"/>
          </a:solidFill>
          <a:ln w="6350">
            <a:solidFill>
              <a:schemeClr val="tx2"/>
            </a:solidFill>
            <a:prstDash val="solid"/>
          </a:ln>
          <a:effectLst>
            <a:outerShdw sx="100000" sy="100000" kx="0" ky="0" algn="bl" rotWithShape="0" blurRad="127000" dist="25400" dir="5400000">
              <a:srgbClr val="13272D">
                <a:alpha val="10000"/>
              </a:srgbClr>
            </a:outerShdw>
          </a:effectLst>
        </p:spPr>
        <p:txBody>
          <a:bodyPr/>
          <a:p/>
        </p:txBody>
      </p:sp>
      <p:sp>
        <p:nvSpPr>
          <p:cNvPr id="19" name="Lesson number 4"/>
          <p:cNvSpPr txBox="1"/>
          <p:nvPr/>
        </p:nvSpPr>
        <p:spPr>
          <a:xfrm>
            <a:off x="6446520" y="3840480"/>
            <a:ext cx="731520" cy="548640"/>
          </a:xfrm>
          <a:prstGeom prst="rect">
            <a:avLst/>
          </a:prstGeom>
          <a:noFill/>
          <a:ln/>
        </p:spPr>
        <p:txBody>
          <a:bodyPr wrap="square" lIns="0" tIns="0" rIns="0" bIns="0" rtlCol="0" anchor="t"/>
          <a:lstStyle/>
          <a:p>
            <a:pPr indent="0" marL="0">
              <a:buNone/>
            </a:pPr>
            <a:r>
              <a:t>13</a:t>
            </a:r>
            <a:endParaRPr lang="en-US" sz="2800" dirty="0"/>
          </a:p>
        </p:txBody>
      </p:sp>
      <p:sp>
        <p:nvSpPr>
          <p:cNvPr id="20" name="Lesson title 4"/>
          <p:cNvSpPr txBox="1"/>
          <p:nvPr/>
        </p:nvSpPr>
        <p:spPr>
          <a:xfrm>
            <a:off x="7223760" y="3813048"/>
            <a:ext cx="4114800" cy="365760"/>
          </a:xfrm>
          <a:prstGeom prst="rect">
            <a:avLst/>
          </a:prstGeom>
          <a:noFill/>
          <a:ln/>
        </p:spPr>
        <p:txBody>
          <a:bodyPr wrap="square" lIns="0" tIns="0" rIns="0" bIns="0" rtlCol="0" anchor="ctr"/>
          <a:lstStyle/>
          <a:p>
            <a:pPr indent="0" marL="0">
              <a:buNone/>
            </a:pPr>
            <a:r>
              <a:rPr lang="en-US" sz="1800" b="1" dirty="0">
                <a:solidFill>
                  <a:schemeClr val="bg1"/>
                </a:solidFill>
              </a:rPr>
              <a:t>The random walk stays the benchmark</a:t>
            </a:r>
            <a:endParaRPr lang="en-US" sz="1800" dirty="0"/>
          </a:p>
        </p:txBody>
      </p:sp>
      <p:sp>
        <p:nvSpPr>
          <p:cNvPr id="21" name="Lesson text 4"/>
          <p:cNvSpPr txBox="1"/>
          <p:nvPr/>
        </p:nvSpPr>
        <p:spPr>
          <a:xfrm>
            <a:off x="7223760" y="4251960"/>
            <a:ext cx="4114800" cy="822960"/>
          </a:xfrm>
          <a:prstGeom prst="rect">
            <a:avLst/>
          </a:prstGeom>
          <a:noFill/>
          <a:ln/>
        </p:spPr>
        <p:txBody>
          <a:bodyPr wrap="square" lIns="0" tIns="0" rIns="0" bIns="0" rtlCol="0" anchor="t"/>
          <a:lstStyle/>
          <a:p>
            <a:pPr indent="0" marL="0">
              <a:buNone/>
            </a:pPr>
            <a:r>
              <a:rPr lang="en-US" sz="1400" dirty="0">
                <a:solidFill>
                  <a:schemeClr val="bg2"/>
                </a:solidFill>
              </a:rPr>
              <a:t>RMSE of $1,725.43 beats GRU and LSTM and ties rolling ARIMA (DM p = 0.2137).</a:t>
            </a:r>
            <a:endParaRPr lang="en-US" sz="1400" dirty="0"/>
          </a:p>
        </p:txBody>
      </p:sp>
      <p:sp>
        <p:nvSpPr>
          <p:cNvPr id="22" name="Closing line"/>
          <p:cNvSpPr txBox="1"/>
          <p:nvPr/>
        </p:nvSpPr>
        <p:spPr>
          <a:xfrm>
            <a:off x="548640" y="5440680"/>
            <a:ext cx="10058400" cy="365760"/>
          </a:xfrm>
          <a:prstGeom prst="rect">
            <a:avLst/>
          </a:prstGeom>
          <a:noFill/>
          <a:ln/>
        </p:spPr>
        <p:txBody>
          <a:bodyPr wrap="square" lIns="0" tIns="0" rIns="0" bIns="0" rtlCol="0" anchor="ctr"/>
          <a:lstStyle/>
          <a:p>
            <a:pPr indent="0" marL="0">
              <a:buNone/>
            </a:pPr>
            <a:r>
              <a:rPr lang="en-US" sz="1800" i="1" dirty="0">
                <a:solidFill>
                  <a:schemeClr val="bg1"/>
                </a:solidFill>
                <a:latin typeface="Cambria" pitchFamily="34" charset="0"/>
                <a:ea typeface="Cambria" pitchFamily="34" charset="-122"/>
                <a:cs typeface="Cambria" pitchFamily="34" charset="-120"/>
              </a:rPr>
              <a:t>Generative AI is a drafting aid: every claim still needs an econometric audit.</a:t>
            </a:r>
            <a:endParaRPr lang="en-US" sz="1800" dirty="0"/>
          </a:p>
        </p:txBody>
      </p:sp>
      <p:sp>
        <p:nvSpPr>
          <p:cNvPr id="23" name="Thank you"/>
          <p:cNvSpPr txBox="1"/>
          <p:nvPr/>
        </p:nvSpPr>
        <p:spPr>
          <a:xfrm>
            <a:off x="548640" y="5852160"/>
            <a:ext cx="8229600" cy="320040"/>
          </a:xfrm>
          <a:prstGeom prst="rect">
            <a:avLst/>
          </a:prstGeom>
          <a:noFill/>
          <a:ln/>
        </p:spPr>
        <p:txBody>
          <a:bodyPr wrap="square" lIns="0" tIns="0" rIns="0" bIns="0" rtlCol="0" anchor="ctr"/>
          <a:lstStyle/>
          <a:p>
            <a:pPr indent="0" marL="0">
              <a:buNone/>
            </a:pPr>
            <a:r>
              <a:rPr lang="en-US" sz="1400" dirty="0">
                <a:solidFill>
                  <a:schemeClr val="accent6"/>
                </a:solidFill>
              </a:rPr>
              <a:t>Thank you. Questions are welcome.</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A9C4C0"/>
                </a:solidFill>
              </a:defRPr>
            </a:lvl1pPr>
          </a:lstStyle>
          <a:p>
            <a:pPr algn="r"/>
            <a:r>
              <a:t>13</a:t>
            </a:r>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EXPLORATORY ANALYSIS</a:t>
            </a:r>
          </a:p>
        </p:txBody>
      </p:sp>
      <p:sp>
        <p:nvSpPr>
          <p:cNvPr id="3" name="Title 2"/>
          <p:cNvSpPr>
            <a:spLocks noGrp="1"/>
          </p:cNvSpPr>
          <p:nvPr>
            <p:ph type="title" idx="101"/>
          </p:nvPr>
        </p:nvSpPr>
        <p:spPr/>
        <p:txBody>
          <a:bodyPr/>
          <a:lstStyle/>
          <a:p>
            <a:r>
              <a:t>STL Decomposition and Autocorrelation Structure</a:t>
            </a:r>
          </a:p>
        </p:txBody>
      </p:sp>
      <p:sp>
        <p:nvSpPr>
          <p:cNvPr id="4" name="Text Placeholder 3"/>
          <p:cNvSpPr>
            <a:spLocks noGrp="1"/>
          </p:cNvSpPr>
          <p:nvPr>
            <p:ph type="body" idx="102"/>
          </p:nvPr>
        </p:nvSpPr>
        <p:spPr/>
        <p:txBody>
          <a:bodyPr/>
          <a:lstStyle/>
          <a:p>
            <a:r>
              <a:t>Visual proof of stochastic trend dominance (&gt;99%), absence of seasonality, and return memory cutoff</a:t>
            </a:r>
          </a:p>
        </p:txBody>
      </p:sp>
      <p:pic>
        <p:nvPicPr>
          <p:cNvPr id="5" name="Picture 4" descr="fig3_stl_decomposition.png"/>
          <p:cNvPicPr>
            <a:picLocks noChangeAspect="1"/>
          </p:cNvPicPr>
          <p:nvPr/>
        </p:nvPicPr>
        <p:blipFill>
          <a:blip r:embed="rId2"/>
          <a:stretch>
            <a:fillRect/>
          </a:stretch>
        </p:blipFill>
        <p:spPr>
          <a:xfrm>
            <a:off x="548640" y="1828800"/>
            <a:ext cx="5486400" cy="4343400"/>
          </a:xfrm>
          <a:prstGeom prst="rect">
            <a:avLst/>
          </a:prstGeom>
        </p:spPr>
      </p:pic>
      <p:pic>
        <p:nvPicPr>
          <p:cNvPr id="6" name="Picture 5" descr="fig2_acf_pacf.png"/>
          <p:cNvPicPr>
            <a:picLocks noChangeAspect="1"/>
          </p:cNvPicPr>
          <p:nvPr/>
        </p:nvPicPr>
        <p:blipFill>
          <a:blip r:embed="rId3"/>
          <a:stretch>
            <a:fillRect/>
          </a:stretch>
        </p:blipFill>
        <p:spPr>
          <a:xfrm>
            <a:off x="6217920" y="1828800"/>
            <a:ext cx="5394960" cy="4343400"/>
          </a:xfrm>
          <a:prstGeom prst="rect">
            <a:avLst/>
          </a:prstGeom>
        </p:spPr>
      </p:pic>
      <p:sp>
        <p:nvSpPr>
          <p:cNvPr id="7" name="TextBox 6"/>
          <p:cNvSpPr txBox="1"/>
          <p:nvPr/>
        </p:nvSpPr>
        <p:spPr>
          <a:xfrm>
            <a:off x="5852160" y="6419088"/>
            <a:ext cx="5120640" cy="256032"/>
          </a:xfrm>
          <a:prstGeom prst="rect">
            <a:avLst/>
          </a:prstGeom>
          <a:noFill/>
        </p:spPr>
        <p:txBody>
          <a:bodyPr wrap="none">
            <a:spAutoFit/>
          </a:bodyPr>
          <a:lstStyle/>
          <a:p>
            <a:pPr>
              <a:defRPr sz="1100">
                <a:solidFill>
                  <a:srgbClr val="64748B"/>
                </a:solidFill>
              </a:defRPr>
            </a:pPr>
            <a:r>
              <a:t>Presented by Khawla Hawari</a:t>
            </a:r>
          </a:p>
        </p:txBody>
      </p:sp>
      <p:sp>
        <p:nvSpPr>
          <p:cNvPr id="8" name="TextBox 7"/>
          <p:cNvSpPr txBox="1"/>
          <p:nvPr/>
        </p:nvSpPr>
        <p:spPr>
          <a:xfrm>
            <a:off x="11155680" y="6419088"/>
            <a:ext cx="457200" cy="256032"/>
          </a:xfrm>
          <a:prstGeom prst="rect">
            <a:avLst/>
          </a:prstGeom>
          <a:noFill/>
        </p:spPr>
        <p:txBody>
          <a:bodyPr wrap="none">
            <a:spAutoFit/>
          </a:bodyPr>
          <a:lstStyle/>
          <a:p>
            <a:pPr>
              <a:defRPr sz="1100">
                <a:solidFill>
                  <a:srgbClr val="64748B"/>
                </a:solidFill>
              </a:defRPr>
            </a:pPr>
            <a:r>
              <a:t>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MULTIVARIATE SYSTEM</a:t>
            </a:r>
          </a:p>
        </p:txBody>
      </p:sp>
      <p:sp>
        <p:nvSpPr>
          <p:cNvPr id="3" name="Title 2"/>
          <p:cNvSpPr>
            <a:spLocks noGrp="1"/>
          </p:cNvSpPr>
          <p:nvPr>
            <p:ph type="title" idx="101"/>
          </p:nvPr>
        </p:nvSpPr>
        <p:spPr/>
        <p:txBody>
          <a:bodyPr/>
          <a:lstStyle/>
          <a:p>
            <a:r>
              <a:t>Dynamic Market Contagion: 60-Day Rolling Correlations</a:t>
            </a:r>
          </a:p>
        </p:txBody>
      </p:sp>
      <p:sp>
        <p:nvSpPr>
          <p:cNvPr id="4" name="Text Placeholder 3"/>
          <p:cNvSpPr>
            <a:spLocks noGrp="1"/>
          </p:cNvSpPr>
          <p:nvPr>
            <p:ph type="body" idx="102"/>
          </p:nvPr>
        </p:nvSpPr>
        <p:spPr/>
        <p:txBody>
          <a:bodyPr/>
          <a:lstStyle/>
          <a:p>
            <a:r>
              <a:t>Empirical evidence of correlation spikes during systemic panics vs. altcoin decoupling</a:t>
            </a:r>
          </a:p>
        </p:txBody>
      </p:sp>
      <p:pic>
        <p:nvPicPr>
          <p:cNvPr id="5" name="Picture 4" descr="fig7_dynamic_correlation.png"/>
          <p:cNvPicPr>
            <a:picLocks noChangeAspect="1"/>
          </p:cNvPicPr>
          <p:nvPr/>
        </p:nvPicPr>
        <p:blipFill>
          <a:blip r:embed="rId2"/>
          <a:stretch>
            <a:fillRect/>
          </a:stretch>
        </p:blipFill>
        <p:spPr>
          <a:xfrm>
            <a:off x="548640" y="1828800"/>
            <a:ext cx="6858000" cy="4343400"/>
          </a:xfrm>
          <a:prstGeom prst="rect">
            <a:avLst/>
          </a:prstGeom>
        </p:spPr>
      </p:pic>
      <p:sp>
        <p:nvSpPr>
          <p:cNvPr id="6" name="Rounded Rectangle 5"/>
          <p:cNvSpPr/>
          <p:nvPr/>
        </p:nvSpPr>
        <p:spPr>
          <a:xfrm>
            <a:off x="7635240" y="1828800"/>
            <a:ext cx="3977639"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19" y="1965960"/>
            <a:ext cx="3611879" cy="365760"/>
          </a:xfrm>
          <a:prstGeom prst="rect">
            <a:avLst/>
          </a:prstGeom>
          <a:noFill/>
        </p:spPr>
        <p:txBody>
          <a:bodyPr wrap="square">
            <a:spAutoFit/>
          </a:bodyPr>
          <a:lstStyle/>
          <a:p>
            <a:pPr>
              <a:defRPr sz="1300" b="1">
                <a:solidFill>
                  <a:srgbClr val="F59E0B"/>
                </a:solidFill>
              </a:defRPr>
            </a:pPr>
            <a:r>
              <a:t>🚨 Crisis Contagion (0.90 - 0.95)</a:t>
            </a:r>
          </a:p>
        </p:txBody>
      </p:sp>
      <p:sp>
        <p:nvSpPr>
          <p:cNvPr id="8" name="TextBox 7"/>
          <p:cNvSpPr txBox="1"/>
          <p:nvPr/>
        </p:nvSpPr>
        <p:spPr>
          <a:xfrm>
            <a:off x="7818120" y="2286000"/>
            <a:ext cx="3611880" cy="777240"/>
          </a:xfrm>
          <a:prstGeom prst="rect">
            <a:avLst/>
          </a:prstGeom>
          <a:noFill/>
        </p:spPr>
        <p:txBody>
          <a:bodyPr wrap="square">
            <a:spAutoFit/>
          </a:bodyPr>
          <a:lstStyle/>
          <a:p>
            <a:pPr>
              <a:defRPr sz="1050">
                <a:solidFill>
                  <a:srgbClr val="0F172A"/>
                </a:solidFill>
              </a:defRPr>
            </a:pPr>
            <a:r>
              <a:t>Correlation surges to near-unity during severe liquidations (Covid March 2020 &amp; FTX Nov 2022), reflecting cross-market panic contagion.</a:t>
            </a:r>
          </a:p>
        </p:txBody>
      </p:sp>
      <p:sp>
        <p:nvSpPr>
          <p:cNvPr id="9" name="Rounded Rectangle 8"/>
          <p:cNvSpPr/>
          <p:nvPr/>
        </p:nvSpPr>
        <p:spPr>
          <a:xfrm>
            <a:off x="7635240" y="3337560"/>
            <a:ext cx="3977639"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19" y="3474720"/>
            <a:ext cx="3611879" cy="365760"/>
          </a:xfrm>
          <a:prstGeom prst="rect">
            <a:avLst/>
          </a:prstGeom>
          <a:noFill/>
        </p:spPr>
        <p:txBody>
          <a:bodyPr wrap="square">
            <a:spAutoFit/>
          </a:bodyPr>
          <a:lstStyle/>
          <a:p>
            <a:pPr>
              <a:defRPr sz="1300" b="1">
                <a:solidFill>
                  <a:srgbClr val="0EA5E9"/>
                </a:solidFill>
              </a:defRPr>
            </a:pPr>
            <a:r>
              <a:t>🔄 Altcoin Decoupling (0.40 - 0.60)</a:t>
            </a:r>
          </a:p>
        </p:txBody>
      </p:sp>
      <p:sp>
        <p:nvSpPr>
          <p:cNvPr id="11" name="TextBox 10"/>
          <p:cNvSpPr txBox="1"/>
          <p:nvPr/>
        </p:nvSpPr>
        <p:spPr>
          <a:xfrm>
            <a:off x="7818120" y="3794760"/>
            <a:ext cx="3611880" cy="777240"/>
          </a:xfrm>
          <a:prstGeom prst="rect">
            <a:avLst/>
          </a:prstGeom>
          <a:noFill/>
        </p:spPr>
        <p:txBody>
          <a:bodyPr wrap="square">
            <a:spAutoFit/>
          </a:bodyPr>
          <a:lstStyle/>
          <a:p>
            <a:pPr>
              <a:defRPr sz="1050">
                <a:solidFill>
                  <a:srgbClr val="0F172A"/>
                </a:solidFill>
              </a:defRPr>
            </a:pPr>
            <a:r>
              <a:t>Calm market conditions and 'alt-seasons' see correlation drop, allowing ETH and BNB to trade on separate smart-contract/exchange dynamics.</a:t>
            </a:r>
          </a:p>
        </p:txBody>
      </p:sp>
      <p:sp>
        <p:nvSpPr>
          <p:cNvPr id="12" name="Rounded Rectangle 11"/>
          <p:cNvSpPr/>
          <p:nvPr/>
        </p:nvSpPr>
        <p:spPr>
          <a:xfrm>
            <a:off x="7635240" y="4846320"/>
            <a:ext cx="3977639"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19" y="4983480"/>
            <a:ext cx="3611879" cy="365760"/>
          </a:xfrm>
          <a:prstGeom prst="rect">
            <a:avLst/>
          </a:prstGeom>
          <a:noFill/>
        </p:spPr>
        <p:txBody>
          <a:bodyPr wrap="square">
            <a:spAutoFit/>
          </a:bodyPr>
          <a:lstStyle/>
          <a:p>
            <a:pPr>
              <a:defRPr sz="1300" b="1">
                <a:solidFill>
                  <a:srgbClr val="10B981"/>
                </a:solidFill>
              </a:defRPr>
            </a:pPr>
            <a:r>
              <a:t>⚖️ Correlation ≠ Cointegration</a:t>
            </a:r>
          </a:p>
        </p:txBody>
      </p:sp>
      <p:sp>
        <p:nvSpPr>
          <p:cNvPr id="14" name="TextBox 13"/>
          <p:cNvSpPr txBox="1"/>
          <p:nvPr/>
        </p:nvSpPr>
        <p:spPr>
          <a:xfrm>
            <a:off x="7818120" y="5303520"/>
            <a:ext cx="3611880" cy="777240"/>
          </a:xfrm>
          <a:prstGeom prst="rect">
            <a:avLst/>
          </a:prstGeom>
          <a:noFill/>
        </p:spPr>
        <p:txBody>
          <a:bodyPr wrap="square">
            <a:spAutoFit/>
          </a:bodyPr>
          <a:lstStyle/>
          <a:p>
            <a:pPr>
              <a:defRPr sz="1050">
                <a:solidFill>
                  <a:srgbClr val="0F172A"/>
                </a:solidFill>
              </a:defRPr>
            </a:pPr>
            <a:r>
              <a:t>High daily co-movement (0.83) does NOT imply a permanent long-run anchor. Johansen test confirms r = 0; no statistical arbitrage leash.</a:t>
            </a:r>
          </a:p>
        </p:txBody>
      </p:sp>
      <p:sp>
        <p:nvSpPr>
          <p:cNvPr id="15" name="TextBox 14"/>
          <p:cNvSpPr txBox="1"/>
          <p:nvPr/>
        </p:nvSpPr>
        <p:spPr>
          <a:xfrm>
            <a:off x="5852160" y="6419088"/>
            <a:ext cx="5120640" cy="256032"/>
          </a:xfrm>
          <a:prstGeom prst="rect">
            <a:avLst/>
          </a:prstGeom>
          <a:noFill/>
        </p:spPr>
        <p:txBody>
          <a:bodyPr wrap="none">
            <a:spAutoFit/>
          </a:bodyPr>
          <a:lstStyle/>
          <a:p>
            <a:pPr>
              <a:defRPr sz="1100">
                <a:solidFill>
                  <a:srgbClr val="64748B"/>
                </a:solidFill>
              </a:defRPr>
            </a:pPr>
            <a:r>
              <a:t>Presented by Amine Benfadhel</a:t>
            </a:r>
          </a:p>
        </p:txBody>
      </p:sp>
      <p:sp>
        <p:nvSpPr>
          <p:cNvPr id="16" name="TextBox 15"/>
          <p:cNvSpPr txBox="1"/>
          <p:nvPr/>
        </p:nvSpPr>
        <p:spPr>
          <a:xfrm>
            <a:off x="11155680" y="6419088"/>
            <a:ext cx="457200" cy="256032"/>
          </a:xfrm>
          <a:prstGeom prst="rect">
            <a:avLst/>
          </a:prstGeom>
          <a:noFill/>
        </p:spPr>
        <p:txBody>
          <a:bodyPr wrap="none">
            <a:spAutoFit/>
          </a:bodyPr>
          <a:lstStyle/>
          <a:p>
            <a:pPr>
              <a:defRPr sz="1100">
                <a:solidFill>
                  <a:srgbClr val="64748B"/>
                </a:solidFill>
              </a:defRPr>
            </a:pPr>
            <a:r>
              <a:t>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DEEP LEARNING</a:t>
            </a:r>
          </a:p>
        </p:txBody>
      </p:sp>
      <p:sp>
        <p:nvSpPr>
          <p:cNvPr id="3" name="Title 2"/>
          <p:cNvSpPr>
            <a:spLocks noGrp="1"/>
          </p:cNvSpPr>
          <p:nvPr>
            <p:ph type="title" idx="101"/>
          </p:nvPr>
        </p:nvSpPr>
        <p:spPr/>
        <p:txBody>
          <a:bodyPr/>
          <a:lstStyle/>
          <a:p>
            <a:r>
              <a:t>Deep Learning Loss Curves: LSTM vs. GRU</a:t>
            </a:r>
          </a:p>
        </p:txBody>
      </p:sp>
      <p:sp>
        <p:nvSpPr>
          <p:cNvPr id="4" name="Text Placeholder 3"/>
          <p:cNvSpPr>
            <a:spLocks noGrp="1"/>
          </p:cNvSpPr>
          <p:nvPr>
            <p:ph type="body" idx="102"/>
          </p:nvPr>
        </p:nvSpPr>
        <p:spPr/>
        <p:txBody>
          <a:bodyPr/>
          <a:lstStyle/>
          <a:p>
            <a:r>
              <a:t>Comparing training dynamics, convergence velocity, and parameter parsimony over 40 epochs</a:t>
            </a:r>
          </a:p>
        </p:txBody>
      </p:sp>
      <p:pic>
        <p:nvPicPr>
          <p:cNvPr id="5" name="Picture 4" descr="fig5_loss_curves_lstm_gru.png"/>
          <p:cNvPicPr>
            <a:picLocks noChangeAspect="1"/>
          </p:cNvPicPr>
          <p:nvPr/>
        </p:nvPicPr>
        <p:blipFill>
          <a:blip r:embed="rId2"/>
          <a:stretch>
            <a:fillRect/>
          </a:stretch>
        </p:blipFill>
        <p:spPr>
          <a:xfrm>
            <a:off x="548640" y="1828800"/>
            <a:ext cx="6858000" cy="4343400"/>
          </a:xfrm>
          <a:prstGeom prst="rect">
            <a:avLst/>
          </a:prstGeom>
        </p:spPr>
      </p:pic>
      <p:sp>
        <p:nvSpPr>
          <p:cNvPr id="6" name="Rounded Rectangle 5"/>
          <p:cNvSpPr/>
          <p:nvPr/>
        </p:nvSpPr>
        <p:spPr>
          <a:xfrm>
            <a:off x="7635240" y="1828800"/>
            <a:ext cx="3977639"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19" y="1965960"/>
            <a:ext cx="3611879" cy="365760"/>
          </a:xfrm>
          <a:prstGeom prst="rect">
            <a:avLst/>
          </a:prstGeom>
          <a:noFill/>
        </p:spPr>
        <p:txBody>
          <a:bodyPr wrap="square">
            <a:spAutoFit/>
          </a:bodyPr>
          <a:lstStyle/>
          <a:p>
            <a:pPr>
              <a:defRPr sz="1300" b="1">
                <a:solidFill>
                  <a:srgbClr val="0EA5E9"/>
                </a:solidFill>
              </a:defRPr>
            </a:pPr>
            <a:r>
              <a:t>⚡ Parameter Efficiency</a:t>
            </a:r>
          </a:p>
        </p:txBody>
      </p:sp>
      <p:sp>
        <p:nvSpPr>
          <p:cNvPr id="8" name="TextBox 7"/>
          <p:cNvSpPr txBox="1"/>
          <p:nvPr/>
        </p:nvSpPr>
        <p:spPr>
          <a:xfrm>
            <a:off x="7818120" y="2286000"/>
            <a:ext cx="3611880" cy="777240"/>
          </a:xfrm>
          <a:prstGeom prst="rect">
            <a:avLst/>
          </a:prstGeom>
          <a:noFill/>
        </p:spPr>
        <p:txBody>
          <a:bodyPr wrap="square">
            <a:spAutoFit/>
          </a:bodyPr>
          <a:lstStyle/>
          <a:p>
            <a:pPr>
              <a:defRPr sz="1050">
                <a:solidFill>
                  <a:srgbClr val="0F172A"/>
                </a:solidFill>
              </a:defRPr>
            </a:pPr>
            <a:r>
              <a:t>GRU utilizes 19,073 parameters (24% fewer than LSTM's 25,217), enabling faster training and lower risk of parameter bloat on financial series.</a:t>
            </a:r>
          </a:p>
        </p:txBody>
      </p:sp>
      <p:sp>
        <p:nvSpPr>
          <p:cNvPr id="9" name="Rounded Rectangle 8"/>
          <p:cNvSpPr/>
          <p:nvPr/>
        </p:nvSpPr>
        <p:spPr>
          <a:xfrm>
            <a:off x="7635240" y="3337560"/>
            <a:ext cx="3977639"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19" y="3474720"/>
            <a:ext cx="3611879" cy="365760"/>
          </a:xfrm>
          <a:prstGeom prst="rect">
            <a:avLst/>
          </a:prstGeom>
          <a:noFill/>
        </p:spPr>
        <p:txBody>
          <a:bodyPr wrap="square">
            <a:spAutoFit/>
          </a:bodyPr>
          <a:lstStyle/>
          <a:p>
            <a:pPr>
              <a:defRPr sz="1300" b="1">
                <a:solidFill>
                  <a:srgbClr val="10B981"/>
                </a:solidFill>
              </a:defRPr>
            </a:pPr>
            <a:r>
              <a:t>📉 Convergence Velocity</a:t>
            </a:r>
          </a:p>
        </p:txBody>
      </p:sp>
      <p:sp>
        <p:nvSpPr>
          <p:cNvPr id="11" name="TextBox 10"/>
          <p:cNvSpPr txBox="1"/>
          <p:nvPr/>
        </p:nvSpPr>
        <p:spPr>
          <a:xfrm>
            <a:off x="7818120" y="3794760"/>
            <a:ext cx="3611880" cy="777240"/>
          </a:xfrm>
          <a:prstGeom prst="rect">
            <a:avLst/>
          </a:prstGeom>
          <a:noFill/>
        </p:spPr>
        <p:txBody>
          <a:bodyPr wrap="square">
            <a:spAutoFit/>
          </a:bodyPr>
          <a:lstStyle/>
          <a:p>
            <a:pPr>
              <a:defRPr sz="1050">
                <a:solidFill>
                  <a:srgbClr val="0F172A"/>
                </a:solidFill>
              </a:defRPr>
            </a:pPr>
            <a:r>
              <a:t>GRU achieves a lower validation MSE (0.00041 vs 0.00062) and stabilizes earlier (epoch 38 vs 45) under identical Adam (lr = 0.002) optimization.</a:t>
            </a:r>
          </a:p>
        </p:txBody>
      </p:sp>
      <p:sp>
        <p:nvSpPr>
          <p:cNvPr id="12" name="Rounded Rectangle 11"/>
          <p:cNvSpPr/>
          <p:nvPr/>
        </p:nvSpPr>
        <p:spPr>
          <a:xfrm>
            <a:off x="7635240" y="4846320"/>
            <a:ext cx="3977639" cy="1325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19" y="4983480"/>
            <a:ext cx="3611879" cy="365760"/>
          </a:xfrm>
          <a:prstGeom prst="rect">
            <a:avLst/>
          </a:prstGeom>
          <a:noFill/>
        </p:spPr>
        <p:txBody>
          <a:bodyPr wrap="square">
            <a:spAutoFit/>
          </a:bodyPr>
          <a:lstStyle/>
          <a:p>
            <a:pPr>
              <a:defRPr sz="1300" b="1">
                <a:solidFill>
                  <a:srgbClr val="F59E0B"/>
                </a:solidFill>
              </a:defRPr>
            </a:pPr>
            <a:r>
              <a:t>🛡️ Generalization &amp; Dropout</a:t>
            </a:r>
          </a:p>
        </p:txBody>
      </p:sp>
      <p:sp>
        <p:nvSpPr>
          <p:cNvPr id="14" name="TextBox 13"/>
          <p:cNvSpPr txBox="1"/>
          <p:nvPr/>
        </p:nvSpPr>
        <p:spPr>
          <a:xfrm>
            <a:off x="7818120" y="5303520"/>
            <a:ext cx="3611880" cy="777240"/>
          </a:xfrm>
          <a:prstGeom prst="rect">
            <a:avLst/>
          </a:prstGeom>
          <a:noFill/>
        </p:spPr>
        <p:txBody>
          <a:bodyPr wrap="square">
            <a:spAutoFit/>
          </a:bodyPr>
          <a:lstStyle/>
          <a:p>
            <a:pPr>
              <a:defRPr sz="1050">
                <a:solidFill>
                  <a:srgbClr val="0F172A"/>
                </a:solidFill>
              </a:defRPr>
            </a:pPr>
            <a:r>
              <a:t>Train and validation losses converge tightly with zero evidence of severe overfitting, thanks to 0.20 dropout and strict chronological windowing.</a:t>
            </a:r>
          </a:p>
        </p:txBody>
      </p:sp>
      <p:sp>
        <p:nvSpPr>
          <p:cNvPr id="15" name="TextBox 14"/>
          <p:cNvSpPr txBox="1"/>
          <p:nvPr/>
        </p:nvSpPr>
        <p:spPr>
          <a:xfrm>
            <a:off x="5852160" y="6419088"/>
            <a:ext cx="5120640" cy="256032"/>
          </a:xfrm>
          <a:prstGeom prst="rect">
            <a:avLst/>
          </a:prstGeom>
          <a:noFill/>
        </p:spPr>
        <p:txBody>
          <a:bodyPr wrap="none">
            <a:spAutoFit/>
          </a:bodyPr>
          <a:lstStyle/>
          <a:p>
            <a:pPr>
              <a:defRPr sz="1100">
                <a:solidFill>
                  <a:srgbClr val="64748B"/>
                </a:solidFill>
              </a:defRPr>
            </a:pPr>
            <a:r>
              <a:t>Presented by Amine Benfadhel</a:t>
            </a:r>
          </a:p>
        </p:txBody>
      </p:sp>
      <p:sp>
        <p:nvSpPr>
          <p:cNvPr id="16" name="TextBox 15"/>
          <p:cNvSpPr txBox="1"/>
          <p:nvPr/>
        </p:nvSpPr>
        <p:spPr>
          <a:xfrm>
            <a:off x="11155680" y="6419088"/>
            <a:ext cx="457200" cy="256032"/>
          </a:xfrm>
          <a:prstGeom prst="rect">
            <a:avLst/>
          </a:prstGeom>
          <a:noFill/>
        </p:spPr>
        <p:txBody>
          <a:bodyPr wrap="none">
            <a:spAutoFit/>
          </a:bodyPr>
          <a:lstStyle/>
          <a:p>
            <a:pPr>
              <a:defRPr sz="1100">
                <a:solidFill>
                  <a:srgbClr val="64748B"/>
                </a:solidFill>
              </a:defRPr>
            </a:pPr>
            <a:r>
              <a:t>10</a:t>
            </a:r>
          </a:p>
        </p:txBody>
      </p:sp>
    </p:spTree>
  </p:cSld>
  <p:clrMapOvr>
    <a:masterClrMapping/>
  </p:clrMapOvr>
</p:sld>
</file>

<file path=ppt/theme/theme1.xml><?xml version="1.0" encoding="utf-8"?>
<a:theme xmlns:a="http://schemas.openxmlformats.org/drawingml/2006/main" name="Calm Ledger">
  <a:themeElements>
    <a:clrScheme name="Calm Ledger">
      <a:dk1>
        <a:srgbClr val="13272D"/>
      </a:dk1>
      <a:lt1>
        <a:srgbClr val="FFFFFF"/>
      </a:lt1>
      <a:dk2>
        <a:srgbClr val="24505A"/>
      </a:dk2>
      <a:lt2>
        <a:srgbClr val="EDF2F1"/>
      </a:lt2>
      <a:accent1>
        <a:srgbClr val="2E7D86"/>
      </a:accent1>
      <a:accent2>
        <a:srgbClr val="A8702A"/>
      </a:accent2>
      <a:accent3>
        <a:srgbClr val="7FA99B"/>
      </a:accent3>
      <a:accent4>
        <a:srgbClr val="5E6F78"/>
      </a:accent4>
      <a:accent5>
        <a:srgbClr val="B4574D"/>
      </a:accent5>
      <a:accent6>
        <a:srgbClr val="A9C4C0"/>
      </a:accent6>
      <a:hlink>
        <a:srgbClr val="2E7D86"/>
      </a:hlink>
      <a:folHlink>
        <a:srgbClr val="5E6F78"/>
      </a:folHlink>
    </a:clrScheme>
    <a:fontScheme name="Calm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Joint Dynamics, Cointegration and Volatility of BTC, ETH and BNB</dc:title>
  <dc:subject>PptxGenJS Presentation</dc:subject>
  <dc:creator>Rawen Bejie, Khawla Hawari, Amine Benfadhel, Khalil Ayeb</dc:creator>
  <cp:lastModifiedBy>Rawen Bejie, Khawla Hawari, Amine Benfadhel, Khalil Ayeb</cp:lastModifiedBy>
  <cp:revision>1</cp:revision>
  <dcterms:created xsi:type="dcterms:W3CDTF">2026-10-10T17:11:10Z</dcterms:created>
  <dcterms:modified xsi:type="dcterms:W3CDTF">2026-10-10T17:11:10Z</dcterms:modified>
</cp:coreProperties>
</file>